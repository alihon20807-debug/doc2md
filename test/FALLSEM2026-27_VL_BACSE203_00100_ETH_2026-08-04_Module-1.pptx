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92" r:id="rId1"/>
    <p:sldMasterId id="2147483805" r:id="rId2"/>
    <p:sldMasterId id="2147483818" r:id="rId3"/>
  </p:sldMasterIdLst>
  <p:notesMasterIdLst>
    <p:notesMasterId r:id="rId102"/>
  </p:notesMasterIdLst>
  <p:sldIdLst>
    <p:sldId id="256" r:id="rId4"/>
    <p:sldId id="258" r:id="rId5"/>
    <p:sldId id="259"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321"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7" r:id="rId62"/>
    <p:sldId id="331" r:id="rId63"/>
    <p:sldId id="332" r:id="rId64"/>
    <p:sldId id="333" r:id="rId65"/>
    <p:sldId id="334" r:id="rId66"/>
    <p:sldId id="335" r:id="rId67"/>
    <p:sldId id="336" r:id="rId68"/>
    <p:sldId id="337" r:id="rId69"/>
    <p:sldId id="322" r:id="rId70"/>
    <p:sldId id="323" r:id="rId71"/>
    <p:sldId id="325" r:id="rId72"/>
    <p:sldId id="326" r:id="rId73"/>
    <p:sldId id="327" r:id="rId74"/>
    <p:sldId id="329" r:id="rId75"/>
    <p:sldId id="330" r:id="rId76"/>
    <p:sldId id="338" r:id="rId77"/>
    <p:sldId id="339" r:id="rId78"/>
    <p:sldId id="340" r:id="rId79"/>
    <p:sldId id="260" r:id="rId80"/>
    <p:sldId id="341" r:id="rId81"/>
    <p:sldId id="342" r:id="rId82"/>
    <p:sldId id="343" r:id="rId83"/>
    <p:sldId id="344" r:id="rId84"/>
    <p:sldId id="345" r:id="rId85"/>
    <p:sldId id="346" r:id="rId86"/>
    <p:sldId id="347" r:id="rId87"/>
    <p:sldId id="348" r:id="rId88"/>
    <p:sldId id="349" r:id="rId89"/>
    <p:sldId id="350" r:id="rId90"/>
    <p:sldId id="351" r:id="rId91"/>
    <p:sldId id="352" r:id="rId92"/>
    <p:sldId id="353" r:id="rId93"/>
    <p:sldId id="354" r:id="rId94"/>
    <p:sldId id="355" r:id="rId95"/>
    <p:sldId id="356" r:id="rId96"/>
    <p:sldId id="357" r:id="rId97"/>
    <p:sldId id="278" r:id="rId98"/>
    <p:sldId id="358" r:id="rId99"/>
    <p:sldId id="359" r:id="rId100"/>
    <p:sldId id="360" r:id="rId101"/>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1176" autoAdjust="0"/>
  </p:normalViewPr>
  <p:slideViewPr>
    <p:cSldViewPr snapToGrid="0" snapToObjects="1">
      <p:cViewPr varScale="1">
        <p:scale>
          <a:sx n="63" d="100"/>
          <a:sy n="63" d="100"/>
        </p:scale>
        <p:origin x="1354" y="67"/>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45" d="100"/>
          <a:sy n="45" d="100"/>
        </p:scale>
        <p:origin x="3514" y="4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notesMaster" Target="notesMasters/notesMaster1.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6" Type="http://schemas.openxmlformats.org/officeDocument/2006/relationships/tableStyles" Target="tableStyle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viewProps" Target="viewProps.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3456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HTTP specification is followed by many web servers.</a:t>
            </a:r>
          </a:p>
          <a:p>
            <a:r>
              <a:rPr lang="en-IN" dirty="0"/>
              <a:t>Different implementations include:</a:t>
            </a:r>
          </a:p>
          <a:p>
            <a:r>
              <a:rPr lang="en-IN" dirty="0"/>
              <a:t>Apache HTTP Server </a:t>
            </a:r>
          </a:p>
          <a:p>
            <a:r>
              <a:rPr lang="en-IN" dirty="0"/>
              <a:t>Nginx </a:t>
            </a:r>
          </a:p>
          <a:p>
            <a:r>
              <a:rPr lang="en-IN"/>
              <a:t>Microsoft IIS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F0239-6176-44BC-4FC0-EEEB3E0074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1EE0B6-F6F2-7E86-75BC-7FE6A25242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FDD792-ACC8-8A2E-A94C-367D628341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E71418-9D39-8B94-57FF-A0801DBC3AC3}"/>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1625021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Rough consensus</a:t>
            </a:r>
            <a:r>
              <a:rPr lang="en-IN" dirty="0"/>
              <a:t> means:</a:t>
            </a:r>
          </a:p>
          <a:p>
            <a:r>
              <a:rPr lang="en-IN" dirty="0"/>
              <a:t>Most technical experts agree that this is a good solution, even if everyone does not agree.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2D236-D910-4FBC-6150-D34968495F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252049-0879-23EF-167B-FA46D134E4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B0EFC5-45B0-2ABD-19EC-EB1BD68D6A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40C847-995E-153A-1782-91272DC74524}"/>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3876097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Key Point  :  Hardware carries the data.    Software decides what data to send and how users interact with it.</a:t>
            </a:r>
            <a:endParaRPr lang="en-IN" dirty="0"/>
          </a:p>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B4379-7918-A8EB-1FEA-378DC0529A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BB2F2F-4142-3BFB-06DF-DB3F2FC31D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208BF9-09E6-CEEE-7494-009A33769966}"/>
              </a:ext>
            </a:extLst>
          </p:cNvPr>
          <p:cNvSpPr>
            <a:spLocks noGrp="1"/>
          </p:cNvSpPr>
          <p:nvPr>
            <p:ph type="body" idx="1"/>
          </p:nvPr>
        </p:nvSpPr>
        <p:spPr/>
        <p:txBody>
          <a:bodyPr/>
          <a:lstStyle/>
          <a:p>
            <a:r>
              <a:rPr lang="en-IN" b="1" dirty="0"/>
              <a:t>Key Point  :  Hardware carries the data.    Software decides what data to send and how users interact with it.</a:t>
            </a:r>
            <a:endParaRPr lang="en-IN" dirty="0"/>
          </a:p>
          <a:p>
            <a:endParaRPr lang="en-US" dirty="0"/>
          </a:p>
        </p:txBody>
      </p:sp>
      <p:sp>
        <p:nvSpPr>
          <p:cNvPr id="4" name="Slide Number Placeholder 3">
            <a:extLst>
              <a:ext uri="{FF2B5EF4-FFF2-40B4-BE49-F238E27FC236}">
                <a16:creationId xmlns:a16="http://schemas.microsoft.com/office/drawing/2014/main" id="{385772B8-9DEF-6993-B72F-1E90D0B8561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2954470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DE2FD-204E-3893-8964-50E14178CA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1E89B2-9675-075F-368E-880153192C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0C3C83-8C98-38A0-005C-90D5E0CF5A0D}"/>
              </a:ext>
            </a:extLst>
          </p:cNvPr>
          <p:cNvSpPr>
            <a:spLocks noGrp="1"/>
          </p:cNvSpPr>
          <p:nvPr>
            <p:ph type="body" idx="1"/>
          </p:nvPr>
        </p:nvSpPr>
        <p:spPr/>
        <p:txBody>
          <a:bodyPr/>
          <a:lstStyle/>
          <a:p>
            <a:r>
              <a:rPr lang="en-IN" b="1" dirty="0"/>
              <a:t>Key Point  :  Hardware carries the data.    Software decides what data to send and how users interact with it.</a:t>
            </a:r>
            <a:endParaRPr lang="en-IN" dirty="0"/>
          </a:p>
          <a:p>
            <a:endParaRPr lang="en-US" dirty="0"/>
          </a:p>
        </p:txBody>
      </p:sp>
      <p:sp>
        <p:nvSpPr>
          <p:cNvPr id="4" name="Slide Number Placeholder 3">
            <a:extLst>
              <a:ext uri="{FF2B5EF4-FFF2-40B4-BE49-F238E27FC236}">
                <a16:creationId xmlns:a16="http://schemas.microsoft.com/office/drawing/2014/main" id="{E933BC10-896C-2F36-99F5-332BE0844769}"/>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3629138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8E76B-EBE5-467C-D407-7F69281311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32D8CB-16AD-3D31-3333-407A4099E9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9D32C7-8D37-495F-4302-1A62F8825A1F}"/>
              </a:ext>
            </a:extLst>
          </p:cNvPr>
          <p:cNvSpPr>
            <a:spLocks noGrp="1"/>
          </p:cNvSpPr>
          <p:nvPr>
            <p:ph type="body" idx="1"/>
          </p:nvPr>
        </p:nvSpPr>
        <p:spPr/>
        <p:txBody>
          <a:bodyPr/>
          <a:lstStyle/>
          <a:p>
            <a:r>
              <a:rPr lang="en-IN" b="1" dirty="0"/>
              <a:t>Key Point  :  Hardware carries the data.    Software decides what data to send and how users interact with it.</a:t>
            </a:r>
            <a:endParaRPr lang="en-IN" dirty="0"/>
          </a:p>
          <a:p>
            <a:endParaRPr lang="en-US" dirty="0"/>
          </a:p>
        </p:txBody>
      </p:sp>
      <p:sp>
        <p:nvSpPr>
          <p:cNvPr id="4" name="Slide Number Placeholder 3">
            <a:extLst>
              <a:ext uri="{FF2B5EF4-FFF2-40B4-BE49-F238E27FC236}">
                <a16:creationId xmlns:a16="http://schemas.microsoft.com/office/drawing/2014/main" id="{6D63E11E-AB03-FBF0-240A-94D11C16C8CB}"/>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4329372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A6652-CB72-3AF2-5E24-399F3B9F95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A24944-82D3-C57C-835C-1D8CCBBB87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F5EC6-09EE-D012-61AD-A2FB19B1D33D}"/>
              </a:ext>
            </a:extLst>
          </p:cNvPr>
          <p:cNvSpPr>
            <a:spLocks noGrp="1"/>
          </p:cNvSpPr>
          <p:nvPr>
            <p:ph type="body" idx="1"/>
          </p:nvPr>
        </p:nvSpPr>
        <p:spPr/>
        <p:txBody>
          <a:bodyPr/>
          <a:lstStyle/>
          <a:p>
            <a:r>
              <a:rPr lang="en-IN" b="1" dirty="0"/>
              <a:t>Key Point  :  Hardware carries the data.    Software decides what data to send and how users interact with it.</a:t>
            </a:r>
            <a:endParaRPr lang="en-IN" dirty="0"/>
          </a:p>
          <a:p>
            <a:endParaRPr lang="en-US" dirty="0"/>
          </a:p>
        </p:txBody>
      </p:sp>
      <p:sp>
        <p:nvSpPr>
          <p:cNvPr id="4" name="Slide Number Placeholder 3">
            <a:extLst>
              <a:ext uri="{FF2B5EF4-FFF2-40B4-BE49-F238E27FC236}">
                <a16:creationId xmlns:a16="http://schemas.microsoft.com/office/drawing/2014/main" id="{EB064376-6283-0F89-F731-8B37484F4F49}"/>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8142236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BAD24-2B7F-03CD-1489-68FAFE812D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961F44-D814-5816-3133-C6874E75D6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E4F166-411E-ABE6-A021-823933E06C62}"/>
              </a:ext>
            </a:extLst>
          </p:cNvPr>
          <p:cNvSpPr>
            <a:spLocks noGrp="1"/>
          </p:cNvSpPr>
          <p:nvPr>
            <p:ph type="body" idx="1"/>
          </p:nvPr>
        </p:nvSpPr>
        <p:spPr/>
        <p:txBody>
          <a:bodyPr/>
          <a:lstStyle/>
          <a:p>
            <a:r>
              <a:rPr lang="en-IN" b="1" dirty="0"/>
              <a:t>Key Point  :  Hardware carries the data.    Software decides what data to send and how users interact with it.</a:t>
            </a:r>
            <a:endParaRPr lang="en-IN" dirty="0"/>
          </a:p>
          <a:p>
            <a:endParaRPr lang="en-US" dirty="0"/>
          </a:p>
        </p:txBody>
      </p:sp>
      <p:sp>
        <p:nvSpPr>
          <p:cNvPr id="4" name="Slide Number Placeholder 3">
            <a:extLst>
              <a:ext uri="{FF2B5EF4-FFF2-40B4-BE49-F238E27FC236}">
                <a16:creationId xmlns:a16="http://schemas.microsoft.com/office/drawing/2014/main" id="{A7CB80F0-9DD9-5112-A8EE-A0A669706D7C}"/>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1343942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5E942-9F39-EF07-3FD4-CFBE073171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395FBB-0FE3-CE8E-4EAE-388FC619BE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557986-0BF1-FC14-C190-FF91C267E1ED}"/>
              </a:ext>
            </a:extLst>
          </p:cNvPr>
          <p:cNvSpPr>
            <a:spLocks noGrp="1"/>
          </p:cNvSpPr>
          <p:nvPr>
            <p:ph type="body" idx="1"/>
          </p:nvPr>
        </p:nvSpPr>
        <p:spPr/>
        <p:txBody>
          <a:bodyPr/>
          <a:lstStyle/>
          <a:p>
            <a:r>
              <a:rPr lang="en-IN" b="1" dirty="0"/>
              <a:t>Key Point  :  Hardware carries the data.    Software decides what data to send and how users interact with it.</a:t>
            </a:r>
            <a:endParaRPr lang="en-IN" dirty="0"/>
          </a:p>
          <a:p>
            <a:endParaRPr lang="en-US" dirty="0"/>
          </a:p>
        </p:txBody>
      </p:sp>
      <p:sp>
        <p:nvSpPr>
          <p:cNvPr id="4" name="Slide Number Placeholder 3">
            <a:extLst>
              <a:ext uri="{FF2B5EF4-FFF2-40B4-BE49-F238E27FC236}">
                <a16:creationId xmlns:a16="http://schemas.microsoft.com/office/drawing/2014/main" id="{9F8907B0-A8F1-8DD3-A0A5-B4D6A28EFB0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3183329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4BC93-5E80-9461-20EE-A937D134E5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99AF8B-E72B-C119-5CF0-A3087C902D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85D79A-E20A-381A-2244-88799F640628}"/>
              </a:ext>
            </a:extLst>
          </p:cNvPr>
          <p:cNvSpPr>
            <a:spLocks noGrp="1"/>
          </p:cNvSpPr>
          <p:nvPr>
            <p:ph type="body" idx="1"/>
          </p:nvPr>
        </p:nvSpPr>
        <p:spPr/>
        <p:txBody>
          <a:bodyPr/>
          <a:lstStyle/>
          <a:p>
            <a:r>
              <a:rPr lang="en-IN" b="1" dirty="0"/>
              <a:t>Hardware carries the data.    Software decides what data to send and how users interact with it.</a:t>
            </a:r>
            <a:endParaRPr lang="en-IN" dirty="0"/>
          </a:p>
          <a:p>
            <a:endParaRPr lang="en-US" dirty="0"/>
          </a:p>
        </p:txBody>
      </p:sp>
      <p:sp>
        <p:nvSpPr>
          <p:cNvPr id="4" name="Slide Number Placeholder 3">
            <a:extLst>
              <a:ext uri="{FF2B5EF4-FFF2-40B4-BE49-F238E27FC236}">
                <a16:creationId xmlns:a16="http://schemas.microsoft.com/office/drawing/2014/main" id="{CD0F8BFF-3C44-01FE-1E44-A0BC322C222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8366149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1785E-8D59-CD3E-60C1-DE84FB2B82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C30521-5F37-242F-A94F-A6B57A0E8D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48FD34-3D3B-C500-0189-C5BB0E1AFB99}"/>
              </a:ext>
            </a:extLst>
          </p:cNvPr>
          <p:cNvSpPr>
            <a:spLocks noGrp="1"/>
          </p:cNvSpPr>
          <p:nvPr>
            <p:ph type="body" idx="1"/>
          </p:nvPr>
        </p:nvSpPr>
        <p:spPr/>
        <p:txBody>
          <a:bodyPr/>
          <a:lstStyle/>
          <a:p>
            <a:r>
              <a:rPr lang="en-IN" b="1" dirty="0"/>
              <a:t>Key Point  :  Hardware carries the data.    Software decides what data to send and how users interact with it.</a:t>
            </a:r>
            <a:endParaRPr lang="en-IN" dirty="0"/>
          </a:p>
          <a:p>
            <a:endParaRPr lang="en-US" dirty="0"/>
          </a:p>
        </p:txBody>
      </p:sp>
      <p:sp>
        <p:nvSpPr>
          <p:cNvPr id="4" name="Slide Number Placeholder 3">
            <a:extLst>
              <a:ext uri="{FF2B5EF4-FFF2-40B4-BE49-F238E27FC236}">
                <a16:creationId xmlns:a16="http://schemas.microsoft.com/office/drawing/2014/main" id="{6BEDF072-3E3D-1A03-3D2E-97DEAAB7ECE9}"/>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1911498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165CB-EB0A-474A-0336-8DF6BB36C98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F8D4CBE-EB20-D0D1-EB4C-9C3471EE86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66D0E97-69DE-F658-76CF-8A10D2F265BC}"/>
              </a:ext>
            </a:extLst>
          </p:cNvPr>
          <p:cNvSpPr>
            <a:spLocks noGrp="1"/>
          </p:cNvSpPr>
          <p:nvPr>
            <p:ph type="dt" sz="half" idx="10"/>
          </p:nvPr>
        </p:nvSpPr>
        <p:spPr/>
        <p:txBody>
          <a:bodyPr/>
          <a:lstStyle/>
          <a:p>
            <a:fld id="{C99D7D09-41C8-4256-9A4E-16933FC4C690}" type="datetime1">
              <a:rPr lang="en-US" smtClean="0"/>
              <a:t>7/31/2026</a:t>
            </a:fld>
            <a:endParaRPr lang="en-IN"/>
          </a:p>
        </p:txBody>
      </p:sp>
      <p:sp>
        <p:nvSpPr>
          <p:cNvPr id="5" name="Footer Placeholder 4">
            <a:extLst>
              <a:ext uri="{FF2B5EF4-FFF2-40B4-BE49-F238E27FC236}">
                <a16:creationId xmlns:a16="http://schemas.microsoft.com/office/drawing/2014/main" id="{0406E6B1-6A48-9E2A-ACF9-5BDBA872B6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EFB7CF-930C-AF7E-584A-F513B34FBB45}"/>
              </a:ext>
            </a:extLst>
          </p:cNvPr>
          <p:cNvSpPr>
            <a:spLocks noGrp="1"/>
          </p:cNvSpPr>
          <p:nvPr>
            <p:ph type="sldNum" sz="quarter" idx="12"/>
          </p:nvPr>
        </p:nvSpPr>
        <p:spPr/>
        <p:txBody>
          <a:bodyPr/>
          <a:lstStyle/>
          <a:p>
            <a:fld id="{23B010C0-38D0-4A43-B92C-3BE2DDDE9030}" type="slidenum">
              <a:rPr lang="en-IN" smtClean="0"/>
              <a:t>‹#›</a:t>
            </a:fld>
            <a:endParaRPr lang="en-IN"/>
          </a:p>
        </p:txBody>
      </p:sp>
    </p:spTree>
    <p:extLst>
      <p:ext uri="{BB962C8B-B14F-4D97-AF65-F5344CB8AC3E}">
        <p14:creationId xmlns:p14="http://schemas.microsoft.com/office/powerpoint/2010/main" val="195017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53602-1046-2B49-AE27-6C90B59FE51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63D68C4-DF24-B2C6-105D-E5F37BCD12A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C0346F6-F3FA-BB6D-3630-241C885EC6FA}"/>
              </a:ext>
            </a:extLst>
          </p:cNvPr>
          <p:cNvSpPr>
            <a:spLocks noGrp="1"/>
          </p:cNvSpPr>
          <p:nvPr>
            <p:ph type="dt" sz="half" idx="10"/>
          </p:nvPr>
        </p:nvSpPr>
        <p:spPr/>
        <p:txBody>
          <a:bodyPr/>
          <a:lstStyle/>
          <a:p>
            <a:fld id="{08295408-C837-4945-8016-87D74E1930D5}" type="datetime1">
              <a:rPr lang="en-US" smtClean="0"/>
              <a:t>7/31/2026</a:t>
            </a:fld>
            <a:endParaRPr lang="en-IN"/>
          </a:p>
        </p:txBody>
      </p:sp>
      <p:sp>
        <p:nvSpPr>
          <p:cNvPr id="5" name="Footer Placeholder 4">
            <a:extLst>
              <a:ext uri="{FF2B5EF4-FFF2-40B4-BE49-F238E27FC236}">
                <a16:creationId xmlns:a16="http://schemas.microsoft.com/office/drawing/2014/main" id="{37AB46ED-B69E-A764-03EB-9D63608EE9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69088A-CF3E-D671-1A65-70B862759F84}"/>
              </a:ext>
            </a:extLst>
          </p:cNvPr>
          <p:cNvSpPr>
            <a:spLocks noGrp="1"/>
          </p:cNvSpPr>
          <p:nvPr>
            <p:ph type="sldNum" sz="quarter" idx="12"/>
          </p:nvPr>
        </p:nvSpPr>
        <p:spPr/>
        <p:txBody>
          <a:bodyPr/>
          <a:lstStyle/>
          <a:p>
            <a:fld id="{23B010C0-38D0-4A43-B92C-3BE2DDDE9030}" type="slidenum">
              <a:rPr lang="en-IN" smtClean="0"/>
              <a:t>‹#›</a:t>
            </a:fld>
            <a:endParaRPr lang="en-IN"/>
          </a:p>
        </p:txBody>
      </p:sp>
    </p:spTree>
    <p:extLst>
      <p:ext uri="{BB962C8B-B14F-4D97-AF65-F5344CB8AC3E}">
        <p14:creationId xmlns:p14="http://schemas.microsoft.com/office/powerpoint/2010/main" val="3342537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065AC-A4DE-2407-B83F-4B834EFD2D9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24F24F0-B903-2FAF-9445-67D11878CC2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8EAB44-1E37-D336-EF68-9F88B20C96FD}"/>
              </a:ext>
            </a:extLst>
          </p:cNvPr>
          <p:cNvSpPr>
            <a:spLocks noGrp="1"/>
          </p:cNvSpPr>
          <p:nvPr>
            <p:ph type="dt" sz="half" idx="10"/>
          </p:nvPr>
        </p:nvSpPr>
        <p:spPr/>
        <p:txBody>
          <a:bodyPr/>
          <a:lstStyle/>
          <a:p>
            <a:fld id="{9CC6A6B7-E63D-4A35-9931-BE8B47986569}" type="datetime1">
              <a:rPr lang="en-US" smtClean="0"/>
              <a:t>7/31/2026</a:t>
            </a:fld>
            <a:endParaRPr lang="en-IN"/>
          </a:p>
        </p:txBody>
      </p:sp>
      <p:sp>
        <p:nvSpPr>
          <p:cNvPr id="5" name="Footer Placeholder 4">
            <a:extLst>
              <a:ext uri="{FF2B5EF4-FFF2-40B4-BE49-F238E27FC236}">
                <a16:creationId xmlns:a16="http://schemas.microsoft.com/office/drawing/2014/main" id="{C8C086DA-BE73-2D66-BE6B-E6E19E3132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84A758-7A93-298A-68DD-EFB327AFF524}"/>
              </a:ext>
            </a:extLst>
          </p:cNvPr>
          <p:cNvSpPr>
            <a:spLocks noGrp="1"/>
          </p:cNvSpPr>
          <p:nvPr>
            <p:ph type="sldNum" sz="quarter" idx="12"/>
          </p:nvPr>
        </p:nvSpPr>
        <p:spPr/>
        <p:txBody>
          <a:bodyPr/>
          <a:lstStyle/>
          <a:p>
            <a:fld id="{23B010C0-38D0-4A43-B92C-3BE2DDDE9030}" type="slidenum">
              <a:rPr lang="en-IN" smtClean="0"/>
              <a:t>‹#›</a:t>
            </a:fld>
            <a:endParaRPr lang="en-IN"/>
          </a:p>
        </p:txBody>
      </p:sp>
    </p:spTree>
    <p:extLst>
      <p:ext uri="{BB962C8B-B14F-4D97-AF65-F5344CB8AC3E}">
        <p14:creationId xmlns:p14="http://schemas.microsoft.com/office/powerpoint/2010/main" val="17613611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26160-A3D4-9309-75D1-4C18BCF151C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BDF9173-687A-7E78-E3CE-9E7775DE3F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F17A911-0916-DFD5-BF4F-CD2A022D952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A463F4C-D162-FE60-97BC-88DCB147A444}"/>
              </a:ext>
            </a:extLst>
          </p:cNvPr>
          <p:cNvSpPr>
            <a:spLocks noGrp="1"/>
          </p:cNvSpPr>
          <p:nvPr>
            <p:ph type="dt" sz="half" idx="10"/>
          </p:nvPr>
        </p:nvSpPr>
        <p:spPr/>
        <p:txBody>
          <a:bodyPr/>
          <a:lstStyle/>
          <a:p>
            <a:fld id="{D03CDE37-246E-4488-B2C3-44434D1CD29D}" type="datetime1">
              <a:rPr lang="en-US" smtClean="0"/>
              <a:t>7/31/2026</a:t>
            </a:fld>
            <a:endParaRPr lang="en-IN"/>
          </a:p>
        </p:txBody>
      </p:sp>
      <p:sp>
        <p:nvSpPr>
          <p:cNvPr id="6" name="Footer Placeholder 5">
            <a:extLst>
              <a:ext uri="{FF2B5EF4-FFF2-40B4-BE49-F238E27FC236}">
                <a16:creationId xmlns:a16="http://schemas.microsoft.com/office/drawing/2014/main" id="{5524D7A3-6D55-5E36-032E-D123974075C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3BCFFA6-3A61-6637-E3DE-8BFE6C2FAC91}"/>
              </a:ext>
            </a:extLst>
          </p:cNvPr>
          <p:cNvSpPr>
            <a:spLocks noGrp="1"/>
          </p:cNvSpPr>
          <p:nvPr>
            <p:ph type="sldNum" sz="quarter" idx="12"/>
          </p:nvPr>
        </p:nvSpPr>
        <p:spPr/>
        <p:txBody>
          <a:bodyPr/>
          <a:lstStyle/>
          <a:p>
            <a:fld id="{23B010C0-38D0-4A43-B92C-3BE2DDDE9030}" type="slidenum">
              <a:rPr lang="en-IN" smtClean="0"/>
              <a:t>‹#›</a:t>
            </a:fld>
            <a:endParaRPr lang="en-IN"/>
          </a:p>
        </p:txBody>
      </p:sp>
    </p:spTree>
    <p:extLst>
      <p:ext uri="{BB962C8B-B14F-4D97-AF65-F5344CB8AC3E}">
        <p14:creationId xmlns:p14="http://schemas.microsoft.com/office/powerpoint/2010/main" val="13532205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E8279-5E63-DB6C-C01C-91FDA39C0BF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751F220-4C04-2F8F-2FE7-E650547756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BB7ABA0-DBB1-C44A-61A4-71D418E6A93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801BEFE-168C-152F-711B-3C032388090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7C5EE8-4502-828B-0385-E9FE4EF4B6E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4808DE7-A40D-0ED5-E02E-C13BCB0CD77C}"/>
              </a:ext>
            </a:extLst>
          </p:cNvPr>
          <p:cNvSpPr>
            <a:spLocks noGrp="1"/>
          </p:cNvSpPr>
          <p:nvPr>
            <p:ph type="dt" sz="half" idx="10"/>
          </p:nvPr>
        </p:nvSpPr>
        <p:spPr/>
        <p:txBody>
          <a:bodyPr/>
          <a:lstStyle/>
          <a:p>
            <a:fld id="{EB924DA7-4391-40E3-903E-E44D85F36ECA}" type="datetime1">
              <a:rPr lang="en-US" smtClean="0"/>
              <a:t>7/31/2026</a:t>
            </a:fld>
            <a:endParaRPr lang="en-IN"/>
          </a:p>
        </p:txBody>
      </p:sp>
      <p:sp>
        <p:nvSpPr>
          <p:cNvPr id="8" name="Footer Placeholder 7">
            <a:extLst>
              <a:ext uri="{FF2B5EF4-FFF2-40B4-BE49-F238E27FC236}">
                <a16:creationId xmlns:a16="http://schemas.microsoft.com/office/drawing/2014/main" id="{5558E95F-29F4-D77F-909E-FB1AF8DD6F0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03DE098-D0FA-B259-2CB5-56AA205BFCAF}"/>
              </a:ext>
            </a:extLst>
          </p:cNvPr>
          <p:cNvSpPr>
            <a:spLocks noGrp="1"/>
          </p:cNvSpPr>
          <p:nvPr>
            <p:ph type="sldNum" sz="quarter" idx="12"/>
          </p:nvPr>
        </p:nvSpPr>
        <p:spPr/>
        <p:txBody>
          <a:bodyPr/>
          <a:lstStyle/>
          <a:p>
            <a:fld id="{23B010C0-38D0-4A43-B92C-3BE2DDDE9030}" type="slidenum">
              <a:rPr lang="en-IN" smtClean="0"/>
              <a:t>‹#›</a:t>
            </a:fld>
            <a:endParaRPr lang="en-IN"/>
          </a:p>
        </p:txBody>
      </p:sp>
    </p:spTree>
    <p:extLst>
      <p:ext uri="{BB962C8B-B14F-4D97-AF65-F5344CB8AC3E}">
        <p14:creationId xmlns:p14="http://schemas.microsoft.com/office/powerpoint/2010/main" val="27695670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D5F71-7D27-AC8D-9308-BE0971E3063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42595AE-FCE0-DC2C-6B05-14BC7B7940B6}"/>
              </a:ext>
            </a:extLst>
          </p:cNvPr>
          <p:cNvSpPr>
            <a:spLocks noGrp="1"/>
          </p:cNvSpPr>
          <p:nvPr>
            <p:ph type="dt" sz="half" idx="10"/>
          </p:nvPr>
        </p:nvSpPr>
        <p:spPr/>
        <p:txBody>
          <a:bodyPr/>
          <a:lstStyle/>
          <a:p>
            <a:fld id="{95B2E0B5-1B0A-4849-B8EE-40897A68FC49}" type="datetime1">
              <a:rPr lang="en-US" smtClean="0"/>
              <a:t>7/31/2026</a:t>
            </a:fld>
            <a:endParaRPr lang="en-IN"/>
          </a:p>
        </p:txBody>
      </p:sp>
      <p:sp>
        <p:nvSpPr>
          <p:cNvPr id="4" name="Footer Placeholder 3">
            <a:extLst>
              <a:ext uri="{FF2B5EF4-FFF2-40B4-BE49-F238E27FC236}">
                <a16:creationId xmlns:a16="http://schemas.microsoft.com/office/drawing/2014/main" id="{8CC4108C-0B74-6DBF-3D5B-72E1FE2CC11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322E289-11A7-CADA-F533-12592EDE9025}"/>
              </a:ext>
            </a:extLst>
          </p:cNvPr>
          <p:cNvSpPr>
            <a:spLocks noGrp="1"/>
          </p:cNvSpPr>
          <p:nvPr>
            <p:ph type="sldNum" sz="quarter" idx="12"/>
          </p:nvPr>
        </p:nvSpPr>
        <p:spPr/>
        <p:txBody>
          <a:bodyPr/>
          <a:lstStyle/>
          <a:p>
            <a:fld id="{23B010C0-38D0-4A43-B92C-3BE2DDDE9030}" type="slidenum">
              <a:rPr lang="en-IN" smtClean="0"/>
              <a:t>‹#›</a:t>
            </a:fld>
            <a:endParaRPr lang="en-IN"/>
          </a:p>
        </p:txBody>
      </p:sp>
    </p:spTree>
    <p:extLst>
      <p:ext uri="{BB962C8B-B14F-4D97-AF65-F5344CB8AC3E}">
        <p14:creationId xmlns:p14="http://schemas.microsoft.com/office/powerpoint/2010/main" val="2795761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AC7FCF-69EC-BD07-9C06-199AC6ACB154}"/>
              </a:ext>
            </a:extLst>
          </p:cNvPr>
          <p:cNvSpPr>
            <a:spLocks noGrp="1"/>
          </p:cNvSpPr>
          <p:nvPr>
            <p:ph type="dt" sz="half" idx="10"/>
          </p:nvPr>
        </p:nvSpPr>
        <p:spPr/>
        <p:txBody>
          <a:bodyPr/>
          <a:lstStyle/>
          <a:p>
            <a:fld id="{C6ACC23A-AA5F-42C2-BD3C-C3C34EA30C26}" type="datetime1">
              <a:rPr lang="en-US" smtClean="0"/>
              <a:t>7/31/2026</a:t>
            </a:fld>
            <a:endParaRPr lang="en-IN"/>
          </a:p>
        </p:txBody>
      </p:sp>
      <p:sp>
        <p:nvSpPr>
          <p:cNvPr id="3" name="Footer Placeholder 2">
            <a:extLst>
              <a:ext uri="{FF2B5EF4-FFF2-40B4-BE49-F238E27FC236}">
                <a16:creationId xmlns:a16="http://schemas.microsoft.com/office/drawing/2014/main" id="{5CD45E5F-3914-A49C-7512-1A9060990BE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4EE4592-B496-83BE-3BF4-D81570DA2B93}"/>
              </a:ext>
            </a:extLst>
          </p:cNvPr>
          <p:cNvSpPr>
            <a:spLocks noGrp="1"/>
          </p:cNvSpPr>
          <p:nvPr>
            <p:ph type="sldNum" sz="quarter" idx="12"/>
          </p:nvPr>
        </p:nvSpPr>
        <p:spPr/>
        <p:txBody>
          <a:bodyPr/>
          <a:lstStyle/>
          <a:p>
            <a:fld id="{23B010C0-38D0-4A43-B92C-3BE2DDDE9030}" type="slidenum">
              <a:rPr lang="en-IN" smtClean="0"/>
              <a:t>‹#›</a:t>
            </a:fld>
            <a:endParaRPr lang="en-IN"/>
          </a:p>
        </p:txBody>
      </p:sp>
    </p:spTree>
    <p:extLst>
      <p:ext uri="{BB962C8B-B14F-4D97-AF65-F5344CB8AC3E}">
        <p14:creationId xmlns:p14="http://schemas.microsoft.com/office/powerpoint/2010/main" val="23035908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44E75-E0D5-4DC1-FB0F-825C2EB347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EB1667E-F880-424B-02A1-2FC725EF9A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39B53FD-236E-9816-E8B2-60EDCC615A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03AF0F-E756-3CBE-72DF-9D58D3903C12}"/>
              </a:ext>
            </a:extLst>
          </p:cNvPr>
          <p:cNvSpPr>
            <a:spLocks noGrp="1"/>
          </p:cNvSpPr>
          <p:nvPr>
            <p:ph type="dt" sz="half" idx="10"/>
          </p:nvPr>
        </p:nvSpPr>
        <p:spPr/>
        <p:txBody>
          <a:bodyPr/>
          <a:lstStyle/>
          <a:p>
            <a:fld id="{1F07C8E8-E491-4DCA-9624-32330E08F037}" type="datetime1">
              <a:rPr lang="en-US" smtClean="0"/>
              <a:t>7/31/2026</a:t>
            </a:fld>
            <a:endParaRPr lang="en-IN"/>
          </a:p>
        </p:txBody>
      </p:sp>
      <p:sp>
        <p:nvSpPr>
          <p:cNvPr id="6" name="Footer Placeholder 5">
            <a:extLst>
              <a:ext uri="{FF2B5EF4-FFF2-40B4-BE49-F238E27FC236}">
                <a16:creationId xmlns:a16="http://schemas.microsoft.com/office/drawing/2014/main" id="{057A8322-9D99-250E-9A9E-37D0B4704A6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6FAFB85-6F12-4EC8-277A-4E0C6F185214}"/>
              </a:ext>
            </a:extLst>
          </p:cNvPr>
          <p:cNvSpPr>
            <a:spLocks noGrp="1"/>
          </p:cNvSpPr>
          <p:nvPr>
            <p:ph type="sldNum" sz="quarter" idx="12"/>
          </p:nvPr>
        </p:nvSpPr>
        <p:spPr/>
        <p:txBody>
          <a:bodyPr/>
          <a:lstStyle/>
          <a:p>
            <a:fld id="{23B010C0-38D0-4A43-B92C-3BE2DDDE9030}" type="slidenum">
              <a:rPr lang="en-IN" smtClean="0"/>
              <a:t>‹#›</a:t>
            </a:fld>
            <a:endParaRPr lang="en-IN"/>
          </a:p>
        </p:txBody>
      </p:sp>
    </p:spTree>
    <p:extLst>
      <p:ext uri="{BB962C8B-B14F-4D97-AF65-F5344CB8AC3E}">
        <p14:creationId xmlns:p14="http://schemas.microsoft.com/office/powerpoint/2010/main" val="21583691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873AB-A901-E1EB-D13A-44C45D03CC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7A54EF3-866A-F1D1-1F8D-84E3EF4CDC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ACD0B93-DD76-0FD8-3611-EE967C6702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112D5B-B55C-FCB0-2858-A3688F16CFFE}"/>
              </a:ext>
            </a:extLst>
          </p:cNvPr>
          <p:cNvSpPr>
            <a:spLocks noGrp="1"/>
          </p:cNvSpPr>
          <p:nvPr>
            <p:ph type="dt" sz="half" idx="10"/>
          </p:nvPr>
        </p:nvSpPr>
        <p:spPr/>
        <p:txBody>
          <a:bodyPr/>
          <a:lstStyle/>
          <a:p>
            <a:fld id="{F63B6392-14EA-4886-A165-462342D66EF2}" type="datetime1">
              <a:rPr lang="en-US" smtClean="0"/>
              <a:t>7/31/2026</a:t>
            </a:fld>
            <a:endParaRPr lang="en-IN"/>
          </a:p>
        </p:txBody>
      </p:sp>
      <p:sp>
        <p:nvSpPr>
          <p:cNvPr id="6" name="Footer Placeholder 5">
            <a:extLst>
              <a:ext uri="{FF2B5EF4-FFF2-40B4-BE49-F238E27FC236}">
                <a16:creationId xmlns:a16="http://schemas.microsoft.com/office/drawing/2014/main" id="{0B4AA4EA-397F-5C25-3980-86D8F4A2844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9369724-34B7-A4B6-1A14-38256E50A54B}"/>
              </a:ext>
            </a:extLst>
          </p:cNvPr>
          <p:cNvSpPr>
            <a:spLocks noGrp="1"/>
          </p:cNvSpPr>
          <p:nvPr>
            <p:ph type="sldNum" sz="quarter" idx="12"/>
          </p:nvPr>
        </p:nvSpPr>
        <p:spPr/>
        <p:txBody>
          <a:bodyPr/>
          <a:lstStyle/>
          <a:p>
            <a:fld id="{23B010C0-38D0-4A43-B92C-3BE2DDDE9030}" type="slidenum">
              <a:rPr lang="en-IN" smtClean="0"/>
              <a:t>‹#›</a:t>
            </a:fld>
            <a:endParaRPr lang="en-IN"/>
          </a:p>
        </p:txBody>
      </p:sp>
    </p:spTree>
    <p:extLst>
      <p:ext uri="{BB962C8B-B14F-4D97-AF65-F5344CB8AC3E}">
        <p14:creationId xmlns:p14="http://schemas.microsoft.com/office/powerpoint/2010/main" val="16096503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04BC2-3C30-27FE-CBF0-D93C2716F30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45ABA8C-6361-379C-2440-E76E520CA9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ABE8193-5C4E-8EF6-E2BA-2940463A1613}"/>
              </a:ext>
            </a:extLst>
          </p:cNvPr>
          <p:cNvSpPr>
            <a:spLocks noGrp="1"/>
          </p:cNvSpPr>
          <p:nvPr>
            <p:ph type="dt" sz="half" idx="10"/>
          </p:nvPr>
        </p:nvSpPr>
        <p:spPr/>
        <p:txBody>
          <a:bodyPr/>
          <a:lstStyle/>
          <a:p>
            <a:fld id="{420DC742-1437-4FC9-B7BA-04458092010A}" type="datetime1">
              <a:rPr lang="en-US" smtClean="0"/>
              <a:t>7/31/2026</a:t>
            </a:fld>
            <a:endParaRPr lang="en-IN"/>
          </a:p>
        </p:txBody>
      </p:sp>
      <p:sp>
        <p:nvSpPr>
          <p:cNvPr id="5" name="Footer Placeholder 4">
            <a:extLst>
              <a:ext uri="{FF2B5EF4-FFF2-40B4-BE49-F238E27FC236}">
                <a16:creationId xmlns:a16="http://schemas.microsoft.com/office/drawing/2014/main" id="{DEA27E04-A709-E339-C20D-3AEBB9F297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F8D52C-BA21-9485-7B7F-DFC4A10429B4}"/>
              </a:ext>
            </a:extLst>
          </p:cNvPr>
          <p:cNvSpPr>
            <a:spLocks noGrp="1"/>
          </p:cNvSpPr>
          <p:nvPr>
            <p:ph type="sldNum" sz="quarter" idx="12"/>
          </p:nvPr>
        </p:nvSpPr>
        <p:spPr/>
        <p:txBody>
          <a:bodyPr/>
          <a:lstStyle/>
          <a:p>
            <a:fld id="{23B010C0-38D0-4A43-B92C-3BE2DDDE9030}" type="slidenum">
              <a:rPr lang="en-IN" smtClean="0"/>
              <a:t>‹#›</a:t>
            </a:fld>
            <a:endParaRPr lang="en-IN"/>
          </a:p>
        </p:txBody>
      </p:sp>
    </p:spTree>
    <p:extLst>
      <p:ext uri="{BB962C8B-B14F-4D97-AF65-F5344CB8AC3E}">
        <p14:creationId xmlns:p14="http://schemas.microsoft.com/office/powerpoint/2010/main" val="39956899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65AE2F4-5A4A-6DA4-3B81-A1CF5E0BBAC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7B319B9-9CCF-1E8A-58CC-DFEADBF7C90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55A247-D867-78B7-BA97-37202B2F606E}"/>
              </a:ext>
            </a:extLst>
          </p:cNvPr>
          <p:cNvSpPr>
            <a:spLocks noGrp="1"/>
          </p:cNvSpPr>
          <p:nvPr>
            <p:ph type="dt" sz="half" idx="10"/>
          </p:nvPr>
        </p:nvSpPr>
        <p:spPr/>
        <p:txBody>
          <a:bodyPr/>
          <a:lstStyle/>
          <a:p>
            <a:fld id="{86754D59-26F9-48E4-AE0F-C027FEEED6A1}" type="datetime1">
              <a:rPr lang="en-US" smtClean="0"/>
              <a:t>7/31/2026</a:t>
            </a:fld>
            <a:endParaRPr lang="en-IN"/>
          </a:p>
        </p:txBody>
      </p:sp>
      <p:sp>
        <p:nvSpPr>
          <p:cNvPr id="5" name="Footer Placeholder 4">
            <a:extLst>
              <a:ext uri="{FF2B5EF4-FFF2-40B4-BE49-F238E27FC236}">
                <a16:creationId xmlns:a16="http://schemas.microsoft.com/office/drawing/2014/main" id="{63A4CD90-0A6E-2278-4F3E-17C9315300A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E58E4C-625E-56A9-599E-B2141BF2B7F9}"/>
              </a:ext>
            </a:extLst>
          </p:cNvPr>
          <p:cNvSpPr>
            <a:spLocks noGrp="1"/>
          </p:cNvSpPr>
          <p:nvPr>
            <p:ph type="sldNum" sz="quarter" idx="12"/>
          </p:nvPr>
        </p:nvSpPr>
        <p:spPr/>
        <p:txBody>
          <a:bodyPr/>
          <a:lstStyle/>
          <a:p>
            <a:fld id="{23B010C0-38D0-4A43-B92C-3BE2DDDE9030}" type="slidenum">
              <a:rPr lang="en-IN" smtClean="0"/>
              <a:t>‹#›</a:t>
            </a:fld>
            <a:endParaRPr lang="en-IN"/>
          </a:p>
        </p:txBody>
      </p:sp>
    </p:spTree>
    <p:extLst>
      <p:ext uri="{BB962C8B-B14F-4D97-AF65-F5344CB8AC3E}">
        <p14:creationId xmlns:p14="http://schemas.microsoft.com/office/powerpoint/2010/main" val="6629850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06566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165CB-EB0A-474A-0336-8DF6BB36C98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F8D4CBE-EB20-D0D1-EB4C-9C3471EE86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66D0E97-69DE-F658-76CF-8A10D2F265BC}"/>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0406E6B1-6A48-9E2A-ACF9-5BDBA872B657}"/>
              </a:ext>
            </a:extLst>
          </p:cNvPr>
          <p:cNvSpPr>
            <a:spLocks noGrp="1"/>
          </p:cNvSpPr>
          <p:nvPr>
            <p:ph type="ftr" sz="quarter" idx="11"/>
          </p:nvPr>
        </p:nvSpPr>
        <p:spPr/>
        <p:txBody>
          <a:bodyPr/>
          <a:lstStyle/>
          <a:p>
            <a:r>
              <a:rPr lang="en-IN"/>
              <a:t>hi</a:t>
            </a:r>
          </a:p>
        </p:txBody>
      </p:sp>
      <p:sp>
        <p:nvSpPr>
          <p:cNvPr id="6" name="Slide Number Placeholder 5">
            <a:extLst>
              <a:ext uri="{FF2B5EF4-FFF2-40B4-BE49-F238E27FC236}">
                <a16:creationId xmlns:a16="http://schemas.microsoft.com/office/drawing/2014/main" id="{DAEFB7CF-930C-AF7E-584A-F513B34FBB45}"/>
              </a:ext>
            </a:extLst>
          </p:cNvPr>
          <p:cNvSpPr>
            <a:spLocks noGrp="1"/>
          </p:cNvSpPr>
          <p:nvPr>
            <p:ph type="sldNum" sz="quarter" idx="12"/>
          </p:nvPr>
        </p:nvSpPr>
        <p:spPr/>
        <p:txBody>
          <a:bodyPr/>
          <a:lstStyle/>
          <a:p>
            <a:fld id="{23B010C0-38D0-4A43-B92C-3BE2DDDE9030}" type="slidenum">
              <a:rPr lang="en-IN" smtClean="0"/>
              <a:t>‹#›</a:t>
            </a:fld>
            <a:endParaRPr lang="en-IN"/>
          </a:p>
        </p:txBody>
      </p:sp>
    </p:spTree>
    <p:extLst>
      <p:ext uri="{BB962C8B-B14F-4D97-AF65-F5344CB8AC3E}">
        <p14:creationId xmlns:p14="http://schemas.microsoft.com/office/powerpoint/2010/main" val="28365935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53602-1046-2B49-AE27-6C90B59FE51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63D68C4-DF24-B2C6-105D-E5F37BCD12A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C0346F6-F3FA-BB6D-3630-241C885EC6FA}"/>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37AB46ED-B69E-A764-03EB-9D63608EE9D3}"/>
              </a:ext>
            </a:extLst>
          </p:cNvPr>
          <p:cNvSpPr>
            <a:spLocks noGrp="1"/>
          </p:cNvSpPr>
          <p:nvPr>
            <p:ph type="ftr" sz="quarter" idx="11"/>
          </p:nvPr>
        </p:nvSpPr>
        <p:spPr/>
        <p:txBody>
          <a:bodyPr/>
          <a:lstStyle/>
          <a:p>
            <a:r>
              <a:rPr lang="en-IN"/>
              <a:t>hi</a:t>
            </a:r>
          </a:p>
        </p:txBody>
      </p:sp>
      <p:sp>
        <p:nvSpPr>
          <p:cNvPr id="6" name="Slide Number Placeholder 5">
            <a:extLst>
              <a:ext uri="{FF2B5EF4-FFF2-40B4-BE49-F238E27FC236}">
                <a16:creationId xmlns:a16="http://schemas.microsoft.com/office/drawing/2014/main" id="{2E69088A-CF3E-D671-1A65-70B862759F84}"/>
              </a:ext>
            </a:extLst>
          </p:cNvPr>
          <p:cNvSpPr>
            <a:spLocks noGrp="1"/>
          </p:cNvSpPr>
          <p:nvPr>
            <p:ph type="sldNum" sz="quarter" idx="12"/>
          </p:nvPr>
        </p:nvSpPr>
        <p:spPr/>
        <p:txBody>
          <a:bodyPr/>
          <a:lstStyle/>
          <a:p>
            <a:fld id="{23B010C0-38D0-4A43-B92C-3BE2DDDE9030}" type="slidenum">
              <a:rPr lang="en-IN" smtClean="0"/>
              <a:t>‹#›</a:t>
            </a:fld>
            <a:endParaRPr lang="en-IN"/>
          </a:p>
        </p:txBody>
      </p:sp>
    </p:spTree>
    <p:extLst>
      <p:ext uri="{BB962C8B-B14F-4D97-AF65-F5344CB8AC3E}">
        <p14:creationId xmlns:p14="http://schemas.microsoft.com/office/powerpoint/2010/main" val="16174779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065AC-A4DE-2407-B83F-4B834EFD2D9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24F24F0-B903-2FAF-9445-67D11878CC2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8EAB44-1E37-D336-EF68-9F88B20C96FD}"/>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C8C086DA-BE73-2D66-BE6B-E6E19E31324F}"/>
              </a:ext>
            </a:extLst>
          </p:cNvPr>
          <p:cNvSpPr>
            <a:spLocks noGrp="1"/>
          </p:cNvSpPr>
          <p:nvPr>
            <p:ph type="ftr" sz="quarter" idx="11"/>
          </p:nvPr>
        </p:nvSpPr>
        <p:spPr/>
        <p:txBody>
          <a:bodyPr/>
          <a:lstStyle/>
          <a:p>
            <a:r>
              <a:rPr lang="en-IN"/>
              <a:t>hi</a:t>
            </a:r>
          </a:p>
        </p:txBody>
      </p:sp>
      <p:sp>
        <p:nvSpPr>
          <p:cNvPr id="6" name="Slide Number Placeholder 5">
            <a:extLst>
              <a:ext uri="{FF2B5EF4-FFF2-40B4-BE49-F238E27FC236}">
                <a16:creationId xmlns:a16="http://schemas.microsoft.com/office/drawing/2014/main" id="{3A84A758-7A93-298A-68DD-EFB327AFF524}"/>
              </a:ext>
            </a:extLst>
          </p:cNvPr>
          <p:cNvSpPr>
            <a:spLocks noGrp="1"/>
          </p:cNvSpPr>
          <p:nvPr>
            <p:ph type="sldNum" sz="quarter" idx="12"/>
          </p:nvPr>
        </p:nvSpPr>
        <p:spPr/>
        <p:txBody>
          <a:bodyPr/>
          <a:lstStyle/>
          <a:p>
            <a:fld id="{23B010C0-38D0-4A43-B92C-3BE2DDDE9030}" type="slidenum">
              <a:rPr lang="en-IN" smtClean="0"/>
              <a:t>‹#›</a:t>
            </a:fld>
            <a:endParaRPr lang="en-IN"/>
          </a:p>
        </p:txBody>
      </p:sp>
    </p:spTree>
    <p:extLst>
      <p:ext uri="{BB962C8B-B14F-4D97-AF65-F5344CB8AC3E}">
        <p14:creationId xmlns:p14="http://schemas.microsoft.com/office/powerpoint/2010/main" val="42864933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26160-A3D4-9309-75D1-4C18BCF151C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BDF9173-687A-7E78-E3CE-9E7775DE3F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F17A911-0916-DFD5-BF4F-CD2A022D952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A463F4C-D162-FE60-97BC-88DCB147A444}"/>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5524D7A3-6D55-5E36-032E-D123974075CF}"/>
              </a:ext>
            </a:extLst>
          </p:cNvPr>
          <p:cNvSpPr>
            <a:spLocks noGrp="1"/>
          </p:cNvSpPr>
          <p:nvPr>
            <p:ph type="ftr" sz="quarter" idx="11"/>
          </p:nvPr>
        </p:nvSpPr>
        <p:spPr/>
        <p:txBody>
          <a:bodyPr/>
          <a:lstStyle/>
          <a:p>
            <a:r>
              <a:rPr lang="en-IN"/>
              <a:t>hi</a:t>
            </a:r>
          </a:p>
        </p:txBody>
      </p:sp>
      <p:sp>
        <p:nvSpPr>
          <p:cNvPr id="7" name="Slide Number Placeholder 6">
            <a:extLst>
              <a:ext uri="{FF2B5EF4-FFF2-40B4-BE49-F238E27FC236}">
                <a16:creationId xmlns:a16="http://schemas.microsoft.com/office/drawing/2014/main" id="{03BCFFA6-3A61-6637-E3DE-8BFE6C2FAC91}"/>
              </a:ext>
            </a:extLst>
          </p:cNvPr>
          <p:cNvSpPr>
            <a:spLocks noGrp="1"/>
          </p:cNvSpPr>
          <p:nvPr>
            <p:ph type="sldNum" sz="quarter" idx="12"/>
          </p:nvPr>
        </p:nvSpPr>
        <p:spPr/>
        <p:txBody>
          <a:bodyPr/>
          <a:lstStyle/>
          <a:p>
            <a:fld id="{23B010C0-38D0-4A43-B92C-3BE2DDDE9030}" type="slidenum">
              <a:rPr lang="en-IN" smtClean="0"/>
              <a:t>‹#›</a:t>
            </a:fld>
            <a:endParaRPr lang="en-IN"/>
          </a:p>
        </p:txBody>
      </p:sp>
    </p:spTree>
    <p:extLst>
      <p:ext uri="{BB962C8B-B14F-4D97-AF65-F5344CB8AC3E}">
        <p14:creationId xmlns:p14="http://schemas.microsoft.com/office/powerpoint/2010/main" val="5112709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E8279-5E63-DB6C-C01C-91FDA39C0BF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751F220-4C04-2F8F-2FE7-E650547756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BB7ABA0-DBB1-C44A-61A4-71D418E6A93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801BEFE-168C-152F-711B-3C032388090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7C5EE8-4502-828B-0385-E9FE4EF4B6E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4808DE7-A40D-0ED5-E02E-C13BCB0CD77C}"/>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5558E95F-29F4-D77F-909E-FB1AF8DD6F0F}"/>
              </a:ext>
            </a:extLst>
          </p:cNvPr>
          <p:cNvSpPr>
            <a:spLocks noGrp="1"/>
          </p:cNvSpPr>
          <p:nvPr>
            <p:ph type="ftr" sz="quarter" idx="11"/>
          </p:nvPr>
        </p:nvSpPr>
        <p:spPr/>
        <p:txBody>
          <a:bodyPr/>
          <a:lstStyle/>
          <a:p>
            <a:r>
              <a:rPr lang="en-IN"/>
              <a:t>hi</a:t>
            </a:r>
          </a:p>
        </p:txBody>
      </p:sp>
      <p:sp>
        <p:nvSpPr>
          <p:cNvPr id="9" name="Slide Number Placeholder 8">
            <a:extLst>
              <a:ext uri="{FF2B5EF4-FFF2-40B4-BE49-F238E27FC236}">
                <a16:creationId xmlns:a16="http://schemas.microsoft.com/office/drawing/2014/main" id="{803DE098-D0FA-B259-2CB5-56AA205BFCAF}"/>
              </a:ext>
            </a:extLst>
          </p:cNvPr>
          <p:cNvSpPr>
            <a:spLocks noGrp="1"/>
          </p:cNvSpPr>
          <p:nvPr>
            <p:ph type="sldNum" sz="quarter" idx="12"/>
          </p:nvPr>
        </p:nvSpPr>
        <p:spPr/>
        <p:txBody>
          <a:bodyPr/>
          <a:lstStyle/>
          <a:p>
            <a:fld id="{23B010C0-38D0-4A43-B92C-3BE2DDDE9030}" type="slidenum">
              <a:rPr lang="en-IN" smtClean="0"/>
              <a:t>‹#›</a:t>
            </a:fld>
            <a:endParaRPr lang="en-IN"/>
          </a:p>
        </p:txBody>
      </p:sp>
    </p:spTree>
    <p:extLst>
      <p:ext uri="{BB962C8B-B14F-4D97-AF65-F5344CB8AC3E}">
        <p14:creationId xmlns:p14="http://schemas.microsoft.com/office/powerpoint/2010/main" val="17418220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D5F71-7D27-AC8D-9308-BE0971E3063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42595AE-FCE0-DC2C-6B05-14BC7B7940B6}"/>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8CC4108C-0B74-6DBF-3D5B-72E1FE2CC117}"/>
              </a:ext>
            </a:extLst>
          </p:cNvPr>
          <p:cNvSpPr>
            <a:spLocks noGrp="1"/>
          </p:cNvSpPr>
          <p:nvPr>
            <p:ph type="ftr" sz="quarter" idx="11"/>
          </p:nvPr>
        </p:nvSpPr>
        <p:spPr/>
        <p:txBody>
          <a:bodyPr/>
          <a:lstStyle/>
          <a:p>
            <a:r>
              <a:rPr lang="en-IN"/>
              <a:t>hi</a:t>
            </a:r>
          </a:p>
        </p:txBody>
      </p:sp>
      <p:sp>
        <p:nvSpPr>
          <p:cNvPr id="5" name="Slide Number Placeholder 4">
            <a:extLst>
              <a:ext uri="{FF2B5EF4-FFF2-40B4-BE49-F238E27FC236}">
                <a16:creationId xmlns:a16="http://schemas.microsoft.com/office/drawing/2014/main" id="{9322E289-11A7-CADA-F533-12592EDE9025}"/>
              </a:ext>
            </a:extLst>
          </p:cNvPr>
          <p:cNvSpPr>
            <a:spLocks noGrp="1"/>
          </p:cNvSpPr>
          <p:nvPr>
            <p:ph type="sldNum" sz="quarter" idx="12"/>
          </p:nvPr>
        </p:nvSpPr>
        <p:spPr/>
        <p:txBody>
          <a:bodyPr/>
          <a:lstStyle/>
          <a:p>
            <a:fld id="{23B010C0-38D0-4A43-B92C-3BE2DDDE9030}" type="slidenum">
              <a:rPr lang="en-IN" smtClean="0"/>
              <a:t>‹#›</a:t>
            </a:fld>
            <a:endParaRPr lang="en-IN"/>
          </a:p>
        </p:txBody>
      </p:sp>
    </p:spTree>
    <p:extLst>
      <p:ext uri="{BB962C8B-B14F-4D97-AF65-F5344CB8AC3E}">
        <p14:creationId xmlns:p14="http://schemas.microsoft.com/office/powerpoint/2010/main" val="10504304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AC7FCF-69EC-BD07-9C06-199AC6ACB154}"/>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5CD45E5F-3914-A49C-7512-1A9060990BEA}"/>
              </a:ext>
            </a:extLst>
          </p:cNvPr>
          <p:cNvSpPr>
            <a:spLocks noGrp="1"/>
          </p:cNvSpPr>
          <p:nvPr>
            <p:ph type="ftr" sz="quarter" idx="11"/>
          </p:nvPr>
        </p:nvSpPr>
        <p:spPr/>
        <p:txBody>
          <a:bodyPr/>
          <a:lstStyle/>
          <a:p>
            <a:r>
              <a:rPr lang="en-IN"/>
              <a:t>hi</a:t>
            </a:r>
          </a:p>
        </p:txBody>
      </p:sp>
      <p:sp>
        <p:nvSpPr>
          <p:cNvPr id="4" name="Slide Number Placeholder 3">
            <a:extLst>
              <a:ext uri="{FF2B5EF4-FFF2-40B4-BE49-F238E27FC236}">
                <a16:creationId xmlns:a16="http://schemas.microsoft.com/office/drawing/2014/main" id="{24EE4592-B496-83BE-3BF4-D81570DA2B93}"/>
              </a:ext>
            </a:extLst>
          </p:cNvPr>
          <p:cNvSpPr>
            <a:spLocks noGrp="1"/>
          </p:cNvSpPr>
          <p:nvPr>
            <p:ph type="sldNum" sz="quarter" idx="12"/>
          </p:nvPr>
        </p:nvSpPr>
        <p:spPr/>
        <p:txBody>
          <a:bodyPr/>
          <a:lstStyle/>
          <a:p>
            <a:fld id="{23B010C0-38D0-4A43-B92C-3BE2DDDE9030}" type="slidenum">
              <a:rPr lang="en-IN" smtClean="0"/>
              <a:t>‹#›</a:t>
            </a:fld>
            <a:endParaRPr lang="en-IN"/>
          </a:p>
        </p:txBody>
      </p:sp>
    </p:spTree>
    <p:extLst>
      <p:ext uri="{BB962C8B-B14F-4D97-AF65-F5344CB8AC3E}">
        <p14:creationId xmlns:p14="http://schemas.microsoft.com/office/powerpoint/2010/main" val="38900617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44E75-E0D5-4DC1-FB0F-825C2EB347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EB1667E-F880-424B-02A1-2FC725EF9A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39B53FD-236E-9816-E8B2-60EDCC615A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03AF0F-E756-3CBE-72DF-9D58D3903C12}"/>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057A8322-9D99-250E-9A9E-37D0B4704A6F}"/>
              </a:ext>
            </a:extLst>
          </p:cNvPr>
          <p:cNvSpPr>
            <a:spLocks noGrp="1"/>
          </p:cNvSpPr>
          <p:nvPr>
            <p:ph type="ftr" sz="quarter" idx="11"/>
          </p:nvPr>
        </p:nvSpPr>
        <p:spPr/>
        <p:txBody>
          <a:bodyPr/>
          <a:lstStyle/>
          <a:p>
            <a:r>
              <a:rPr lang="en-IN"/>
              <a:t>hi</a:t>
            </a:r>
          </a:p>
        </p:txBody>
      </p:sp>
      <p:sp>
        <p:nvSpPr>
          <p:cNvPr id="7" name="Slide Number Placeholder 6">
            <a:extLst>
              <a:ext uri="{FF2B5EF4-FFF2-40B4-BE49-F238E27FC236}">
                <a16:creationId xmlns:a16="http://schemas.microsoft.com/office/drawing/2014/main" id="{B6FAFB85-6F12-4EC8-277A-4E0C6F185214}"/>
              </a:ext>
            </a:extLst>
          </p:cNvPr>
          <p:cNvSpPr>
            <a:spLocks noGrp="1"/>
          </p:cNvSpPr>
          <p:nvPr>
            <p:ph type="sldNum" sz="quarter" idx="12"/>
          </p:nvPr>
        </p:nvSpPr>
        <p:spPr/>
        <p:txBody>
          <a:bodyPr/>
          <a:lstStyle/>
          <a:p>
            <a:fld id="{23B010C0-38D0-4A43-B92C-3BE2DDDE9030}" type="slidenum">
              <a:rPr lang="en-IN" smtClean="0"/>
              <a:t>‹#›</a:t>
            </a:fld>
            <a:endParaRPr lang="en-IN"/>
          </a:p>
        </p:txBody>
      </p:sp>
    </p:spTree>
    <p:extLst>
      <p:ext uri="{BB962C8B-B14F-4D97-AF65-F5344CB8AC3E}">
        <p14:creationId xmlns:p14="http://schemas.microsoft.com/office/powerpoint/2010/main" val="5985192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873AB-A901-E1EB-D13A-44C45D03CC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7A54EF3-866A-F1D1-1F8D-84E3EF4CDC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ACD0B93-DD76-0FD8-3611-EE967C6702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112D5B-B55C-FCB0-2858-A3688F16CFFE}"/>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0B4AA4EA-397F-5C25-3980-86D8F4A28440}"/>
              </a:ext>
            </a:extLst>
          </p:cNvPr>
          <p:cNvSpPr>
            <a:spLocks noGrp="1"/>
          </p:cNvSpPr>
          <p:nvPr>
            <p:ph type="ftr" sz="quarter" idx="11"/>
          </p:nvPr>
        </p:nvSpPr>
        <p:spPr/>
        <p:txBody>
          <a:bodyPr/>
          <a:lstStyle/>
          <a:p>
            <a:r>
              <a:rPr lang="en-IN"/>
              <a:t>hi</a:t>
            </a:r>
          </a:p>
        </p:txBody>
      </p:sp>
      <p:sp>
        <p:nvSpPr>
          <p:cNvPr id="7" name="Slide Number Placeholder 6">
            <a:extLst>
              <a:ext uri="{FF2B5EF4-FFF2-40B4-BE49-F238E27FC236}">
                <a16:creationId xmlns:a16="http://schemas.microsoft.com/office/drawing/2014/main" id="{D9369724-34B7-A4B6-1A14-38256E50A54B}"/>
              </a:ext>
            </a:extLst>
          </p:cNvPr>
          <p:cNvSpPr>
            <a:spLocks noGrp="1"/>
          </p:cNvSpPr>
          <p:nvPr>
            <p:ph type="sldNum" sz="quarter" idx="12"/>
          </p:nvPr>
        </p:nvSpPr>
        <p:spPr/>
        <p:txBody>
          <a:bodyPr/>
          <a:lstStyle/>
          <a:p>
            <a:fld id="{23B010C0-38D0-4A43-B92C-3BE2DDDE9030}" type="slidenum">
              <a:rPr lang="en-IN" smtClean="0"/>
              <a:t>‹#›</a:t>
            </a:fld>
            <a:endParaRPr lang="en-IN"/>
          </a:p>
        </p:txBody>
      </p:sp>
    </p:spTree>
    <p:extLst>
      <p:ext uri="{BB962C8B-B14F-4D97-AF65-F5344CB8AC3E}">
        <p14:creationId xmlns:p14="http://schemas.microsoft.com/office/powerpoint/2010/main" val="39411804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04BC2-3C30-27FE-CBF0-D93C2716F30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45ABA8C-6361-379C-2440-E76E520CA9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ABE8193-5C4E-8EF6-E2BA-2940463A1613}"/>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DEA27E04-A709-E339-C20D-3AEBB9F2978B}"/>
              </a:ext>
            </a:extLst>
          </p:cNvPr>
          <p:cNvSpPr>
            <a:spLocks noGrp="1"/>
          </p:cNvSpPr>
          <p:nvPr>
            <p:ph type="ftr" sz="quarter" idx="11"/>
          </p:nvPr>
        </p:nvSpPr>
        <p:spPr/>
        <p:txBody>
          <a:bodyPr/>
          <a:lstStyle/>
          <a:p>
            <a:r>
              <a:rPr lang="en-IN"/>
              <a:t>hi</a:t>
            </a:r>
          </a:p>
        </p:txBody>
      </p:sp>
      <p:sp>
        <p:nvSpPr>
          <p:cNvPr id="6" name="Slide Number Placeholder 5">
            <a:extLst>
              <a:ext uri="{FF2B5EF4-FFF2-40B4-BE49-F238E27FC236}">
                <a16:creationId xmlns:a16="http://schemas.microsoft.com/office/drawing/2014/main" id="{30F8D52C-BA21-9485-7B7F-DFC4A10429B4}"/>
              </a:ext>
            </a:extLst>
          </p:cNvPr>
          <p:cNvSpPr>
            <a:spLocks noGrp="1"/>
          </p:cNvSpPr>
          <p:nvPr>
            <p:ph type="sldNum" sz="quarter" idx="12"/>
          </p:nvPr>
        </p:nvSpPr>
        <p:spPr/>
        <p:txBody>
          <a:bodyPr/>
          <a:lstStyle/>
          <a:p>
            <a:fld id="{23B010C0-38D0-4A43-B92C-3BE2DDDE9030}" type="slidenum">
              <a:rPr lang="en-IN" smtClean="0"/>
              <a:t>‹#›</a:t>
            </a:fld>
            <a:endParaRPr lang="en-IN"/>
          </a:p>
        </p:txBody>
      </p:sp>
    </p:spTree>
    <p:extLst>
      <p:ext uri="{BB962C8B-B14F-4D97-AF65-F5344CB8AC3E}">
        <p14:creationId xmlns:p14="http://schemas.microsoft.com/office/powerpoint/2010/main" val="13996510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65AE2F4-5A4A-6DA4-3B81-A1CF5E0BBAC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7B319B9-9CCF-1E8A-58CC-DFEADBF7C90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55A247-D867-78B7-BA97-37202B2F606E}"/>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63A4CD90-0A6E-2278-4F3E-17C9315300A3}"/>
              </a:ext>
            </a:extLst>
          </p:cNvPr>
          <p:cNvSpPr>
            <a:spLocks noGrp="1"/>
          </p:cNvSpPr>
          <p:nvPr>
            <p:ph type="ftr" sz="quarter" idx="11"/>
          </p:nvPr>
        </p:nvSpPr>
        <p:spPr/>
        <p:txBody>
          <a:bodyPr/>
          <a:lstStyle/>
          <a:p>
            <a:r>
              <a:rPr lang="en-IN"/>
              <a:t>hi</a:t>
            </a:r>
          </a:p>
        </p:txBody>
      </p:sp>
      <p:sp>
        <p:nvSpPr>
          <p:cNvPr id="6" name="Slide Number Placeholder 5">
            <a:extLst>
              <a:ext uri="{FF2B5EF4-FFF2-40B4-BE49-F238E27FC236}">
                <a16:creationId xmlns:a16="http://schemas.microsoft.com/office/drawing/2014/main" id="{A3E58E4C-625E-56A9-599E-B2141BF2B7F9}"/>
              </a:ext>
            </a:extLst>
          </p:cNvPr>
          <p:cNvSpPr>
            <a:spLocks noGrp="1"/>
          </p:cNvSpPr>
          <p:nvPr>
            <p:ph type="sldNum" sz="quarter" idx="12"/>
          </p:nvPr>
        </p:nvSpPr>
        <p:spPr/>
        <p:txBody>
          <a:bodyPr/>
          <a:lstStyle/>
          <a:p>
            <a:fld id="{23B010C0-38D0-4A43-B92C-3BE2DDDE9030}" type="slidenum">
              <a:rPr lang="en-IN" smtClean="0"/>
              <a:t>‹#›</a:t>
            </a:fld>
            <a:endParaRPr lang="en-IN"/>
          </a:p>
        </p:txBody>
      </p:sp>
    </p:spTree>
    <p:extLst>
      <p:ext uri="{BB962C8B-B14F-4D97-AF65-F5344CB8AC3E}">
        <p14:creationId xmlns:p14="http://schemas.microsoft.com/office/powerpoint/2010/main" val="33789930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891962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33368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4F8386-C8A4-48C7-A98E-A6694C4E72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4B5DE52-BC1E-13C4-6CD2-6B268C3442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46D238-35AB-63F3-EF87-B3FB853C99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1D2695B-4284-4C0A-88A2-1F76923E85F2}" type="datetime1">
              <a:rPr lang="en-US" smtClean="0"/>
              <a:t>7/31/2026</a:t>
            </a:fld>
            <a:endParaRPr lang="en-IN"/>
          </a:p>
        </p:txBody>
      </p:sp>
      <p:sp>
        <p:nvSpPr>
          <p:cNvPr id="5" name="Footer Placeholder 4">
            <a:extLst>
              <a:ext uri="{FF2B5EF4-FFF2-40B4-BE49-F238E27FC236}">
                <a16:creationId xmlns:a16="http://schemas.microsoft.com/office/drawing/2014/main" id="{119CEF50-40CE-A169-D41F-BA15F0BEE2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81EFAE9D-9980-4997-FCDB-E39B6F848A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3B010C0-38D0-4A43-B92C-3BE2DDDE9030}" type="slidenum">
              <a:rPr lang="en-IN" smtClean="0"/>
              <a:t>‹#›</a:t>
            </a:fld>
            <a:endParaRPr lang="en-IN" dirty="0"/>
          </a:p>
        </p:txBody>
      </p:sp>
    </p:spTree>
    <p:extLst>
      <p:ext uri="{BB962C8B-B14F-4D97-AF65-F5344CB8AC3E}">
        <p14:creationId xmlns:p14="http://schemas.microsoft.com/office/powerpoint/2010/main" val="3207528806"/>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 id="2147483804"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4F8386-C8A4-48C7-A98E-A6694C4E72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4B5DE52-BC1E-13C4-6CD2-6B268C3442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46D238-35AB-63F3-EF87-B3FB853C99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IN"/>
          </a:p>
        </p:txBody>
      </p:sp>
      <p:sp>
        <p:nvSpPr>
          <p:cNvPr id="5" name="Footer Placeholder 4">
            <a:extLst>
              <a:ext uri="{FF2B5EF4-FFF2-40B4-BE49-F238E27FC236}">
                <a16:creationId xmlns:a16="http://schemas.microsoft.com/office/drawing/2014/main" id="{119CEF50-40CE-A169-D41F-BA15F0BEE2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IN"/>
              <a:t>hi</a:t>
            </a:r>
          </a:p>
        </p:txBody>
      </p:sp>
      <p:sp>
        <p:nvSpPr>
          <p:cNvPr id="6" name="Slide Number Placeholder 5">
            <a:extLst>
              <a:ext uri="{FF2B5EF4-FFF2-40B4-BE49-F238E27FC236}">
                <a16:creationId xmlns:a16="http://schemas.microsoft.com/office/drawing/2014/main" id="{81EFAE9D-9980-4997-FCDB-E39B6F848A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3B010C0-38D0-4A43-B92C-3BE2DDDE9030}" type="slidenum">
              <a:rPr lang="en-IN" smtClean="0"/>
              <a:t>‹#›</a:t>
            </a:fld>
            <a:endParaRPr lang="en-IN" dirty="0"/>
          </a:p>
        </p:txBody>
      </p:sp>
    </p:spTree>
    <p:extLst>
      <p:ext uri="{BB962C8B-B14F-4D97-AF65-F5344CB8AC3E}">
        <p14:creationId xmlns:p14="http://schemas.microsoft.com/office/powerpoint/2010/main" val="1011089297"/>
      </p:ext>
    </p:extLst>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 id="2147483817"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8962810"/>
      </p:ext>
    </p:extLst>
  </p:cSld>
  <p:clrMap bg1="lt1" tx1="dk1" bg2="lt2" tx2="dk2" accent1="accent1" accent2="accent2" accent3="accent3" accent4="accent4" accent5="accent5" accent6="accent6" hlink="hlink" folHlink="folHlink"/>
  <p:sldLayoutIdLst>
    <p:sldLayoutId id="214748381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4.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4.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4.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4.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4.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4.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5.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5.xml"/></Relationships>
</file>

<file path=ppt/slides/_rels/slide7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6.xml"/><Relationship Id="rId1" Type="http://schemas.openxmlformats.org/officeDocument/2006/relationships/slideLayout" Target="../slideLayouts/slideLayout25.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5.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5.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5.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5.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5.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5.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5.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5.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5.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5.xml"/></Relationships>
</file>

<file path=ppt/slides/_rels/slide8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7.xml"/><Relationship Id="rId1" Type="http://schemas.openxmlformats.org/officeDocument/2006/relationships/slideLayout" Target="../slideLayouts/slideLayout25.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5.xml"/></Relationships>
</file>

<file path=ppt/slides/_rels/slide8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9.xml"/><Relationship Id="rId1" Type="http://schemas.openxmlformats.org/officeDocument/2006/relationships/slideLayout" Target="../slideLayouts/slideLayout25.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5.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5.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5.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5.xml"/></Relationships>
</file>

<file path=ppt/slides/_rels/slide9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4.xml"/><Relationship Id="rId1" Type="http://schemas.openxmlformats.org/officeDocument/2006/relationships/slideLayout" Target="../slideLayouts/slideLayout25.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5.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5.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5.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060"/>
        </a:solidFill>
        <a:effectLst/>
      </p:bgPr>
    </p:bg>
    <p:spTree>
      <p:nvGrpSpPr>
        <p:cNvPr id="1" name=""/>
        <p:cNvGrpSpPr/>
        <p:nvPr/>
      </p:nvGrpSpPr>
      <p:grpSpPr>
        <a:xfrm>
          <a:off x="0" y="0"/>
          <a:ext cx="0" cy="0"/>
          <a:chOff x="0" y="0"/>
          <a:chExt cx="0" cy="0"/>
        </a:xfrm>
      </p:grpSpPr>
      <p:sp>
        <p:nvSpPr>
          <p:cNvPr id="25" name="Text 23"/>
          <p:cNvSpPr/>
          <p:nvPr/>
        </p:nvSpPr>
        <p:spPr>
          <a:xfrm>
            <a:off x="830761" y="1484025"/>
            <a:ext cx="10515600" cy="1005840"/>
          </a:xfrm>
          <a:prstGeom prst="rect">
            <a:avLst/>
          </a:prstGeom>
          <a:noFill/>
          <a:ln/>
        </p:spPr>
        <p:txBody>
          <a:bodyPr wrap="square" lIns="0" tIns="0" rIns="0" bIns="0" rtlCol="0" anchor="ctr"/>
          <a:lstStyle/>
          <a:p>
            <a:pPr marL="0" indent="0">
              <a:buNone/>
            </a:pPr>
            <a:r>
              <a:rPr lang="en-US" sz="4800" b="1" dirty="0">
                <a:solidFill>
                  <a:srgbClr val="FFFFFF"/>
                </a:solidFill>
                <a:latin typeface="Bookman Old Style" pitchFamily="34" charset="0"/>
                <a:ea typeface="Bookman Old Style" pitchFamily="34" charset="-122"/>
                <a:cs typeface="Bookman Old Style" pitchFamily="34" charset="-120"/>
              </a:rPr>
              <a:t>Computer Networks</a:t>
            </a:r>
            <a:endParaRPr lang="en-US" sz="4800" dirty="0"/>
          </a:p>
        </p:txBody>
      </p:sp>
      <p:sp>
        <p:nvSpPr>
          <p:cNvPr id="26" name="Text 24"/>
          <p:cNvSpPr/>
          <p:nvPr/>
        </p:nvSpPr>
        <p:spPr>
          <a:xfrm>
            <a:off x="822960" y="3611880"/>
            <a:ext cx="9601200" cy="548640"/>
          </a:xfrm>
          <a:prstGeom prst="rect">
            <a:avLst/>
          </a:prstGeom>
          <a:noFill/>
          <a:ln/>
        </p:spPr>
        <p:txBody>
          <a:bodyPr wrap="square" lIns="0" tIns="0" rIns="0" bIns="0" rtlCol="0" anchor="ctr"/>
          <a:lstStyle/>
          <a:p>
            <a:r>
              <a:rPr lang="en-US" sz="2200" dirty="0">
                <a:solidFill>
                  <a:srgbClr val="C9D8EC"/>
                </a:solidFill>
                <a:latin typeface="Calibri" pitchFamily="34" charset="0"/>
                <a:ea typeface="Calibri" pitchFamily="34" charset="-122"/>
                <a:cs typeface="Calibri" pitchFamily="34" charset="-120"/>
              </a:rPr>
              <a:t>Networking Foundations</a:t>
            </a:r>
            <a:endParaRPr lang="en-US" sz="2200" dirty="0"/>
          </a:p>
        </p:txBody>
      </p:sp>
      <p:sp>
        <p:nvSpPr>
          <p:cNvPr id="27" name="Text 25"/>
          <p:cNvSpPr/>
          <p:nvPr/>
        </p:nvSpPr>
        <p:spPr>
          <a:xfrm>
            <a:off x="1097280" y="4434840"/>
            <a:ext cx="10424160" cy="548640"/>
          </a:xfrm>
          <a:prstGeom prst="rect">
            <a:avLst/>
          </a:prstGeom>
          <a:noFill/>
          <a:ln/>
        </p:spPr>
        <p:txBody>
          <a:bodyPr wrap="square" lIns="0" tIns="0" rIns="0" bIns="0" rtlCol="0" anchor="ctr"/>
          <a:lstStyle/>
          <a:p>
            <a:pPr marL="285750" indent="-285750">
              <a:buFont typeface="Arial" panose="020B0604020202020204" pitchFamily="34" charset="0"/>
              <a:buChar char="•"/>
            </a:pPr>
            <a:r>
              <a:rPr lang="en-US" sz="1400" i="1" dirty="0">
                <a:solidFill>
                  <a:srgbClr val="8FA8C9"/>
                </a:solidFill>
                <a:latin typeface="Calibri" pitchFamily="34" charset="0"/>
                <a:ea typeface="Calibri" pitchFamily="34" charset="-122"/>
                <a:cs typeface="Calibri" pitchFamily="34" charset="-120"/>
              </a:rPr>
              <a:t>Layering &amp; Protocols  •  Topology  •  Encapsulation  •  Multiplexing  •  OSI  •  TCP/IP  •  Physical Layer  •  Internet Architecture •  API</a:t>
            </a:r>
          </a:p>
          <a:p>
            <a:endParaRPr lang="en-US" sz="1400" i="1" dirty="0">
              <a:solidFill>
                <a:srgbClr val="8FA8C9"/>
              </a:solidFill>
              <a:latin typeface="Calibri" pitchFamily="34" charset="0"/>
              <a:ea typeface="Calibri" pitchFamily="34" charset="-122"/>
              <a:cs typeface="Calibri" pitchFamily="34" charset="-120"/>
            </a:endParaRPr>
          </a:p>
          <a:p>
            <a:pPr marL="285750" indent="-285750">
              <a:buFont typeface="Arial" panose="020B0604020202020204" pitchFamily="34" charset="0"/>
              <a:buChar char="•"/>
            </a:pPr>
            <a:r>
              <a:rPr lang="en-US" sz="1400" i="1" dirty="0">
                <a:solidFill>
                  <a:srgbClr val="8FA8C9"/>
                </a:solidFill>
                <a:latin typeface="Calibri" pitchFamily="34" charset="0"/>
                <a:ea typeface="Calibri" pitchFamily="34" charset="-122"/>
                <a:cs typeface="Calibri" pitchFamily="34" charset="-120"/>
              </a:rPr>
              <a:t>Performance Metrics •  High Speed Networks</a:t>
            </a:r>
          </a:p>
          <a:p>
            <a:endParaRPr lang="en-US" sz="1300" i="1" dirty="0">
              <a:solidFill>
                <a:srgbClr val="8FA8C9"/>
              </a:solidFill>
              <a:latin typeface="Calibri" pitchFamily="34" charset="0"/>
              <a:ea typeface="Calibri" pitchFamily="34" charset="-122"/>
              <a:cs typeface="Calibri" pitchFamily="34" charset="-120"/>
            </a:endParaRPr>
          </a:p>
          <a:p>
            <a:pPr marL="0" indent="0">
              <a:buNone/>
            </a:pPr>
            <a:endParaRPr lang="en-US" sz="1300" dirty="0"/>
          </a:p>
        </p:txBody>
      </p:sp>
      <p:sp>
        <p:nvSpPr>
          <p:cNvPr id="28" name="Shape 26"/>
          <p:cNvSpPr/>
          <p:nvPr/>
        </p:nvSpPr>
        <p:spPr>
          <a:xfrm>
            <a:off x="822960" y="5074920"/>
            <a:ext cx="10424160" cy="573375"/>
          </a:xfrm>
          <a:prstGeom prst="roundRect">
            <a:avLst>
              <a:gd name="adj" fmla="val 6957"/>
            </a:avLst>
          </a:prstGeom>
          <a:solidFill>
            <a:srgbClr val="13315C"/>
          </a:solidFill>
          <a:ln/>
          <a:effectLst>
            <a:outerShdw blurRad="88900" dist="25400" dir="5400000" algn="bl" rotWithShape="0">
              <a:srgbClr val="0B2545">
                <a:alpha val="10000"/>
              </a:srgbClr>
            </a:outerShdw>
          </a:effectLst>
        </p:spPr>
        <p:txBody>
          <a:bodyPr/>
          <a:lstStyle/>
          <a:p>
            <a:endParaRPr/>
          </a:p>
        </p:txBody>
      </p:sp>
      <p:sp>
        <p:nvSpPr>
          <p:cNvPr id="29" name="Text 27"/>
          <p:cNvSpPr/>
          <p:nvPr/>
        </p:nvSpPr>
        <p:spPr>
          <a:xfrm>
            <a:off x="1158240" y="5199655"/>
            <a:ext cx="9875520" cy="734217"/>
          </a:xfrm>
          <a:prstGeom prst="rect">
            <a:avLst/>
          </a:prstGeom>
          <a:noFill/>
          <a:ln/>
        </p:spPr>
        <p:txBody>
          <a:bodyPr wrap="square" lIns="0" tIns="0" rIns="0" bIns="0" rtlCol="0" anchor="ctr"/>
          <a:lstStyle/>
          <a:p>
            <a:r>
              <a:rPr lang="en-US" sz="1600" dirty="0">
                <a:solidFill>
                  <a:srgbClr val="C9D8EC"/>
                </a:solidFill>
                <a:latin typeface="Calibri" pitchFamily="34" charset="0"/>
                <a:ea typeface="Calibri" pitchFamily="34" charset="-122"/>
                <a:cs typeface="Calibri" pitchFamily="34" charset="-120"/>
              </a:rPr>
              <a:t>Reference:  Larry L. Peterson, Bruce S. Davie, "Computer Networks : A Systems Approach", The Morgan Kaufmann Series in Networking, 6th Edition, 2021 </a:t>
            </a:r>
          </a:p>
          <a:p>
            <a:r>
              <a:rPr lang="en-IN" sz="1300" dirty="0">
                <a:solidFill>
                  <a:srgbClr val="C9D8EC"/>
                </a:solidFill>
                <a:latin typeface="Calibri" pitchFamily="34" charset="0"/>
                <a:ea typeface="Calibri" pitchFamily="34" charset="-122"/>
                <a:cs typeface="Calibri" pitchFamily="34" charset="-120"/>
              </a:rPr>
              <a:t>	</a:t>
            </a:r>
          </a:p>
          <a:p>
            <a:endParaRPr lang="en-US" sz="1300" dirty="0">
              <a:solidFill>
                <a:srgbClr val="C9D8EC"/>
              </a:solidFill>
              <a:latin typeface="Calibri" pitchFamily="34" charset="0"/>
              <a:ea typeface="Calibri" pitchFamily="34" charset="-122"/>
              <a:cs typeface="Calibri" pitchFamily="34" charset="-120"/>
            </a:endParaRPr>
          </a:p>
        </p:txBody>
      </p:sp>
      <p:sp>
        <p:nvSpPr>
          <p:cNvPr id="30" name="Text 28"/>
          <p:cNvSpPr/>
          <p:nvPr/>
        </p:nvSpPr>
        <p:spPr>
          <a:xfrm>
            <a:off x="457200" y="6473952"/>
            <a:ext cx="5486400" cy="274320"/>
          </a:xfrm>
          <a:prstGeom prst="rect">
            <a:avLst/>
          </a:prstGeom>
          <a:noFill/>
          <a:ln/>
        </p:spPr>
        <p:txBody>
          <a:bodyPr wrap="square" lIns="0" tIns="0" rIns="0" bIns="0" rtlCol="0" anchor="ctr"/>
          <a:lstStyle/>
          <a:p>
            <a:pPr marL="0" indent="0">
              <a:buNone/>
            </a:pPr>
            <a:endParaRPr lang="en-US" sz="1000" dirty="0"/>
          </a:p>
        </p:txBody>
      </p:sp>
      <p:sp>
        <p:nvSpPr>
          <p:cNvPr id="32" name="Text 23">
            <a:extLst>
              <a:ext uri="{FF2B5EF4-FFF2-40B4-BE49-F238E27FC236}">
                <a16:creationId xmlns:a16="http://schemas.microsoft.com/office/drawing/2014/main" id="{DF3DD1C0-90D4-1EB3-D202-2CBBA0BB382A}"/>
              </a:ext>
            </a:extLst>
          </p:cNvPr>
          <p:cNvSpPr/>
          <p:nvPr/>
        </p:nvSpPr>
        <p:spPr>
          <a:xfrm>
            <a:off x="822960" y="2513252"/>
            <a:ext cx="10515600" cy="1005840"/>
          </a:xfrm>
          <a:prstGeom prst="rect">
            <a:avLst/>
          </a:prstGeom>
          <a:noFill/>
          <a:ln/>
        </p:spPr>
        <p:txBody>
          <a:bodyPr wrap="square" lIns="0" tIns="0" rIns="0" bIns="0" rtlCol="0" anchor="ctr"/>
          <a:lstStyle/>
          <a:p>
            <a:pPr marL="0" indent="0">
              <a:buNone/>
            </a:pPr>
            <a:r>
              <a:rPr lang="en-US" sz="3200" b="1" dirty="0">
                <a:solidFill>
                  <a:srgbClr val="FFFFFF"/>
                </a:solidFill>
                <a:latin typeface="Bookman Old Style" pitchFamily="34" charset="0"/>
              </a:rPr>
              <a:t>Module 1</a:t>
            </a:r>
            <a:endParaRPr lang="en-US" sz="3200" dirty="0"/>
          </a:p>
        </p:txBody>
      </p:sp>
      <p:sp>
        <p:nvSpPr>
          <p:cNvPr id="33" name="TextBox 32"/>
          <p:cNvSpPr txBox="1"/>
          <p:nvPr/>
        </p:nvSpPr>
        <p:spPr>
          <a:xfrm>
            <a:off x="11792000" y="6638000"/>
            <a:ext cx="200000" cy="100000"/>
          </a:xfrm>
          <a:prstGeom prst="rect">
            <a:avLst/>
          </a:prstGeom>
          <a:noFill/>
        </p:spPr>
        <p:txBody>
          <a:bodyPr wrap="none">
            <a:spAutoFit/>
          </a:bodyPr>
          <a:lstStyle/>
          <a:p>
            <a:pPr>
              <a:defRPr sz="1000"/>
            </a:pPr>
            <a: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nvSpPr>
        <p:spPr>
          <a:xfrm>
            <a:off x="548640" y="342900"/>
            <a:ext cx="10424160" cy="822960"/>
          </a:xfrm>
          <a:prstGeom prst="rect">
            <a:avLst/>
          </a:prstGeom>
          <a:noFill/>
          <a:ln/>
        </p:spPr>
        <p:txBody>
          <a:bodyPr wrap="square" lIns="0" tIns="0" rIns="0" bIns="0" rtlCol="0" anchor="t"/>
          <a:lstStyle/>
          <a:p>
            <a:pPr marL="0" indent="0">
              <a:buNone/>
            </a:pPr>
            <a:r>
              <a:rPr lang="en-US" sz="3000" b="1" dirty="0">
                <a:solidFill>
                  <a:srgbClr val="13315C"/>
                </a:solidFill>
                <a:latin typeface="Bookman Old Style" pitchFamily="34" charset="0"/>
                <a:ea typeface="Bookman Old Style" pitchFamily="34" charset="-122"/>
                <a:cs typeface="Bookman Old Style" pitchFamily="34" charset="-120"/>
              </a:rPr>
              <a:t>Module 1 - Topics</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455853535"/>
              </p:ext>
            </p:extLst>
          </p:nvPr>
        </p:nvGraphicFramePr>
        <p:xfrm>
          <a:off x="2316480" y="1051560"/>
          <a:ext cx="7498729" cy="5130800"/>
        </p:xfrm>
        <a:graphic>
          <a:graphicData uri="http://schemas.openxmlformats.org/drawingml/2006/table">
            <a:tbl>
              <a:tblPr/>
              <a:tblGrid>
                <a:gridCol w="1036299">
                  <a:extLst>
                    <a:ext uri="{9D8B030D-6E8A-4147-A177-3AD203B41FA5}">
                      <a16:colId xmlns:a16="http://schemas.microsoft.com/office/drawing/2014/main" val="20000"/>
                    </a:ext>
                  </a:extLst>
                </a:gridCol>
                <a:gridCol w="6462430">
                  <a:extLst>
                    <a:ext uri="{9D8B030D-6E8A-4147-A177-3AD203B41FA5}">
                      <a16:colId xmlns:a16="http://schemas.microsoft.com/office/drawing/2014/main" val="20001"/>
                    </a:ext>
                  </a:extLst>
                </a:gridCol>
              </a:tblGrid>
              <a:tr h="457200">
                <a:tc>
                  <a:txBody>
                    <a:bodyPr/>
                    <a:lstStyle/>
                    <a:p>
                      <a:pPr marL="0" indent="0" algn="l">
                        <a:buNone/>
                      </a:pPr>
                      <a:r>
                        <a:rPr lang="en-US" sz="1300" b="1" dirty="0" err="1">
                          <a:solidFill>
                            <a:srgbClr val="FFFFFF"/>
                          </a:solidFill>
                          <a:latin typeface="Calibri" pitchFamily="34" charset="0"/>
                          <a:ea typeface="Calibri" pitchFamily="34" charset="-122"/>
                          <a:cs typeface="Calibri" pitchFamily="34" charset="-120"/>
                        </a:rPr>
                        <a:t>S.No</a:t>
                      </a:r>
                      <a:endParaRPr lang="en-US" sz="13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0B2545"/>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Topic</a:t>
                      </a:r>
                      <a:endParaRPr lang="en-US" sz="13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457200">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7FAFD"/>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Introduction , Layering &amp; Protocols</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7FAFD"/>
                    </a:solidFill>
                  </a:tcPr>
                </a:tc>
                <a:extLst>
                  <a:ext uri="{0D108BD9-81ED-4DB2-BD59-A6C34878D82A}">
                    <a16:rowId xmlns:a16="http://schemas.microsoft.com/office/drawing/2014/main" val="10001"/>
                  </a:ext>
                </a:extLst>
              </a:tr>
              <a:tr h="457200">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2</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FFFFF"/>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Network Topology</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3</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7FAFD"/>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rgbClr val="13315C"/>
                          </a:solidFill>
                          <a:latin typeface="Calibri" pitchFamily="34" charset="0"/>
                          <a:ea typeface="Calibri" pitchFamily="34" charset="-122"/>
                          <a:cs typeface="Calibri" pitchFamily="34" charset="-120"/>
                        </a:rPr>
                        <a:t>Encapsulation</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7FAFD"/>
                    </a:solidFill>
                  </a:tcPr>
                </a:tc>
                <a:extLst>
                  <a:ext uri="{0D108BD9-81ED-4DB2-BD59-A6C34878D82A}">
                    <a16:rowId xmlns:a16="http://schemas.microsoft.com/office/drawing/2014/main" val="10003"/>
                  </a:ext>
                </a:extLst>
              </a:tr>
              <a:tr h="457200">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4</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FFFFF"/>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Multiplexing &amp; Demultiplexing</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5</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7FAFD"/>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OSI Reference Model</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7FAFD"/>
                    </a:solidFill>
                  </a:tcPr>
                </a:tc>
                <a:extLst>
                  <a:ext uri="{0D108BD9-81ED-4DB2-BD59-A6C34878D82A}">
                    <a16:rowId xmlns:a16="http://schemas.microsoft.com/office/drawing/2014/main" val="10005"/>
                  </a:ext>
                </a:extLst>
              </a:tr>
              <a:tr h="457200">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6</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no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TCP/IP Model</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noFill/>
                  </a:tcPr>
                </a:tc>
                <a:extLst>
                  <a:ext uri="{0D108BD9-81ED-4DB2-BD59-A6C34878D82A}">
                    <a16:rowId xmlns:a16="http://schemas.microsoft.com/office/drawing/2014/main" val="1274413970"/>
                  </a:ext>
                </a:extLst>
              </a:tr>
              <a:tr h="457200">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7</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FFFFF"/>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Basics of the Physical Layer</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57200">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8</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7FAFD"/>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Internet Architecture</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7FAFD"/>
                    </a:solidFill>
                  </a:tcPr>
                </a:tc>
                <a:extLst>
                  <a:ext uri="{0D108BD9-81ED-4DB2-BD59-A6C34878D82A}">
                    <a16:rowId xmlns:a16="http://schemas.microsoft.com/office/drawing/2014/main" val="10007"/>
                  </a:ext>
                </a:extLst>
              </a:tr>
              <a:tr h="457200">
                <a:tc>
                  <a:txBody>
                    <a:bodyPr/>
                    <a:lstStyle/>
                    <a:p>
                      <a:pPr marL="0" indent="0" algn="l">
                        <a:buNone/>
                      </a:pPr>
                      <a:r>
                        <a:rPr lang="en-US" sz="2400" dirty="0">
                          <a:latin typeface="Calibri" charset="0"/>
                          <a:ea typeface="Calibri" charset="0"/>
                          <a:cs typeface="Calibri" charset="0"/>
                        </a:rPr>
                        <a:t>9</a:t>
                      </a: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FFFFF"/>
                    </a:solidFill>
                  </a:tcPr>
                </a:tc>
                <a:tc>
                  <a:txBody>
                    <a:bodyPr/>
                    <a:lstStyle/>
                    <a:p>
                      <a:r>
                        <a:rPr lang="en-US" sz="2400" kern="1200" dirty="0">
                          <a:solidFill>
                            <a:srgbClr val="13315C"/>
                          </a:solidFill>
                          <a:latin typeface="Calibri" pitchFamily="34" charset="0"/>
                          <a:ea typeface="Calibri" pitchFamily="34" charset="-122"/>
                          <a:cs typeface="Calibri" pitchFamily="34" charset="-120"/>
                        </a:rPr>
                        <a:t>Application Programming Interface (Sockets) </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57200">
                <a:tc>
                  <a:txBody>
                    <a:bodyPr/>
                    <a:lstStyle/>
                    <a:p>
                      <a:pPr marL="0" indent="0" algn="l">
                        <a:buNone/>
                      </a:pPr>
                      <a:r>
                        <a:rPr lang="en-US" sz="2400" dirty="0">
                          <a:latin typeface="Calibri" charset="0"/>
                          <a:ea typeface="Calibri" charset="0"/>
                          <a:cs typeface="Calibri" charset="0"/>
                        </a:rPr>
                        <a:t>10</a:t>
                      </a: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7FAFD"/>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kern="1200" dirty="0">
                          <a:solidFill>
                            <a:srgbClr val="13315C"/>
                          </a:solidFill>
                          <a:latin typeface="Calibri" pitchFamily="34" charset="0"/>
                          <a:ea typeface="Calibri" pitchFamily="34" charset="-122"/>
                          <a:cs typeface="Calibri" pitchFamily="34" charset="-120"/>
                        </a:rPr>
                        <a:t>Performance Metrics &amp; High-Speed Networks. </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7FAFD"/>
                    </a:solidFill>
                  </a:tcPr>
                </a:tc>
                <a:extLst>
                  <a:ext uri="{0D108BD9-81ED-4DB2-BD59-A6C34878D82A}">
                    <a16:rowId xmlns:a16="http://schemas.microsoft.com/office/drawing/2014/main" val="10009"/>
                  </a:ext>
                </a:extLst>
              </a:tr>
            </a:tbl>
          </a:graphicData>
        </a:graphic>
      </p:graphicFrame>
      <p:sp>
        <p:nvSpPr>
          <p:cNvPr id="11" name="Text 6"/>
          <p:cNvSpPr/>
          <p:nvPr/>
        </p:nvSpPr>
        <p:spPr>
          <a:xfrm>
            <a:off x="8686800" y="2926080"/>
            <a:ext cx="2926080" cy="640080"/>
          </a:xfrm>
          <a:prstGeom prst="rect">
            <a:avLst/>
          </a:prstGeom>
          <a:noFill/>
          <a:ln/>
        </p:spPr>
        <p:txBody>
          <a:bodyPr wrap="square" lIns="0" tIns="0" rIns="0" bIns="0" rtlCol="0" anchor="ctr"/>
          <a:lstStyle/>
          <a:p>
            <a:pPr marL="0" indent="0" algn="ctr">
              <a:buNone/>
            </a:pPr>
            <a:r>
              <a:rPr lang="en-US" sz="3200" b="1" dirty="0">
                <a:solidFill>
                  <a:srgbClr val="FFFFFF"/>
                </a:solidFill>
                <a:latin typeface="Bookman Old Style" pitchFamily="34" charset="0"/>
                <a:ea typeface="Bookman Old Style" pitchFamily="34" charset="-122"/>
                <a:cs typeface="Bookman Old Style" pitchFamily="34" charset="-120"/>
              </a:rPr>
              <a:t>4h 00m</a:t>
            </a:r>
            <a:endParaRPr lang="en-US" sz="3200" dirty="0"/>
          </a:p>
        </p:txBody>
      </p:sp>
      <p:sp>
        <p:nvSpPr>
          <p:cNvPr id="12" name="TextBox 11"/>
          <p:cNvSpPr txBox="1"/>
          <p:nvPr/>
        </p:nvSpPr>
        <p:spPr>
          <a:xfrm>
            <a:off x="11792000" y="6638000"/>
            <a:ext cx="200000" cy="100000"/>
          </a:xfrm>
          <a:prstGeom prst="rect">
            <a:avLst/>
          </a:prstGeom>
          <a:noFill/>
        </p:spPr>
        <p:txBody>
          <a:bodyPr wrap="none">
            <a:spAutoFit/>
          </a:bodyPr>
          <a:lstStyle/>
          <a:p>
            <a:pPr>
              <a:defRPr sz="1000"/>
            </a:pPr>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nvSpPr>
        <p:spPr>
          <a:xfrm>
            <a:off x="548640" y="566928"/>
            <a:ext cx="10424160" cy="822960"/>
          </a:xfrm>
          <a:prstGeom prst="rect">
            <a:avLst/>
          </a:prstGeom>
          <a:noFill/>
          <a:ln/>
        </p:spPr>
        <p:txBody>
          <a:bodyPr wrap="square" lIns="0" tIns="0" rIns="0" bIns="0" rtlCol="0" anchor="t"/>
          <a:lstStyle/>
          <a:p>
            <a:pPr marL="0" indent="0">
              <a:buNone/>
            </a:pPr>
            <a:r>
              <a:rPr lang="en-US" sz="3000" b="1" dirty="0">
                <a:solidFill>
                  <a:srgbClr val="13315C"/>
                </a:solidFill>
                <a:latin typeface="Bookman Old Style" pitchFamily="34" charset="0"/>
                <a:ea typeface="Bookman Old Style" pitchFamily="34" charset="-122"/>
                <a:cs typeface="Bookman Old Style" pitchFamily="34" charset="-120"/>
              </a:rPr>
              <a:t>Learning Objectives</a:t>
            </a:r>
            <a:endParaRPr lang="en-US" sz="3000" dirty="0"/>
          </a:p>
        </p:txBody>
      </p:sp>
      <p:sp>
        <p:nvSpPr>
          <p:cNvPr id="6" name="Text 3"/>
          <p:cNvSpPr/>
          <p:nvPr/>
        </p:nvSpPr>
        <p:spPr>
          <a:xfrm>
            <a:off x="548640" y="1600200"/>
            <a:ext cx="11064240" cy="4572000"/>
          </a:xfrm>
          <a:prstGeom prst="rect">
            <a:avLst/>
          </a:prstGeom>
          <a:noFill/>
          <a:ln/>
        </p:spPr>
        <p:txBody>
          <a:bodyPr wrap="square" lIns="0" tIns="0" rIns="0" bIns="0" rtlCol="0" anchor="t"/>
          <a:lstStyle/>
          <a:p>
            <a:pPr marL="342900" indent="-342900">
              <a:lnSpc>
                <a:spcPct val="108000"/>
              </a:lnSpc>
              <a:spcAft>
                <a:spcPts val="1200"/>
              </a:spcAft>
              <a:buSzPct val="100000"/>
              <a:buChar char="●"/>
            </a:pPr>
            <a:r>
              <a:rPr lang="en-US" sz="1450" dirty="0">
                <a:solidFill>
                  <a:srgbClr val="13315C"/>
                </a:solidFill>
                <a:latin typeface="Calibri" pitchFamily="34" charset="0"/>
                <a:ea typeface="Calibri" pitchFamily="34" charset="-122"/>
                <a:cs typeface="Calibri" pitchFamily="34" charset="-120"/>
              </a:rPr>
              <a:t>Explain why abstraction and layering are essential to managing the complexity of network design.</a:t>
            </a:r>
            <a:endParaRPr lang="en-US" sz="1450" dirty="0"/>
          </a:p>
          <a:p>
            <a:pPr marL="342900" indent="-342900">
              <a:lnSpc>
                <a:spcPct val="108000"/>
              </a:lnSpc>
              <a:spcAft>
                <a:spcPts val="1200"/>
              </a:spcAft>
              <a:buSzPct val="100000"/>
              <a:buChar char="●"/>
            </a:pPr>
            <a:r>
              <a:rPr lang="en-US" sz="1450" dirty="0">
                <a:solidFill>
                  <a:srgbClr val="13315C"/>
                </a:solidFill>
                <a:latin typeface="Calibri" pitchFamily="34" charset="0"/>
                <a:ea typeface="Calibri" pitchFamily="34" charset="-122"/>
                <a:cs typeface="Calibri" pitchFamily="34" charset="-120"/>
              </a:rPr>
              <a:t>Distinguish between a protocol's service interface and its peer interface, and trace a message through a protocol graph.</a:t>
            </a:r>
            <a:endParaRPr lang="en-US" sz="1450" dirty="0"/>
          </a:p>
          <a:p>
            <a:pPr marL="342900" indent="-342900">
              <a:lnSpc>
                <a:spcPct val="108000"/>
              </a:lnSpc>
              <a:spcAft>
                <a:spcPts val="1200"/>
              </a:spcAft>
              <a:buSzPct val="100000"/>
              <a:buChar char="●"/>
            </a:pPr>
            <a:r>
              <a:rPr lang="en-US" sz="1450" dirty="0">
                <a:solidFill>
                  <a:srgbClr val="13315C"/>
                </a:solidFill>
                <a:latin typeface="Calibri" pitchFamily="34" charset="0"/>
                <a:ea typeface="Calibri" pitchFamily="34" charset="-122"/>
                <a:cs typeface="Calibri" pitchFamily="34" charset="-120"/>
              </a:rPr>
              <a:t>Classify network topologies and evaluate their cost, reliability, and scalability trade-offs.</a:t>
            </a:r>
            <a:endParaRPr lang="en-US" sz="1450" dirty="0"/>
          </a:p>
          <a:p>
            <a:pPr marL="342900" indent="-342900">
              <a:lnSpc>
                <a:spcPct val="108000"/>
              </a:lnSpc>
              <a:spcAft>
                <a:spcPts val="1200"/>
              </a:spcAft>
              <a:buSzPct val="100000"/>
              <a:buChar char="●"/>
            </a:pPr>
            <a:r>
              <a:rPr lang="en-US" sz="1450" dirty="0">
                <a:solidFill>
                  <a:srgbClr val="13315C"/>
                </a:solidFill>
                <a:latin typeface="Calibri" pitchFamily="34" charset="0"/>
                <a:ea typeface="Calibri" pitchFamily="34" charset="-122"/>
                <a:cs typeface="Calibri" pitchFamily="34" charset="-120"/>
              </a:rPr>
              <a:t>Describe encapsulation and de-encapsulation, and identify headers, trailers, and payloads at each layer.</a:t>
            </a:r>
            <a:endParaRPr lang="en-US" sz="1450" dirty="0"/>
          </a:p>
          <a:p>
            <a:pPr marL="342900" indent="-342900">
              <a:lnSpc>
                <a:spcPct val="108000"/>
              </a:lnSpc>
              <a:spcAft>
                <a:spcPts val="1200"/>
              </a:spcAft>
              <a:buSzPct val="100000"/>
              <a:buChar char="●"/>
            </a:pPr>
            <a:r>
              <a:rPr lang="en-US" sz="1450" dirty="0">
                <a:solidFill>
                  <a:srgbClr val="13315C"/>
                </a:solidFill>
                <a:latin typeface="Calibri" pitchFamily="34" charset="0"/>
                <a:ea typeface="Calibri" pitchFamily="34" charset="-122"/>
                <a:cs typeface="Calibri" pitchFamily="34" charset="-120"/>
              </a:rPr>
              <a:t>Explain multiplexing/demultiplexing and the role of a demux key in delivering data to the correct process.</a:t>
            </a:r>
            <a:endParaRPr lang="en-US" sz="1450" dirty="0"/>
          </a:p>
          <a:p>
            <a:pPr marL="342900" indent="-342900">
              <a:lnSpc>
                <a:spcPct val="108000"/>
              </a:lnSpc>
              <a:spcAft>
                <a:spcPts val="1200"/>
              </a:spcAft>
              <a:buSzPct val="100000"/>
              <a:buChar char="●"/>
            </a:pPr>
            <a:r>
              <a:rPr lang="en-US" sz="1450" dirty="0">
                <a:solidFill>
                  <a:srgbClr val="13315C"/>
                </a:solidFill>
                <a:latin typeface="Calibri" pitchFamily="34" charset="0"/>
                <a:ea typeface="Calibri" pitchFamily="34" charset="-122"/>
                <a:cs typeface="Calibri" pitchFamily="34" charset="-120"/>
              </a:rPr>
              <a:t>Compare the OSI 7-layer reference model with the 4-layer TCP/IP (Internet) architecture.</a:t>
            </a:r>
            <a:endParaRPr lang="en-US" sz="1450" dirty="0"/>
          </a:p>
          <a:p>
            <a:pPr marL="342900" indent="-342900">
              <a:lnSpc>
                <a:spcPct val="108000"/>
              </a:lnSpc>
              <a:spcAft>
                <a:spcPts val="1200"/>
              </a:spcAft>
              <a:buSzPct val="100000"/>
              <a:buChar char="●"/>
            </a:pPr>
            <a:r>
              <a:rPr lang="en-US" sz="1450" dirty="0">
                <a:solidFill>
                  <a:srgbClr val="13315C"/>
                </a:solidFill>
                <a:latin typeface="Calibri" pitchFamily="34" charset="0"/>
                <a:ea typeface="Calibri" pitchFamily="34" charset="-122"/>
                <a:cs typeface="Calibri" pitchFamily="34" charset="-120"/>
              </a:rPr>
              <a:t>Identify core physical layer concepts: transmission media, signals, bandwidth, and bit rate.</a:t>
            </a:r>
            <a:endParaRPr lang="en-US" sz="1450" dirty="0"/>
          </a:p>
          <a:p>
            <a:pPr marL="342900" indent="-342900">
              <a:lnSpc>
                <a:spcPct val="108000"/>
              </a:lnSpc>
              <a:spcAft>
                <a:spcPts val="1200"/>
              </a:spcAft>
              <a:buSzPct val="100000"/>
              <a:buChar char="●"/>
            </a:pPr>
            <a:r>
              <a:rPr lang="en-US" sz="1450" dirty="0">
                <a:solidFill>
                  <a:srgbClr val="13315C"/>
                </a:solidFill>
                <a:latin typeface="Calibri" pitchFamily="34" charset="0"/>
                <a:ea typeface="Calibri" pitchFamily="34" charset="-122"/>
                <a:cs typeface="Calibri" pitchFamily="34" charset="-120"/>
              </a:rPr>
              <a:t>Describe the Internet's hourglass architecture and explain why IP occupies the narrow waist.</a:t>
            </a:r>
            <a:endParaRPr lang="en-US" sz="1450" dirty="0"/>
          </a:p>
        </p:txBody>
      </p:sp>
      <p:sp>
        <p:nvSpPr>
          <p:cNvPr id="7" name="Text 4"/>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COURSE ORIENTATION</a:t>
            </a:r>
            <a:endParaRPr lang="en-US" sz="1000" dirty="0"/>
          </a:p>
        </p:txBody>
      </p:sp>
      <p:sp>
        <p:nvSpPr>
          <p:cNvPr id="8" name="TextBox 7"/>
          <p:cNvSpPr txBox="1"/>
          <p:nvPr/>
        </p:nvSpPr>
        <p:spPr>
          <a:xfrm>
            <a:off x="11792000" y="6638000"/>
            <a:ext cx="200000" cy="100000"/>
          </a:xfrm>
          <a:prstGeom prst="rect">
            <a:avLst/>
          </a:prstGeom>
          <a:noFill/>
        </p:spPr>
        <p:txBody>
          <a:bodyPr wrap="none">
            <a:spAutoFit/>
          </a:bodyPr>
          <a:lstStyle/>
          <a:p>
            <a:pPr>
              <a:defRPr sz="1000"/>
            </a:pPr>
            <a: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r>
              <a:rPr lang="en-US" sz="1200" b="1" kern="0" spc="200" dirty="0">
                <a:solidFill>
                  <a:srgbClr val="0091AD"/>
                </a:solidFill>
                <a:latin typeface="Calibri" pitchFamily="34" charset="0"/>
                <a:ea typeface="Calibri" pitchFamily="34" charset="-122"/>
                <a:cs typeface="Calibri" pitchFamily="34" charset="-120"/>
              </a:rPr>
              <a:t>TOPIC 1 · LAYERING &amp; PROTOCOLS</a:t>
            </a:r>
            <a:endParaRPr lang="en-US" sz="1200" dirty="0"/>
          </a:p>
        </p:txBody>
      </p:sp>
      <p:sp>
        <p:nvSpPr>
          <p:cNvPr id="3" name="Text 1"/>
          <p:cNvSpPr/>
          <p:nvPr/>
        </p:nvSpPr>
        <p:spPr>
          <a:xfrm>
            <a:off x="548640" y="566928"/>
            <a:ext cx="10424160" cy="822960"/>
          </a:xfrm>
          <a:prstGeom prst="rect">
            <a:avLst/>
          </a:prstGeom>
          <a:noFill/>
          <a:ln/>
        </p:spPr>
        <p:txBody>
          <a:bodyPr wrap="square" lIns="0" tIns="0" rIns="0" bIns="0" rtlCol="0" anchor="t"/>
          <a:lstStyle/>
          <a:p>
            <a:pPr marL="0" indent="0">
              <a:buNone/>
            </a:pPr>
            <a:r>
              <a:rPr lang="en-US" sz="3000" b="1" dirty="0">
                <a:solidFill>
                  <a:srgbClr val="13315C"/>
                </a:solidFill>
                <a:latin typeface="Bookman Old Style" pitchFamily="34" charset="0"/>
                <a:ea typeface="Bookman Old Style" pitchFamily="34" charset="-122"/>
                <a:cs typeface="Bookman Old Style" pitchFamily="34" charset="-120"/>
              </a:rPr>
              <a:t>Why We Need a Network Architecture</a:t>
            </a:r>
            <a:endParaRPr lang="en-US" sz="3000" dirty="0"/>
          </a:p>
        </p:txBody>
      </p:sp>
      <p:sp>
        <p:nvSpPr>
          <p:cNvPr id="6" name="Text 3"/>
          <p:cNvSpPr/>
          <p:nvPr/>
        </p:nvSpPr>
        <p:spPr>
          <a:xfrm>
            <a:off x="548640" y="1600200"/>
            <a:ext cx="6035040" cy="4480560"/>
          </a:xfrm>
          <a:prstGeom prst="rect">
            <a:avLst/>
          </a:prstGeom>
          <a:noFill/>
          <a:ln/>
        </p:spPr>
        <p:txBody>
          <a:bodyPr wrap="square" lIns="0" tIns="0" rIns="0" bIns="0" rtlCol="0" anchor="t"/>
          <a:lstStyle/>
          <a:p>
            <a:pPr marL="342900" indent="-342900">
              <a:lnSpc>
                <a:spcPct val="108000"/>
              </a:lnSpc>
              <a:spcAft>
                <a:spcPts val="1200"/>
              </a:spcAft>
              <a:buSzPct val="100000"/>
              <a:buChar char="●"/>
            </a:pPr>
            <a:r>
              <a:rPr lang="en-US" dirty="0">
                <a:solidFill>
                  <a:srgbClr val="13315C"/>
                </a:solidFill>
                <a:latin typeface="Calibri" pitchFamily="34" charset="0"/>
                <a:ea typeface="Calibri" pitchFamily="34" charset="-122"/>
                <a:cs typeface="Calibri" pitchFamily="34" charset="-120"/>
              </a:rPr>
              <a:t>A network must provide connectivity that is general, cost-effective, fair, and robust among a large number of computers.</a:t>
            </a:r>
            <a:endParaRPr lang="en-US" dirty="0"/>
          </a:p>
          <a:p>
            <a:pPr marL="342900" indent="-342900">
              <a:lnSpc>
                <a:spcPct val="108000"/>
              </a:lnSpc>
              <a:spcAft>
                <a:spcPts val="1200"/>
              </a:spcAft>
              <a:buSzPct val="100000"/>
              <a:buChar char="●"/>
            </a:pPr>
            <a:r>
              <a:rPr lang="en-US" dirty="0">
                <a:solidFill>
                  <a:srgbClr val="13315C"/>
                </a:solidFill>
                <a:latin typeface="Calibri" pitchFamily="34" charset="0"/>
                <a:ea typeface="Calibri" pitchFamily="34" charset="-122"/>
                <a:cs typeface="Calibri" pitchFamily="34" charset="-120"/>
              </a:rPr>
              <a:t>Networks do not stay fixed — they must evolve as underlying technologies change and as new applications place new demands on them.</a:t>
            </a:r>
            <a:endParaRPr lang="en-US" dirty="0"/>
          </a:p>
          <a:p>
            <a:pPr marL="342900" indent="-342900">
              <a:lnSpc>
                <a:spcPct val="108000"/>
              </a:lnSpc>
              <a:spcAft>
                <a:spcPts val="1200"/>
              </a:spcAft>
              <a:buSzPct val="100000"/>
              <a:buChar char="●"/>
            </a:pPr>
            <a:r>
              <a:rPr lang="en-US" dirty="0">
                <a:solidFill>
                  <a:srgbClr val="13315C"/>
                </a:solidFill>
                <a:latin typeface="Calibri" pitchFamily="34" charset="0"/>
                <a:ea typeface="Calibri" pitchFamily="34" charset="-122"/>
                <a:cs typeface="Calibri" pitchFamily="34" charset="-120"/>
              </a:rPr>
              <a:t>Networks must be manageable by humans with varying levels of skill.</a:t>
            </a:r>
            <a:endParaRPr lang="en-US" dirty="0"/>
          </a:p>
          <a:p>
            <a:pPr marL="342900" indent="-342900">
              <a:lnSpc>
                <a:spcPct val="108000"/>
              </a:lnSpc>
              <a:spcAft>
                <a:spcPts val="1200"/>
              </a:spcAft>
              <a:buSzPct val="100000"/>
              <a:buChar char="●"/>
            </a:pPr>
            <a:r>
              <a:rPr lang="en-US" dirty="0">
                <a:solidFill>
                  <a:srgbClr val="13315C"/>
                </a:solidFill>
                <a:latin typeface="Calibri" pitchFamily="34" charset="0"/>
                <a:ea typeface="Calibri" pitchFamily="34" charset="-122"/>
                <a:cs typeface="Calibri" pitchFamily="34" charset="-120"/>
              </a:rPr>
              <a:t>Designing a network that satisfies all these requirements at once is not a small task.</a:t>
            </a:r>
            <a:endParaRPr lang="en-US" dirty="0"/>
          </a:p>
          <a:p>
            <a:pPr marL="342900" indent="-342900">
              <a:lnSpc>
                <a:spcPct val="108000"/>
              </a:lnSpc>
              <a:spcAft>
                <a:spcPts val="1200"/>
              </a:spcAft>
              <a:buSzPct val="100000"/>
              <a:buChar char="●"/>
            </a:pPr>
            <a:r>
              <a:rPr lang="en-US" b="1" dirty="0">
                <a:solidFill>
                  <a:srgbClr val="13315C"/>
                </a:solidFill>
                <a:latin typeface="Calibri" pitchFamily="34" charset="0"/>
                <a:ea typeface="Calibri" pitchFamily="34" charset="-122"/>
                <a:cs typeface="Calibri" pitchFamily="34" charset="-120"/>
              </a:rPr>
              <a:t>Network designers respond with general blueprints called network architectures that guide design and implementation.</a:t>
            </a:r>
            <a:endParaRPr lang="en-US" dirty="0"/>
          </a:p>
        </p:txBody>
      </p:sp>
      <p:sp>
        <p:nvSpPr>
          <p:cNvPr id="7" name="Shape 4"/>
          <p:cNvSpPr/>
          <p:nvPr/>
        </p:nvSpPr>
        <p:spPr>
          <a:xfrm>
            <a:off x="7178040" y="1691640"/>
            <a:ext cx="4434840" cy="2654678"/>
          </a:xfrm>
          <a:prstGeom prst="roundRect">
            <a:avLst>
              <a:gd name="adj" fmla="val 1702"/>
            </a:avLst>
          </a:prstGeom>
          <a:solidFill>
            <a:srgbClr val="F7FAFD"/>
          </a:solidFill>
          <a:ln/>
          <a:effectLst>
            <a:outerShdw blurRad="88900" dist="25400" dir="5400000" algn="bl" rotWithShape="0">
              <a:srgbClr val="0B2545">
                <a:alpha val="10000"/>
              </a:srgbClr>
            </a:outerShdw>
          </a:effectLst>
        </p:spPr>
        <p:txBody>
          <a:bodyPr/>
          <a:lstStyle/>
          <a:p>
            <a:endParaRPr/>
          </a:p>
        </p:txBody>
      </p:sp>
      <p:sp>
        <p:nvSpPr>
          <p:cNvPr id="10" name="Text 6"/>
          <p:cNvSpPr/>
          <p:nvPr/>
        </p:nvSpPr>
        <p:spPr>
          <a:xfrm>
            <a:off x="7178040" y="1984248"/>
            <a:ext cx="3474720" cy="457200"/>
          </a:xfrm>
          <a:prstGeom prst="rect">
            <a:avLst/>
          </a:prstGeom>
          <a:noFill/>
          <a:ln/>
        </p:spPr>
        <p:txBody>
          <a:bodyPr wrap="square" lIns="0" tIns="0" rIns="0" bIns="0" rtlCol="0" anchor="ctr"/>
          <a:lstStyle/>
          <a:p>
            <a:pPr marL="0" indent="0">
              <a:buNone/>
            </a:pPr>
            <a:r>
              <a:rPr lang="en-US" sz="1600" b="1" dirty="0">
                <a:solidFill>
                  <a:srgbClr val="13315C"/>
                </a:solidFill>
                <a:latin typeface="Calibri" pitchFamily="34" charset="0"/>
                <a:ea typeface="Calibri" pitchFamily="34" charset="-122"/>
                <a:cs typeface="Calibri" pitchFamily="34" charset="-120"/>
              </a:rPr>
              <a:t>Blueprint Analogy</a:t>
            </a:r>
            <a:endParaRPr lang="en-US" sz="1600" dirty="0"/>
          </a:p>
        </p:txBody>
      </p:sp>
      <p:sp>
        <p:nvSpPr>
          <p:cNvPr id="11" name="Text 7"/>
          <p:cNvSpPr/>
          <p:nvPr/>
        </p:nvSpPr>
        <p:spPr>
          <a:xfrm>
            <a:off x="7178040" y="2697480"/>
            <a:ext cx="4160520" cy="3108960"/>
          </a:xfrm>
          <a:prstGeom prst="rect">
            <a:avLst/>
          </a:prstGeom>
          <a:noFill/>
          <a:ln/>
        </p:spPr>
        <p:txBody>
          <a:bodyPr wrap="square" lIns="0" tIns="0" rIns="0" bIns="0" rtlCol="0" anchor="t"/>
          <a:lstStyle/>
          <a:p>
            <a:pPr marL="0" indent="0">
              <a:buNone/>
            </a:pPr>
            <a:r>
              <a:rPr lang="en-US" sz="1350" dirty="0">
                <a:solidFill>
                  <a:srgbClr val="5B6B82"/>
                </a:solidFill>
                <a:latin typeface="Calibri" pitchFamily="34" charset="0"/>
                <a:ea typeface="Calibri" pitchFamily="34" charset="-122"/>
                <a:cs typeface="Calibri" pitchFamily="34" charset="-120"/>
              </a:rPr>
              <a:t>Just as a building architect provides a blueprint that guides electricians, plumbers, and carpenters independently, a network architecture provides a blueprint so hardware and software from many vendors can interoperate.</a:t>
            </a:r>
            <a:endParaRPr lang="en-US" sz="1350" dirty="0"/>
          </a:p>
        </p:txBody>
      </p:sp>
      <p:sp>
        <p:nvSpPr>
          <p:cNvPr id="12" name="Text 8"/>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TOPIC 1 · LAYERING &amp; PROTOCOLS</a:t>
            </a:r>
            <a:endParaRPr lang="en-US" sz="1000" dirty="0"/>
          </a:p>
        </p:txBody>
      </p:sp>
      <p:sp>
        <p:nvSpPr>
          <p:cNvPr id="13" name="TextBox 12"/>
          <p:cNvSpPr txBox="1"/>
          <p:nvPr/>
        </p:nvSpPr>
        <p:spPr>
          <a:xfrm>
            <a:off x="11792000" y="6638000"/>
            <a:ext cx="200000" cy="100000"/>
          </a:xfrm>
          <a:prstGeom prst="rect">
            <a:avLst/>
          </a:prstGeom>
          <a:noFill/>
        </p:spPr>
        <p:txBody>
          <a:bodyPr wrap="none">
            <a:spAutoFit/>
          </a:bodyPr>
          <a:lstStyle/>
          <a:p>
            <a:pPr>
              <a:defRPr sz="1000"/>
            </a:pPr>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109728"/>
            <a:ext cx="9144000" cy="274320"/>
          </a:xfrm>
          <a:prstGeom prst="rect">
            <a:avLst/>
          </a:prstGeom>
          <a:noFill/>
          <a:ln/>
        </p:spPr>
        <p:txBody>
          <a:bodyPr wrap="square" lIns="0" tIns="0" rIns="0" bIns="0" rtlCol="0" anchor="ctr"/>
          <a:lstStyle/>
          <a:p>
            <a:r>
              <a:rPr lang="en-US" sz="1200" b="1" kern="0" spc="200" dirty="0">
                <a:solidFill>
                  <a:srgbClr val="0091AD"/>
                </a:solidFill>
                <a:latin typeface="Calibri" pitchFamily="34" charset="0"/>
                <a:ea typeface="Calibri" pitchFamily="34" charset="-122"/>
                <a:cs typeface="Calibri" pitchFamily="34" charset="-120"/>
              </a:rPr>
              <a:t>TOPIC 1 · LAYERING &amp; PROTOCOLS</a:t>
            </a:r>
            <a:endParaRPr lang="en-US" sz="1200" dirty="0"/>
          </a:p>
        </p:txBody>
      </p:sp>
      <p:sp>
        <p:nvSpPr>
          <p:cNvPr id="3" name="Text 1"/>
          <p:cNvSpPr/>
          <p:nvPr/>
        </p:nvSpPr>
        <p:spPr>
          <a:xfrm>
            <a:off x="731520" y="386772"/>
            <a:ext cx="10424160" cy="822960"/>
          </a:xfrm>
          <a:prstGeom prst="rect">
            <a:avLst/>
          </a:prstGeom>
          <a:noFill/>
          <a:ln/>
        </p:spPr>
        <p:txBody>
          <a:bodyPr wrap="square" lIns="0" tIns="0" rIns="0" bIns="0" rtlCol="0" anchor="t"/>
          <a:lstStyle/>
          <a:p>
            <a:pPr marL="0" indent="0">
              <a:buNone/>
            </a:pPr>
            <a:r>
              <a:rPr lang="en-US" sz="3200" b="1" dirty="0">
                <a:solidFill>
                  <a:srgbClr val="13315C"/>
                </a:solidFill>
                <a:latin typeface="Bookman Old Style" pitchFamily="34" charset="0"/>
                <a:ea typeface="Bookman Old Style" pitchFamily="34" charset="-122"/>
                <a:cs typeface="Bookman Old Style" pitchFamily="34" charset="-120"/>
              </a:rPr>
              <a:t>Abstraction — The Core Design Tool</a:t>
            </a:r>
            <a:endParaRPr lang="en-US" sz="3200" dirty="0"/>
          </a:p>
        </p:txBody>
      </p:sp>
      <p:sp>
        <p:nvSpPr>
          <p:cNvPr id="6" name="Text 3"/>
          <p:cNvSpPr/>
          <p:nvPr/>
        </p:nvSpPr>
        <p:spPr>
          <a:xfrm>
            <a:off x="563880" y="1101560"/>
            <a:ext cx="11064240" cy="4572000"/>
          </a:xfrm>
          <a:prstGeom prst="rect">
            <a:avLst/>
          </a:prstGeom>
          <a:noFill/>
          <a:ln/>
        </p:spPr>
        <p:txBody>
          <a:bodyPr wrap="square" lIns="0" tIns="0" rIns="0" bIns="0" rtlCol="0" anchor="t"/>
          <a:lstStyle/>
          <a:p>
            <a:pPr marL="342900" indent="-342900">
              <a:lnSpc>
                <a:spcPct val="108000"/>
              </a:lnSpc>
              <a:spcAft>
                <a:spcPts val="1200"/>
              </a:spcAft>
              <a:buSzPct val="100000"/>
              <a:buChar char="●"/>
            </a:pPr>
            <a:r>
              <a:rPr lang="en-US" b="1" dirty="0">
                <a:solidFill>
                  <a:srgbClr val="13315C"/>
                </a:solidFill>
                <a:latin typeface="Calibri" pitchFamily="34" charset="0"/>
                <a:ea typeface="Calibri" pitchFamily="34" charset="-122"/>
                <a:cs typeface="Calibri" pitchFamily="34" charset="-120"/>
              </a:rPr>
              <a:t>Abstraction: hiding implementation details behind a well-defined interface.</a:t>
            </a:r>
            <a:endParaRPr lang="en-US" dirty="0"/>
          </a:p>
          <a:p>
            <a:pPr marL="342900" indent="-342900">
              <a:lnSpc>
                <a:spcPct val="108000"/>
              </a:lnSpc>
              <a:spcAft>
                <a:spcPts val="1200"/>
              </a:spcAft>
              <a:buSzPct val="100000"/>
              <a:buChar char="●"/>
            </a:pPr>
            <a:r>
              <a:rPr lang="en-US" dirty="0">
                <a:solidFill>
                  <a:srgbClr val="13315C"/>
                </a:solidFill>
                <a:latin typeface="Calibri" pitchFamily="34" charset="0"/>
                <a:ea typeface="Calibri" pitchFamily="34" charset="-122"/>
                <a:cs typeface="Calibri" pitchFamily="34" charset="-120"/>
              </a:rPr>
              <a:t>System designers use abstraction as the fundamental tool to manage complexity.</a:t>
            </a:r>
            <a:endParaRPr lang="en-US" dirty="0"/>
          </a:p>
          <a:p>
            <a:pPr marL="342900" indent="-342900">
              <a:lnSpc>
                <a:spcPct val="108000"/>
              </a:lnSpc>
              <a:spcAft>
                <a:spcPts val="1200"/>
              </a:spcAft>
              <a:buSzPct val="100000"/>
              <a:buChar char="●"/>
            </a:pPr>
            <a:r>
              <a:rPr lang="en-US" dirty="0">
                <a:solidFill>
                  <a:srgbClr val="13315C"/>
                </a:solidFill>
                <a:latin typeface="Calibri" pitchFamily="34" charset="0"/>
                <a:ea typeface="Calibri" pitchFamily="34" charset="-122"/>
                <a:cs typeface="Calibri" pitchFamily="34" charset="-120"/>
              </a:rPr>
              <a:t>Steps in creating a useful abstraction:</a:t>
            </a:r>
            <a:endParaRPr lang="en-US" dirty="0"/>
          </a:p>
          <a:p>
            <a:pPr marL="685800" lvl="1" indent="-342900">
              <a:lnSpc>
                <a:spcPct val="108000"/>
              </a:lnSpc>
              <a:spcAft>
                <a:spcPts val="600"/>
              </a:spcAft>
              <a:buSzPct val="100000"/>
              <a:buChar char="–"/>
            </a:pPr>
            <a:r>
              <a:rPr lang="en-US" dirty="0">
                <a:solidFill>
                  <a:srgbClr val="13315C"/>
                </a:solidFill>
                <a:latin typeface="Calibri" pitchFamily="34" charset="0"/>
                <a:ea typeface="Calibri" pitchFamily="34" charset="-122"/>
                <a:cs typeface="Calibri" pitchFamily="34" charset="-120"/>
              </a:rPr>
              <a:t>Define a model that captures an important aspect of the system.</a:t>
            </a:r>
            <a:endParaRPr lang="en-US" dirty="0"/>
          </a:p>
          <a:p>
            <a:pPr marL="685800" lvl="1" indent="-342900">
              <a:lnSpc>
                <a:spcPct val="108000"/>
              </a:lnSpc>
              <a:spcAft>
                <a:spcPts val="600"/>
              </a:spcAft>
              <a:buSzPct val="100000"/>
              <a:buChar char="–"/>
            </a:pPr>
            <a:r>
              <a:rPr lang="en-US" dirty="0">
                <a:solidFill>
                  <a:srgbClr val="13315C"/>
                </a:solidFill>
                <a:latin typeface="Calibri" pitchFamily="34" charset="0"/>
                <a:ea typeface="Calibri" pitchFamily="34" charset="-122"/>
                <a:cs typeface="Calibri" pitchFamily="34" charset="-120"/>
              </a:rPr>
              <a:t>Encapsulate the model in an object with a manipulable interface.</a:t>
            </a:r>
            <a:endParaRPr lang="en-US" dirty="0"/>
          </a:p>
          <a:p>
            <a:pPr marL="685800" lvl="1" indent="-342900">
              <a:lnSpc>
                <a:spcPct val="108000"/>
              </a:lnSpc>
              <a:spcAft>
                <a:spcPts val="600"/>
              </a:spcAft>
              <a:buSzPct val="100000"/>
              <a:buChar char="–"/>
            </a:pPr>
            <a:r>
              <a:rPr lang="en-US" dirty="0">
                <a:solidFill>
                  <a:srgbClr val="13315C"/>
                </a:solidFill>
                <a:latin typeface="Calibri" pitchFamily="34" charset="0"/>
                <a:ea typeface="Calibri" pitchFamily="34" charset="-122"/>
                <a:cs typeface="Calibri" pitchFamily="34" charset="-120"/>
              </a:rPr>
              <a:t>Hide implementation details from the object's users.</a:t>
            </a:r>
            <a:endParaRPr lang="en-US" dirty="0"/>
          </a:p>
          <a:p>
            <a:pPr marL="342900" indent="-342900">
              <a:lnSpc>
                <a:spcPct val="108000"/>
              </a:lnSpc>
              <a:spcAft>
                <a:spcPts val="1200"/>
              </a:spcAft>
              <a:buSzPct val="100000"/>
              <a:buChar char="●"/>
            </a:pPr>
            <a:r>
              <a:rPr lang="en-US" dirty="0">
                <a:solidFill>
                  <a:srgbClr val="13315C"/>
                </a:solidFill>
                <a:latin typeface="Calibri" pitchFamily="34" charset="0"/>
                <a:ea typeface="Calibri" pitchFamily="34" charset="-122"/>
                <a:cs typeface="Calibri" pitchFamily="34" charset="-120"/>
              </a:rPr>
              <a:t>Example: a communication channel is an abstraction that hides network complexity from application writers.</a:t>
            </a:r>
          </a:p>
          <a:p>
            <a:pPr marL="342900" indent="-342900">
              <a:lnSpc>
                <a:spcPct val="108000"/>
              </a:lnSpc>
              <a:spcAft>
                <a:spcPts val="1200"/>
              </a:spcAft>
              <a:buSzPct val="100000"/>
              <a:buChar char="●"/>
            </a:pPr>
            <a:endParaRPr lang="en-US" dirty="0">
              <a:solidFill>
                <a:srgbClr val="13315C"/>
              </a:solidFill>
              <a:latin typeface="Calibri" pitchFamily="34" charset="0"/>
              <a:ea typeface="Calibri" pitchFamily="34" charset="-122"/>
              <a:cs typeface="Calibri" pitchFamily="34" charset="-120"/>
            </a:endParaRPr>
          </a:p>
          <a:p>
            <a:r>
              <a:rPr lang="en-IN" sz="2000" b="1" dirty="0"/>
              <a:t>Key Takeaway </a:t>
            </a:r>
          </a:p>
          <a:p>
            <a:pPr>
              <a:lnSpc>
                <a:spcPct val="108000"/>
              </a:lnSpc>
              <a:spcAft>
                <a:spcPts val="1200"/>
              </a:spcAft>
              <a:buSzPct val="100000"/>
            </a:pPr>
            <a:endParaRPr lang="en-US" dirty="0"/>
          </a:p>
        </p:txBody>
      </p:sp>
      <p:sp>
        <p:nvSpPr>
          <p:cNvPr id="7" name="Text 4"/>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TOPIC 1 · LAYERING &amp; PROTOCOLS</a:t>
            </a:r>
            <a:endParaRPr lang="en-US" sz="1000" dirty="0"/>
          </a:p>
        </p:txBody>
      </p:sp>
      <p:sp>
        <p:nvSpPr>
          <p:cNvPr id="5" name="TextBox 4">
            <a:extLst>
              <a:ext uri="{FF2B5EF4-FFF2-40B4-BE49-F238E27FC236}">
                <a16:creationId xmlns:a16="http://schemas.microsoft.com/office/drawing/2014/main" id="{80D3D0E0-5E0E-C299-B9D0-83F6706B2BCE}"/>
              </a:ext>
            </a:extLst>
          </p:cNvPr>
          <p:cNvSpPr txBox="1"/>
          <p:nvPr/>
        </p:nvSpPr>
        <p:spPr>
          <a:xfrm>
            <a:off x="2073450" y="4722816"/>
            <a:ext cx="7619189" cy="1477328"/>
          </a:xfrm>
          <a:prstGeom prst="rect">
            <a:avLst/>
          </a:prstGeom>
          <a:solidFill>
            <a:schemeClr val="tx2">
              <a:lumMod val="10000"/>
              <a:lumOff val="90000"/>
            </a:schemeClr>
          </a:solidFill>
        </p:spPr>
        <p:txBody>
          <a:bodyPr wrap="square">
            <a:spAutoFit/>
          </a:bodyPr>
          <a:lstStyle/>
          <a:p>
            <a:pPr algn="just"/>
            <a:r>
              <a:rPr lang="en-IN" sz="1800" dirty="0"/>
              <a:t>Abstraction in computer networks means providing a simple interface for communication while hiding the complex details of data transmission, routing, error handling, and protocol operations. This allows applications to communicate easily without needing to understand how the underlying network works.</a:t>
            </a:r>
          </a:p>
        </p:txBody>
      </p:sp>
      <p:sp>
        <p:nvSpPr>
          <p:cNvPr id="8" name="TextBox 7"/>
          <p:cNvSpPr txBox="1"/>
          <p:nvPr/>
        </p:nvSpPr>
        <p:spPr>
          <a:xfrm>
            <a:off x="11792000" y="6638000"/>
            <a:ext cx="200000" cy="100000"/>
          </a:xfrm>
          <a:prstGeom prst="rect">
            <a:avLst/>
          </a:prstGeom>
          <a:noFill/>
        </p:spPr>
        <p:txBody>
          <a:bodyPr wrap="none">
            <a:spAutoFit/>
          </a:bodyPr>
          <a:lstStyle/>
          <a:p>
            <a:pPr>
              <a:defRPr sz="1000"/>
            </a:pPr>
            <a: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54864"/>
            <a:ext cx="9144000" cy="274320"/>
          </a:xfrm>
          <a:prstGeom prst="rect">
            <a:avLst/>
          </a:prstGeom>
          <a:noFill/>
          <a:ln/>
        </p:spPr>
        <p:txBody>
          <a:bodyPr wrap="square" lIns="0" tIns="0" rIns="0" bIns="0" rtlCol="0" anchor="ctr"/>
          <a:lstStyle/>
          <a:p>
            <a:r>
              <a:rPr lang="en-US" sz="1200" b="1" kern="0" spc="200" dirty="0">
                <a:solidFill>
                  <a:srgbClr val="0091AD"/>
                </a:solidFill>
                <a:latin typeface="Calibri" pitchFamily="34" charset="0"/>
                <a:ea typeface="Calibri" pitchFamily="34" charset="-122"/>
                <a:cs typeface="Calibri" pitchFamily="34" charset="-120"/>
              </a:rPr>
              <a:t>TOPIC 1 · LAYERING &amp; PROTOCOLS</a:t>
            </a:r>
            <a:endParaRPr lang="en-US" sz="1200" dirty="0"/>
          </a:p>
        </p:txBody>
      </p:sp>
      <p:sp>
        <p:nvSpPr>
          <p:cNvPr id="3" name="Text 1"/>
          <p:cNvSpPr/>
          <p:nvPr/>
        </p:nvSpPr>
        <p:spPr>
          <a:xfrm>
            <a:off x="548640" y="367706"/>
            <a:ext cx="10424160" cy="822960"/>
          </a:xfrm>
          <a:prstGeom prst="rect">
            <a:avLst/>
          </a:prstGeom>
          <a:noFill/>
          <a:ln/>
        </p:spPr>
        <p:txBody>
          <a:bodyPr wrap="square" lIns="0" tIns="0" rIns="0" bIns="0" rtlCol="0" anchor="t"/>
          <a:lstStyle/>
          <a:p>
            <a:pPr marL="0" indent="0">
              <a:buNone/>
            </a:pPr>
            <a:r>
              <a:rPr lang="en-US" sz="3600" b="1" dirty="0">
                <a:solidFill>
                  <a:srgbClr val="13315C"/>
                </a:solidFill>
                <a:latin typeface="Bookman Old Style" pitchFamily="34" charset="0"/>
                <a:ea typeface="Bookman Old Style" pitchFamily="34" charset="-122"/>
                <a:cs typeface="Bookman Old Style" pitchFamily="34" charset="-120"/>
              </a:rPr>
              <a:t>What Is Layering?</a:t>
            </a:r>
            <a:endParaRPr lang="en-US" sz="3600" dirty="0"/>
          </a:p>
        </p:txBody>
      </p:sp>
      <p:sp>
        <p:nvSpPr>
          <p:cNvPr id="6" name="Text 3"/>
          <p:cNvSpPr/>
          <p:nvPr/>
        </p:nvSpPr>
        <p:spPr>
          <a:xfrm>
            <a:off x="518160" y="1391834"/>
            <a:ext cx="5577840" cy="4389120"/>
          </a:xfrm>
          <a:prstGeom prst="rect">
            <a:avLst/>
          </a:prstGeom>
          <a:noFill/>
          <a:ln/>
        </p:spPr>
        <p:txBody>
          <a:bodyPr wrap="square" lIns="0" tIns="0" rIns="0" bIns="0" rtlCol="0" anchor="t"/>
          <a:lstStyle/>
          <a:p>
            <a:pPr marL="342900" indent="-342900">
              <a:lnSpc>
                <a:spcPct val="108000"/>
              </a:lnSpc>
              <a:spcAft>
                <a:spcPts val="1200"/>
              </a:spcAft>
              <a:buSzPct val="100000"/>
              <a:buChar char="●"/>
            </a:pPr>
            <a:r>
              <a:rPr lang="en-US" sz="2000" dirty="0">
                <a:solidFill>
                  <a:srgbClr val="13315C"/>
                </a:solidFill>
                <a:latin typeface="Calibri" pitchFamily="34" charset="0"/>
                <a:ea typeface="Calibri" pitchFamily="34" charset="-122"/>
                <a:cs typeface="Calibri" pitchFamily="34" charset="-120"/>
              </a:rPr>
              <a:t>Start with services offered by the underlying hardware.</a:t>
            </a:r>
            <a:endParaRPr lang="en-US" sz="2000" dirty="0"/>
          </a:p>
          <a:p>
            <a:pPr marL="342900" indent="-342900">
              <a:lnSpc>
                <a:spcPct val="108000"/>
              </a:lnSpc>
              <a:spcAft>
                <a:spcPts val="1200"/>
              </a:spcAft>
              <a:buSzPct val="100000"/>
              <a:buChar char="●"/>
            </a:pPr>
            <a:r>
              <a:rPr lang="en-US" sz="2000" dirty="0">
                <a:solidFill>
                  <a:srgbClr val="13315C"/>
                </a:solidFill>
                <a:latin typeface="Calibri" pitchFamily="34" charset="0"/>
                <a:ea typeface="Calibri" pitchFamily="34" charset="-122"/>
                <a:cs typeface="Calibri" pitchFamily="34" charset="-120"/>
              </a:rPr>
              <a:t>Add a sequence of layers, each providing a higher, more abstract level of service.</a:t>
            </a:r>
            <a:endParaRPr lang="en-US" sz="2000" dirty="0"/>
          </a:p>
          <a:p>
            <a:pPr marL="342900" indent="-342900">
              <a:lnSpc>
                <a:spcPct val="108000"/>
              </a:lnSpc>
              <a:spcAft>
                <a:spcPts val="1200"/>
              </a:spcAft>
              <a:buSzPct val="100000"/>
              <a:buChar char="●"/>
            </a:pPr>
            <a:r>
              <a:rPr lang="en-US" sz="2000" dirty="0">
                <a:solidFill>
                  <a:srgbClr val="13315C"/>
                </a:solidFill>
                <a:latin typeface="Calibri" pitchFamily="34" charset="0"/>
                <a:ea typeface="Calibri" pitchFamily="34" charset="-122"/>
                <a:cs typeface="Calibri" pitchFamily="34" charset="-120"/>
              </a:rPr>
              <a:t>A high layer is implemented in terms of the services of the layer below it.</a:t>
            </a:r>
            <a:endParaRPr lang="en-US" sz="2000" dirty="0"/>
          </a:p>
          <a:p>
            <a:pPr marL="342900" indent="-342900">
              <a:lnSpc>
                <a:spcPct val="108000"/>
              </a:lnSpc>
              <a:spcAft>
                <a:spcPts val="1200"/>
              </a:spcAft>
              <a:buSzPct val="100000"/>
              <a:buChar char="●"/>
            </a:pPr>
            <a:r>
              <a:rPr lang="en-US" sz="2000" dirty="0">
                <a:solidFill>
                  <a:srgbClr val="13315C"/>
                </a:solidFill>
                <a:latin typeface="Calibri" pitchFamily="34" charset="0"/>
                <a:ea typeface="Calibri" pitchFamily="34" charset="-122"/>
                <a:cs typeface="Calibri" pitchFamily="34" charset="-120"/>
              </a:rPr>
              <a:t>Layering gives two big benefits:</a:t>
            </a:r>
            <a:endParaRPr lang="en-US" sz="2000" dirty="0"/>
          </a:p>
          <a:p>
            <a:pPr marL="685800" lvl="1" indent="-342900">
              <a:lnSpc>
                <a:spcPct val="108000"/>
              </a:lnSpc>
              <a:spcAft>
                <a:spcPts val="600"/>
              </a:spcAft>
              <a:buSzPct val="100000"/>
              <a:buChar char="–"/>
            </a:pPr>
            <a:r>
              <a:rPr lang="en-US" dirty="0">
                <a:solidFill>
                  <a:srgbClr val="13315C"/>
                </a:solidFill>
                <a:latin typeface="Calibri" pitchFamily="34" charset="0"/>
                <a:ea typeface="Calibri" pitchFamily="34" charset="-122"/>
                <a:cs typeface="Calibri" pitchFamily="34" charset="-120"/>
              </a:rPr>
              <a:t>Decomposition — break one hard problem into several manageable ones.</a:t>
            </a:r>
            <a:endParaRPr lang="en-US" sz="2000" dirty="0"/>
          </a:p>
          <a:p>
            <a:pPr marL="685800" lvl="1" indent="-342900">
              <a:lnSpc>
                <a:spcPct val="108000"/>
              </a:lnSpc>
              <a:spcAft>
                <a:spcPts val="600"/>
              </a:spcAft>
              <a:buSzPct val="100000"/>
              <a:buChar char="–"/>
            </a:pPr>
            <a:r>
              <a:rPr lang="en-US" dirty="0">
                <a:solidFill>
                  <a:srgbClr val="13315C"/>
                </a:solidFill>
                <a:latin typeface="Calibri" pitchFamily="34" charset="0"/>
                <a:ea typeface="Calibri" pitchFamily="34" charset="-122"/>
                <a:cs typeface="Calibri" pitchFamily="34" charset="-120"/>
              </a:rPr>
              <a:t>Modularity — change one layer's implementation without touching the rest.</a:t>
            </a:r>
            <a:endParaRPr lang="en-US" sz="2000" dirty="0"/>
          </a:p>
        </p:txBody>
      </p:sp>
      <p:sp>
        <p:nvSpPr>
          <p:cNvPr id="7" name="Shape 4"/>
          <p:cNvSpPr/>
          <p:nvPr/>
        </p:nvSpPr>
        <p:spPr>
          <a:xfrm>
            <a:off x="6583680" y="1691640"/>
            <a:ext cx="4846320" cy="713232"/>
          </a:xfrm>
          <a:prstGeom prst="roundRect">
            <a:avLst>
              <a:gd name="adj" fmla="val 6410"/>
            </a:avLst>
          </a:prstGeom>
          <a:solidFill>
            <a:srgbClr val="0B2545"/>
          </a:solidFill>
          <a:ln/>
        </p:spPr>
        <p:txBody>
          <a:bodyPr/>
          <a:lstStyle/>
          <a:p>
            <a:endParaRPr/>
          </a:p>
        </p:txBody>
      </p:sp>
      <p:sp>
        <p:nvSpPr>
          <p:cNvPr id="8" name="Text 5"/>
          <p:cNvSpPr/>
          <p:nvPr/>
        </p:nvSpPr>
        <p:spPr>
          <a:xfrm>
            <a:off x="6675120" y="1691640"/>
            <a:ext cx="4663440" cy="71323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Application Program</a:t>
            </a:r>
            <a:endParaRPr lang="en-US" sz="1300" dirty="0"/>
          </a:p>
        </p:txBody>
      </p:sp>
      <p:sp>
        <p:nvSpPr>
          <p:cNvPr id="9" name="Shape 6"/>
          <p:cNvSpPr/>
          <p:nvPr/>
        </p:nvSpPr>
        <p:spPr>
          <a:xfrm>
            <a:off x="9006840" y="2404872"/>
            <a:ext cx="0" cy="201168"/>
          </a:xfrm>
          <a:prstGeom prst="line">
            <a:avLst/>
          </a:prstGeom>
          <a:noFill/>
          <a:ln w="15875">
            <a:solidFill>
              <a:srgbClr val="5B6B82"/>
            </a:solidFill>
            <a:prstDash val="solid"/>
            <a:tailEnd type="triangle"/>
          </a:ln>
        </p:spPr>
        <p:txBody>
          <a:bodyPr/>
          <a:lstStyle/>
          <a:p>
            <a:endParaRPr/>
          </a:p>
        </p:txBody>
      </p:sp>
      <p:sp>
        <p:nvSpPr>
          <p:cNvPr id="10" name="Shape 7"/>
          <p:cNvSpPr/>
          <p:nvPr/>
        </p:nvSpPr>
        <p:spPr>
          <a:xfrm>
            <a:off x="6583680" y="2606040"/>
            <a:ext cx="4846320" cy="713232"/>
          </a:xfrm>
          <a:prstGeom prst="roundRect">
            <a:avLst>
              <a:gd name="adj" fmla="val 6410"/>
            </a:avLst>
          </a:prstGeom>
          <a:solidFill>
            <a:srgbClr val="0091AD"/>
          </a:solidFill>
          <a:ln/>
        </p:spPr>
        <p:txBody>
          <a:bodyPr/>
          <a:lstStyle/>
          <a:p>
            <a:endParaRPr/>
          </a:p>
        </p:txBody>
      </p:sp>
      <p:sp>
        <p:nvSpPr>
          <p:cNvPr id="11" name="Text 8"/>
          <p:cNvSpPr/>
          <p:nvPr/>
        </p:nvSpPr>
        <p:spPr>
          <a:xfrm>
            <a:off x="6675120" y="2606040"/>
            <a:ext cx="4663440" cy="71323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Process-to-Process Channel</a:t>
            </a:r>
            <a:endParaRPr lang="en-US" sz="1300" dirty="0"/>
          </a:p>
        </p:txBody>
      </p:sp>
      <p:sp>
        <p:nvSpPr>
          <p:cNvPr id="12" name="Shape 9"/>
          <p:cNvSpPr/>
          <p:nvPr/>
        </p:nvSpPr>
        <p:spPr>
          <a:xfrm>
            <a:off x="9006840" y="3319272"/>
            <a:ext cx="0" cy="201168"/>
          </a:xfrm>
          <a:prstGeom prst="line">
            <a:avLst/>
          </a:prstGeom>
          <a:noFill/>
          <a:ln w="15875">
            <a:solidFill>
              <a:srgbClr val="5B6B82"/>
            </a:solidFill>
            <a:prstDash val="solid"/>
            <a:tailEnd type="triangle"/>
          </a:ln>
        </p:spPr>
        <p:txBody>
          <a:bodyPr/>
          <a:lstStyle/>
          <a:p>
            <a:endParaRPr/>
          </a:p>
        </p:txBody>
      </p:sp>
      <p:sp>
        <p:nvSpPr>
          <p:cNvPr id="13" name="Shape 10"/>
          <p:cNvSpPr/>
          <p:nvPr/>
        </p:nvSpPr>
        <p:spPr>
          <a:xfrm>
            <a:off x="6583680" y="3520440"/>
            <a:ext cx="4846320" cy="713232"/>
          </a:xfrm>
          <a:prstGeom prst="roundRect">
            <a:avLst>
              <a:gd name="adj" fmla="val 6410"/>
            </a:avLst>
          </a:prstGeom>
          <a:solidFill>
            <a:srgbClr val="00B4D8"/>
          </a:solidFill>
          <a:ln/>
        </p:spPr>
        <p:txBody>
          <a:bodyPr/>
          <a:lstStyle/>
          <a:p>
            <a:endParaRPr/>
          </a:p>
        </p:txBody>
      </p:sp>
      <p:sp>
        <p:nvSpPr>
          <p:cNvPr id="14" name="Text 11"/>
          <p:cNvSpPr/>
          <p:nvPr/>
        </p:nvSpPr>
        <p:spPr>
          <a:xfrm>
            <a:off x="6675120" y="3520440"/>
            <a:ext cx="4663440" cy="71323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Host-to-Host Connectivity</a:t>
            </a:r>
            <a:endParaRPr lang="en-US" sz="1300" dirty="0"/>
          </a:p>
        </p:txBody>
      </p:sp>
      <p:sp>
        <p:nvSpPr>
          <p:cNvPr id="15" name="Shape 12"/>
          <p:cNvSpPr/>
          <p:nvPr/>
        </p:nvSpPr>
        <p:spPr>
          <a:xfrm>
            <a:off x="9006840" y="4233672"/>
            <a:ext cx="0" cy="201168"/>
          </a:xfrm>
          <a:prstGeom prst="line">
            <a:avLst/>
          </a:prstGeom>
          <a:noFill/>
          <a:ln w="15875">
            <a:solidFill>
              <a:srgbClr val="5B6B82"/>
            </a:solidFill>
            <a:prstDash val="solid"/>
            <a:tailEnd type="triangle"/>
          </a:ln>
        </p:spPr>
        <p:txBody>
          <a:bodyPr/>
          <a:lstStyle/>
          <a:p>
            <a:endParaRPr/>
          </a:p>
        </p:txBody>
      </p:sp>
      <p:sp>
        <p:nvSpPr>
          <p:cNvPr id="16" name="Shape 13"/>
          <p:cNvSpPr/>
          <p:nvPr/>
        </p:nvSpPr>
        <p:spPr>
          <a:xfrm>
            <a:off x="6583680" y="4434840"/>
            <a:ext cx="4846320" cy="713232"/>
          </a:xfrm>
          <a:prstGeom prst="roundRect">
            <a:avLst>
              <a:gd name="adj" fmla="val 6410"/>
            </a:avLst>
          </a:prstGeom>
          <a:solidFill>
            <a:srgbClr val="5B9BD5"/>
          </a:solidFill>
          <a:ln/>
        </p:spPr>
        <p:txBody>
          <a:bodyPr/>
          <a:lstStyle/>
          <a:p>
            <a:endParaRPr/>
          </a:p>
        </p:txBody>
      </p:sp>
      <p:sp>
        <p:nvSpPr>
          <p:cNvPr id="17" name="Text 14"/>
          <p:cNvSpPr/>
          <p:nvPr/>
        </p:nvSpPr>
        <p:spPr>
          <a:xfrm>
            <a:off x="6675120" y="4434840"/>
            <a:ext cx="4663440" cy="71323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Underlying Hardware</a:t>
            </a:r>
            <a:endParaRPr lang="en-US" sz="1300" dirty="0"/>
          </a:p>
        </p:txBody>
      </p:sp>
      <p:sp>
        <p:nvSpPr>
          <p:cNvPr id="18" name="Text 15"/>
          <p:cNvSpPr/>
          <p:nvPr/>
        </p:nvSpPr>
        <p:spPr>
          <a:xfrm>
            <a:off x="6583680" y="5285232"/>
            <a:ext cx="4846320" cy="640080"/>
          </a:xfrm>
          <a:prstGeom prst="rect">
            <a:avLst/>
          </a:prstGeom>
          <a:noFill/>
          <a:ln/>
        </p:spPr>
        <p:txBody>
          <a:bodyPr wrap="square" lIns="0" tIns="0" rIns="0" bIns="0" rtlCol="0" anchor="ctr"/>
          <a:lstStyle/>
          <a:p>
            <a:pPr marL="0" indent="0" algn="ctr">
              <a:buNone/>
            </a:pPr>
            <a:r>
              <a:rPr lang="en-US" sz="1400" i="1" dirty="0">
                <a:solidFill>
                  <a:srgbClr val="5B6B82"/>
                </a:solidFill>
                <a:latin typeface="Calibri" pitchFamily="34" charset="0"/>
                <a:ea typeface="Calibri" pitchFamily="34" charset="-122"/>
                <a:cs typeface="Calibri" pitchFamily="34" charset="-120"/>
              </a:rPr>
              <a:t>Each layer builds on the service below it and hides that layer's complexity from the one above.</a:t>
            </a:r>
            <a:endParaRPr lang="en-US" sz="1400" dirty="0"/>
          </a:p>
        </p:txBody>
      </p:sp>
      <p:sp>
        <p:nvSpPr>
          <p:cNvPr id="19" name="Text 16"/>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TOPIC 1 · LAYERING &amp; PROTOCOLS</a:t>
            </a:r>
            <a:endParaRPr lang="en-US" sz="1000" dirty="0"/>
          </a:p>
        </p:txBody>
      </p:sp>
      <p:sp>
        <p:nvSpPr>
          <p:cNvPr id="20" name="TextBox 19"/>
          <p:cNvSpPr txBox="1"/>
          <p:nvPr/>
        </p:nvSpPr>
        <p:spPr>
          <a:xfrm>
            <a:off x="11792000" y="6638000"/>
            <a:ext cx="200000" cy="100000"/>
          </a:xfrm>
          <a:prstGeom prst="rect">
            <a:avLst/>
          </a:prstGeom>
          <a:noFill/>
        </p:spPr>
        <p:txBody>
          <a:bodyPr wrap="none">
            <a:spAutoFit/>
          </a:bodyPr>
          <a:lstStyle/>
          <a:p>
            <a:pPr>
              <a:defRPr sz="1000"/>
            </a:pPr>
            <a: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128016"/>
            <a:ext cx="9144000" cy="274320"/>
          </a:xfrm>
          <a:prstGeom prst="rect">
            <a:avLst/>
          </a:prstGeom>
          <a:noFill/>
          <a:ln/>
        </p:spPr>
        <p:txBody>
          <a:bodyPr wrap="square" lIns="0" tIns="0" rIns="0" bIns="0" rtlCol="0" anchor="ctr"/>
          <a:lstStyle/>
          <a:p>
            <a:r>
              <a:rPr lang="en-US" sz="1200" b="1" kern="0" spc="200" dirty="0">
                <a:solidFill>
                  <a:srgbClr val="0091AD"/>
                </a:solidFill>
                <a:latin typeface="Calibri" pitchFamily="34" charset="0"/>
                <a:ea typeface="Calibri" pitchFamily="34" charset="-122"/>
                <a:cs typeface="Calibri" pitchFamily="34" charset="-120"/>
              </a:rPr>
              <a:t>TOPIC 1 · LAYERING &amp; PROTOCOLS</a:t>
            </a:r>
            <a:endParaRPr lang="en-US" sz="1200" dirty="0"/>
          </a:p>
        </p:txBody>
      </p:sp>
      <p:sp>
        <p:nvSpPr>
          <p:cNvPr id="3" name="Text 1"/>
          <p:cNvSpPr/>
          <p:nvPr/>
        </p:nvSpPr>
        <p:spPr>
          <a:xfrm>
            <a:off x="548640" y="457200"/>
            <a:ext cx="10424160" cy="822960"/>
          </a:xfrm>
          <a:prstGeom prst="rect">
            <a:avLst/>
          </a:prstGeom>
          <a:noFill/>
          <a:ln/>
        </p:spPr>
        <p:txBody>
          <a:bodyPr wrap="square" lIns="0" tIns="0" rIns="0" bIns="0" rtlCol="0" anchor="t"/>
          <a:lstStyle/>
          <a:p>
            <a:pPr marL="0" indent="0">
              <a:buNone/>
            </a:pPr>
            <a:r>
              <a:rPr lang="en-US" sz="3200" b="1" dirty="0">
                <a:solidFill>
                  <a:srgbClr val="13315C"/>
                </a:solidFill>
                <a:latin typeface="Bookman Old Style" pitchFamily="34" charset="0"/>
                <a:ea typeface="Bookman Old Style" pitchFamily="34" charset="-122"/>
                <a:cs typeface="Bookman Old Style" pitchFamily="34" charset="-120"/>
              </a:rPr>
              <a:t>Multiple Abstractions at One Layer</a:t>
            </a:r>
            <a:endParaRPr lang="en-US" sz="3200" dirty="0"/>
          </a:p>
        </p:txBody>
      </p:sp>
      <p:sp>
        <p:nvSpPr>
          <p:cNvPr id="6" name="Text 3"/>
          <p:cNvSpPr/>
          <p:nvPr/>
        </p:nvSpPr>
        <p:spPr>
          <a:xfrm>
            <a:off x="548640" y="1389888"/>
            <a:ext cx="5486400" cy="4206240"/>
          </a:xfrm>
          <a:prstGeom prst="rect">
            <a:avLst/>
          </a:prstGeom>
          <a:noFill/>
          <a:ln/>
        </p:spPr>
        <p:txBody>
          <a:bodyPr wrap="square" lIns="0" tIns="0" rIns="0" bIns="0" rtlCol="0" anchor="t"/>
          <a:lstStyle/>
          <a:p>
            <a:pPr marL="342900" indent="-342900">
              <a:lnSpc>
                <a:spcPct val="108000"/>
              </a:lnSpc>
              <a:spcAft>
                <a:spcPts val="1200"/>
              </a:spcAft>
              <a:buSzPct val="100000"/>
              <a:buChar char="●"/>
            </a:pPr>
            <a:r>
              <a:rPr lang="en-US" sz="2400" dirty="0">
                <a:solidFill>
                  <a:srgbClr val="13315C"/>
                </a:solidFill>
                <a:latin typeface="Calibri" pitchFamily="34" charset="0"/>
                <a:ea typeface="Calibri" pitchFamily="34" charset="-122"/>
                <a:cs typeface="Calibri" pitchFamily="34" charset="-120"/>
              </a:rPr>
              <a:t>Layering is not always a strictly linear stack.</a:t>
            </a:r>
            <a:endParaRPr lang="en-US" sz="2400" dirty="0"/>
          </a:p>
          <a:p>
            <a:pPr marL="342900" indent="-342900">
              <a:lnSpc>
                <a:spcPct val="108000"/>
              </a:lnSpc>
              <a:spcAft>
                <a:spcPts val="1200"/>
              </a:spcAft>
              <a:buSzPct val="100000"/>
              <a:buChar char="●"/>
            </a:pPr>
            <a:r>
              <a:rPr lang="en-US" sz="2400" dirty="0">
                <a:solidFill>
                  <a:srgbClr val="13315C"/>
                </a:solidFill>
                <a:latin typeface="Calibri" pitchFamily="34" charset="0"/>
                <a:ea typeface="Calibri" pitchFamily="34" charset="-122"/>
                <a:cs typeface="Calibri" pitchFamily="34" charset="-120"/>
              </a:rPr>
              <a:t>A given level can offer several alternative abstractions, each built on the same lower-level service.</a:t>
            </a:r>
            <a:endParaRPr lang="en-US" sz="2400" dirty="0"/>
          </a:p>
          <a:p>
            <a:pPr marL="342900" indent="-342900">
              <a:lnSpc>
                <a:spcPct val="108000"/>
              </a:lnSpc>
              <a:spcAft>
                <a:spcPts val="1200"/>
              </a:spcAft>
              <a:buSzPct val="100000"/>
              <a:buChar char="●"/>
            </a:pPr>
            <a:r>
              <a:rPr lang="en-US" sz="2400" dirty="0">
                <a:solidFill>
                  <a:srgbClr val="13315C"/>
                </a:solidFill>
                <a:latin typeface="Calibri" pitchFamily="34" charset="0"/>
                <a:ea typeface="Calibri" pitchFamily="34" charset="-122"/>
                <a:cs typeface="Calibri" pitchFamily="34" charset="-120"/>
              </a:rPr>
              <a:t>Example: a request/reply channel and a message-stream channel can both sit at the same level, offering different services to the layer above.</a:t>
            </a:r>
            <a:endParaRPr lang="en-US" sz="2400" dirty="0"/>
          </a:p>
          <a:p>
            <a:pPr marL="342900" indent="-342900">
              <a:lnSpc>
                <a:spcPct val="108000"/>
              </a:lnSpc>
              <a:spcAft>
                <a:spcPts val="1200"/>
              </a:spcAft>
              <a:buSzPct val="100000"/>
              <a:buChar char="●"/>
            </a:pPr>
            <a:r>
              <a:rPr lang="en-US" sz="2400" dirty="0">
                <a:solidFill>
                  <a:srgbClr val="13315C"/>
                </a:solidFill>
                <a:latin typeface="Calibri" pitchFamily="34" charset="0"/>
                <a:ea typeface="Calibri" pitchFamily="34" charset="-122"/>
                <a:cs typeface="Calibri" pitchFamily="34" charset="-120"/>
              </a:rPr>
              <a:t>The application picks whichever channel type best fits what it needs to do.</a:t>
            </a:r>
            <a:endParaRPr lang="en-US" sz="2400" dirty="0"/>
          </a:p>
        </p:txBody>
      </p:sp>
      <p:sp>
        <p:nvSpPr>
          <p:cNvPr id="7" name="Shape 4"/>
          <p:cNvSpPr/>
          <p:nvPr/>
        </p:nvSpPr>
        <p:spPr>
          <a:xfrm>
            <a:off x="6492240" y="1828800"/>
            <a:ext cx="4937760" cy="594360"/>
          </a:xfrm>
          <a:prstGeom prst="roundRect">
            <a:avLst>
              <a:gd name="adj" fmla="val 6154"/>
            </a:avLst>
          </a:prstGeom>
          <a:solidFill>
            <a:srgbClr val="0B2545"/>
          </a:solidFill>
          <a:ln w="12700">
            <a:solidFill>
              <a:srgbClr val="D8E2ED"/>
            </a:solidFill>
            <a:prstDash val="solid"/>
          </a:ln>
        </p:spPr>
        <p:txBody>
          <a:bodyPr/>
          <a:lstStyle/>
          <a:p>
            <a:endParaRPr/>
          </a:p>
        </p:txBody>
      </p:sp>
      <p:sp>
        <p:nvSpPr>
          <p:cNvPr id="8" name="Text 5"/>
          <p:cNvSpPr/>
          <p:nvPr/>
        </p:nvSpPr>
        <p:spPr>
          <a:xfrm>
            <a:off x="6492240" y="1828800"/>
            <a:ext cx="4937760" cy="5943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Application Program</a:t>
            </a:r>
            <a:endParaRPr lang="en-US" sz="1300" dirty="0"/>
          </a:p>
        </p:txBody>
      </p:sp>
      <p:sp>
        <p:nvSpPr>
          <p:cNvPr id="9" name="Shape 6"/>
          <p:cNvSpPr/>
          <p:nvPr/>
        </p:nvSpPr>
        <p:spPr>
          <a:xfrm>
            <a:off x="6492240" y="2788920"/>
            <a:ext cx="2331720" cy="822960"/>
          </a:xfrm>
          <a:prstGeom prst="roundRect">
            <a:avLst>
              <a:gd name="adj" fmla="val 4444"/>
            </a:avLst>
          </a:prstGeom>
          <a:solidFill>
            <a:srgbClr val="0091AD"/>
          </a:solidFill>
          <a:ln w="12700">
            <a:solidFill>
              <a:srgbClr val="D8E2ED"/>
            </a:solidFill>
            <a:prstDash val="solid"/>
          </a:ln>
        </p:spPr>
        <p:txBody>
          <a:bodyPr/>
          <a:lstStyle/>
          <a:p>
            <a:endParaRPr/>
          </a:p>
        </p:txBody>
      </p:sp>
      <p:sp>
        <p:nvSpPr>
          <p:cNvPr id="10" name="Text 7"/>
          <p:cNvSpPr/>
          <p:nvPr/>
        </p:nvSpPr>
        <p:spPr>
          <a:xfrm>
            <a:off x="6492240" y="2788920"/>
            <a:ext cx="2331720" cy="82296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Request/Reply</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Channel</a:t>
            </a:r>
            <a:endParaRPr lang="en-US" sz="1250" dirty="0"/>
          </a:p>
        </p:txBody>
      </p:sp>
      <p:sp>
        <p:nvSpPr>
          <p:cNvPr id="11" name="Shape 8"/>
          <p:cNvSpPr/>
          <p:nvPr/>
        </p:nvSpPr>
        <p:spPr>
          <a:xfrm>
            <a:off x="9098280" y="2788920"/>
            <a:ext cx="2331720" cy="822960"/>
          </a:xfrm>
          <a:prstGeom prst="roundRect">
            <a:avLst>
              <a:gd name="adj" fmla="val 4444"/>
            </a:avLst>
          </a:prstGeom>
          <a:solidFill>
            <a:srgbClr val="0091AD"/>
          </a:solidFill>
          <a:ln w="12700">
            <a:solidFill>
              <a:srgbClr val="D8E2ED"/>
            </a:solidFill>
            <a:prstDash val="solid"/>
          </a:ln>
        </p:spPr>
        <p:txBody>
          <a:bodyPr/>
          <a:lstStyle/>
          <a:p>
            <a:endParaRPr/>
          </a:p>
        </p:txBody>
      </p:sp>
      <p:sp>
        <p:nvSpPr>
          <p:cNvPr id="12" name="Text 9"/>
          <p:cNvSpPr/>
          <p:nvPr/>
        </p:nvSpPr>
        <p:spPr>
          <a:xfrm>
            <a:off x="9098280" y="2788920"/>
            <a:ext cx="2331720" cy="82296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Message Stream</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Channel</a:t>
            </a:r>
            <a:endParaRPr lang="en-US" sz="1250" dirty="0"/>
          </a:p>
        </p:txBody>
      </p:sp>
      <p:sp>
        <p:nvSpPr>
          <p:cNvPr id="13" name="Shape 10"/>
          <p:cNvSpPr/>
          <p:nvPr/>
        </p:nvSpPr>
        <p:spPr>
          <a:xfrm>
            <a:off x="6492240" y="3886200"/>
            <a:ext cx="4937760" cy="594360"/>
          </a:xfrm>
          <a:prstGeom prst="roundRect">
            <a:avLst>
              <a:gd name="adj" fmla="val 6154"/>
            </a:avLst>
          </a:prstGeom>
          <a:solidFill>
            <a:srgbClr val="00B4D8"/>
          </a:solidFill>
          <a:ln w="12700">
            <a:solidFill>
              <a:srgbClr val="D8E2ED"/>
            </a:solidFill>
            <a:prstDash val="solid"/>
          </a:ln>
        </p:spPr>
        <p:txBody>
          <a:bodyPr/>
          <a:lstStyle/>
          <a:p>
            <a:endParaRPr/>
          </a:p>
        </p:txBody>
      </p:sp>
      <p:sp>
        <p:nvSpPr>
          <p:cNvPr id="14" name="Text 11"/>
          <p:cNvSpPr/>
          <p:nvPr/>
        </p:nvSpPr>
        <p:spPr>
          <a:xfrm>
            <a:off x="6492240" y="3886200"/>
            <a:ext cx="4937760" cy="5943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Host-to-Host Connectivity</a:t>
            </a:r>
            <a:endParaRPr lang="en-US" sz="1300" dirty="0"/>
          </a:p>
        </p:txBody>
      </p:sp>
      <p:sp>
        <p:nvSpPr>
          <p:cNvPr id="15" name="Shape 12"/>
          <p:cNvSpPr/>
          <p:nvPr/>
        </p:nvSpPr>
        <p:spPr>
          <a:xfrm>
            <a:off x="7726680" y="2423160"/>
            <a:ext cx="0" cy="365760"/>
          </a:xfrm>
          <a:prstGeom prst="line">
            <a:avLst/>
          </a:prstGeom>
          <a:noFill/>
          <a:ln w="19050">
            <a:solidFill>
              <a:srgbClr val="5B6B82"/>
            </a:solidFill>
            <a:prstDash val="solid"/>
          </a:ln>
        </p:spPr>
        <p:txBody>
          <a:bodyPr/>
          <a:lstStyle/>
          <a:p>
            <a:endParaRPr/>
          </a:p>
        </p:txBody>
      </p:sp>
      <p:sp>
        <p:nvSpPr>
          <p:cNvPr id="16" name="Shape 13"/>
          <p:cNvSpPr/>
          <p:nvPr/>
        </p:nvSpPr>
        <p:spPr>
          <a:xfrm>
            <a:off x="10195560" y="2423160"/>
            <a:ext cx="0" cy="365760"/>
          </a:xfrm>
          <a:prstGeom prst="line">
            <a:avLst/>
          </a:prstGeom>
          <a:noFill/>
          <a:ln w="19050">
            <a:solidFill>
              <a:srgbClr val="5B6B82"/>
            </a:solidFill>
            <a:prstDash val="solid"/>
          </a:ln>
        </p:spPr>
        <p:txBody>
          <a:bodyPr/>
          <a:lstStyle/>
          <a:p>
            <a:endParaRPr/>
          </a:p>
        </p:txBody>
      </p:sp>
      <p:sp>
        <p:nvSpPr>
          <p:cNvPr id="17" name="Shape 14"/>
          <p:cNvSpPr/>
          <p:nvPr/>
        </p:nvSpPr>
        <p:spPr>
          <a:xfrm>
            <a:off x="7726680" y="3611880"/>
            <a:ext cx="0" cy="274320"/>
          </a:xfrm>
          <a:prstGeom prst="line">
            <a:avLst/>
          </a:prstGeom>
          <a:noFill/>
          <a:ln w="19050">
            <a:solidFill>
              <a:srgbClr val="5B6B82"/>
            </a:solidFill>
            <a:prstDash val="solid"/>
          </a:ln>
        </p:spPr>
        <p:txBody>
          <a:bodyPr/>
          <a:lstStyle/>
          <a:p>
            <a:endParaRPr/>
          </a:p>
        </p:txBody>
      </p:sp>
      <p:sp>
        <p:nvSpPr>
          <p:cNvPr id="18" name="Shape 15"/>
          <p:cNvSpPr/>
          <p:nvPr/>
        </p:nvSpPr>
        <p:spPr>
          <a:xfrm>
            <a:off x="10195560" y="3611880"/>
            <a:ext cx="0" cy="274320"/>
          </a:xfrm>
          <a:prstGeom prst="line">
            <a:avLst/>
          </a:prstGeom>
          <a:noFill/>
          <a:ln w="19050">
            <a:solidFill>
              <a:srgbClr val="5B6B82"/>
            </a:solidFill>
            <a:prstDash val="solid"/>
          </a:ln>
        </p:spPr>
        <p:txBody>
          <a:bodyPr/>
          <a:lstStyle/>
          <a:p>
            <a:endParaRPr/>
          </a:p>
        </p:txBody>
      </p:sp>
      <p:sp>
        <p:nvSpPr>
          <p:cNvPr id="19" name="Text 16"/>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TOPIC 1 · LAYERING &amp; PROTOCOLS</a:t>
            </a:r>
            <a:endParaRPr lang="en-US" sz="1000" dirty="0"/>
          </a:p>
        </p:txBody>
      </p:sp>
      <p:sp>
        <p:nvSpPr>
          <p:cNvPr id="20" name="TextBox 19"/>
          <p:cNvSpPr txBox="1"/>
          <p:nvPr/>
        </p:nvSpPr>
        <p:spPr>
          <a:xfrm>
            <a:off x="11792000" y="6638000"/>
            <a:ext cx="200000" cy="100000"/>
          </a:xfrm>
          <a:prstGeom prst="rect">
            <a:avLst/>
          </a:prstGeom>
          <a:noFill/>
        </p:spPr>
        <p:txBody>
          <a:bodyPr wrap="none">
            <a:spAutoFit/>
          </a:bodyPr>
          <a:lstStyle/>
          <a:p>
            <a:pPr>
              <a:defRPr sz="1000"/>
            </a:pPr>
            <a: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92218"/>
            <a:ext cx="9144000" cy="274320"/>
          </a:xfrm>
          <a:prstGeom prst="rect">
            <a:avLst/>
          </a:prstGeom>
          <a:noFill/>
          <a:ln/>
        </p:spPr>
        <p:txBody>
          <a:bodyPr wrap="square" lIns="0" tIns="0" rIns="0" bIns="0" rtlCol="0" anchor="ctr"/>
          <a:lstStyle/>
          <a:p>
            <a:pPr marL="0" indent="0">
              <a:buNone/>
            </a:pPr>
            <a:r>
              <a:rPr lang="en-US" sz="1200" b="1" kern="0" spc="200" dirty="0">
                <a:solidFill>
                  <a:srgbClr val="0091AD"/>
                </a:solidFill>
                <a:latin typeface="Calibri" pitchFamily="34" charset="0"/>
                <a:ea typeface="Calibri" pitchFamily="34" charset="-122"/>
                <a:cs typeface="Calibri" pitchFamily="34" charset="-120"/>
              </a:rPr>
              <a:t>TOPIC 1 · LAYERING &amp; PROTOCOLS</a:t>
            </a:r>
            <a:endParaRPr lang="en-US" sz="1200" dirty="0"/>
          </a:p>
        </p:txBody>
      </p:sp>
      <p:sp>
        <p:nvSpPr>
          <p:cNvPr id="3" name="Text 1"/>
          <p:cNvSpPr/>
          <p:nvPr/>
        </p:nvSpPr>
        <p:spPr>
          <a:xfrm>
            <a:off x="1051560" y="374904"/>
            <a:ext cx="10424160" cy="822960"/>
          </a:xfrm>
          <a:prstGeom prst="rect">
            <a:avLst/>
          </a:prstGeom>
          <a:noFill/>
          <a:ln/>
        </p:spPr>
        <p:txBody>
          <a:bodyPr wrap="square" lIns="0" tIns="0" rIns="0" bIns="0" rtlCol="0" anchor="t"/>
          <a:lstStyle/>
          <a:p>
            <a:pPr marL="0" indent="0">
              <a:buNone/>
            </a:pPr>
            <a:r>
              <a:rPr lang="en-US" sz="3600" b="1" dirty="0">
                <a:solidFill>
                  <a:srgbClr val="13315C"/>
                </a:solidFill>
                <a:latin typeface="Bookman Old Style" pitchFamily="34" charset="0"/>
                <a:ea typeface="Bookman Old Style" pitchFamily="34" charset="-122"/>
                <a:cs typeface="Bookman Old Style" pitchFamily="34" charset="-120"/>
              </a:rPr>
              <a:t>Protocols: Two Interfaces</a:t>
            </a:r>
            <a:endParaRPr lang="en-US" sz="3600" dirty="0"/>
          </a:p>
        </p:txBody>
      </p:sp>
      <p:sp>
        <p:nvSpPr>
          <p:cNvPr id="6" name="Text 3"/>
          <p:cNvSpPr/>
          <p:nvPr/>
        </p:nvSpPr>
        <p:spPr>
          <a:xfrm>
            <a:off x="685800" y="971245"/>
            <a:ext cx="5669280" cy="3741906"/>
          </a:xfrm>
          <a:prstGeom prst="rect">
            <a:avLst/>
          </a:prstGeom>
          <a:noFill/>
          <a:ln/>
        </p:spPr>
        <p:txBody>
          <a:bodyPr wrap="square" lIns="0" tIns="0" rIns="0" bIns="0" rtlCol="0" anchor="t"/>
          <a:lstStyle/>
          <a:p>
            <a:pPr marL="342900" indent="-342900" algn="just">
              <a:lnSpc>
                <a:spcPct val="108000"/>
              </a:lnSpc>
              <a:spcAft>
                <a:spcPts val="1200"/>
              </a:spcAft>
              <a:buSzPct val="100000"/>
              <a:buChar char="●"/>
            </a:pPr>
            <a:r>
              <a:rPr lang="en-US" sz="2000" b="1" dirty="0">
                <a:solidFill>
                  <a:srgbClr val="13315C"/>
                </a:solidFill>
                <a:latin typeface="Calibri" pitchFamily="34" charset="0"/>
                <a:ea typeface="Calibri" pitchFamily="34" charset="-122"/>
                <a:cs typeface="Calibri" pitchFamily="34" charset="-120"/>
              </a:rPr>
              <a:t>Protocol: An object that provides a communication service used by higher-level objects to exchange messages.</a:t>
            </a:r>
            <a:endParaRPr lang="en-US" sz="2000" dirty="0"/>
          </a:p>
          <a:p>
            <a:pPr marL="342900" indent="-342900" algn="just">
              <a:lnSpc>
                <a:spcPct val="108000"/>
              </a:lnSpc>
              <a:spcAft>
                <a:spcPts val="1200"/>
              </a:spcAft>
              <a:buSzPct val="100000"/>
              <a:buChar char="●"/>
            </a:pPr>
            <a:r>
              <a:rPr lang="en-US" sz="2000" dirty="0">
                <a:solidFill>
                  <a:srgbClr val="13315C"/>
                </a:solidFill>
                <a:latin typeface="Calibri" pitchFamily="34" charset="0"/>
                <a:ea typeface="Calibri" pitchFamily="34" charset="-122"/>
                <a:cs typeface="Calibri" pitchFamily="34" charset="-120"/>
              </a:rPr>
              <a:t>Every protocol defines two distinct interfaces:</a:t>
            </a:r>
            <a:endParaRPr lang="en-US" sz="2000" dirty="0"/>
          </a:p>
          <a:p>
            <a:pPr marL="685800" lvl="1" indent="-342900" algn="just">
              <a:lnSpc>
                <a:spcPct val="108000"/>
              </a:lnSpc>
              <a:spcAft>
                <a:spcPts val="600"/>
              </a:spcAft>
              <a:buSzPct val="100000"/>
              <a:buChar char="–"/>
            </a:pPr>
            <a:r>
              <a:rPr lang="en-US" dirty="0">
                <a:solidFill>
                  <a:srgbClr val="13315C"/>
                </a:solidFill>
                <a:latin typeface="Calibri" pitchFamily="34" charset="0"/>
                <a:ea typeface="Calibri" pitchFamily="34" charset="-122"/>
                <a:cs typeface="Calibri" pitchFamily="34" charset="-120"/>
              </a:rPr>
              <a:t>Service interface — operations local objects use to invoke the protocol's service (e.g. send / receive).</a:t>
            </a:r>
            <a:endParaRPr lang="en-US" sz="2000" dirty="0"/>
          </a:p>
          <a:p>
            <a:pPr marL="685800" lvl="1" indent="-342900" algn="just">
              <a:lnSpc>
                <a:spcPct val="108000"/>
              </a:lnSpc>
              <a:spcAft>
                <a:spcPts val="600"/>
              </a:spcAft>
              <a:buSzPct val="100000"/>
              <a:buChar char="–"/>
            </a:pPr>
            <a:r>
              <a:rPr lang="en-US" dirty="0">
                <a:solidFill>
                  <a:srgbClr val="13315C"/>
                </a:solidFill>
                <a:latin typeface="Calibri" pitchFamily="34" charset="0"/>
                <a:ea typeface="Calibri" pitchFamily="34" charset="-122"/>
                <a:cs typeface="Calibri" pitchFamily="34" charset="-120"/>
              </a:rPr>
              <a:t>Peer interface — the form and meaning of messages exchanged with its counterpart on another machine.</a:t>
            </a:r>
            <a:endParaRPr lang="en-US" sz="2000" dirty="0"/>
          </a:p>
          <a:p>
            <a:pPr marL="342900" indent="-342900" algn="just">
              <a:lnSpc>
                <a:spcPct val="108000"/>
              </a:lnSpc>
              <a:spcAft>
                <a:spcPts val="1200"/>
              </a:spcAft>
              <a:buSzPct val="100000"/>
              <a:buChar char="●"/>
            </a:pPr>
            <a:r>
              <a:rPr lang="en-US" sz="2000" dirty="0">
                <a:solidFill>
                  <a:srgbClr val="13315C"/>
                </a:solidFill>
                <a:latin typeface="Calibri" pitchFamily="34" charset="0"/>
                <a:ea typeface="Calibri" pitchFamily="34" charset="-122"/>
                <a:cs typeface="Calibri" pitchFamily="34" charset="-120"/>
              </a:rPr>
              <a:t>Example: HTTP's service interface lets a browser 'fetch a page'; its peer interface defines exactly how a GET request is formatted.</a:t>
            </a:r>
            <a:endParaRPr lang="en-US" sz="2000" dirty="0"/>
          </a:p>
        </p:txBody>
      </p:sp>
      <p:sp>
        <p:nvSpPr>
          <p:cNvPr id="8" name="Text 5"/>
          <p:cNvSpPr/>
          <p:nvPr/>
        </p:nvSpPr>
        <p:spPr>
          <a:xfrm>
            <a:off x="6583680" y="2011680"/>
            <a:ext cx="2240280" cy="10058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Host A</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Protocol</a:t>
            </a:r>
            <a:endParaRPr lang="en-US" sz="1400" dirty="0"/>
          </a:p>
        </p:txBody>
      </p:sp>
      <p:sp>
        <p:nvSpPr>
          <p:cNvPr id="10" name="Text 7"/>
          <p:cNvSpPr/>
          <p:nvPr/>
        </p:nvSpPr>
        <p:spPr>
          <a:xfrm>
            <a:off x="9189720" y="2011680"/>
            <a:ext cx="2240280" cy="10058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Host B</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Protocol</a:t>
            </a:r>
            <a:endParaRPr lang="en-US" sz="1400" dirty="0"/>
          </a:p>
        </p:txBody>
      </p:sp>
      <p:sp>
        <p:nvSpPr>
          <p:cNvPr id="18" name="Text 15"/>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TOPIC 1 · LAYERING &amp; PROTOCOLS</a:t>
            </a:r>
            <a:endParaRPr lang="en-US" sz="1000" dirty="0"/>
          </a:p>
        </p:txBody>
      </p:sp>
      <p:pic>
        <p:nvPicPr>
          <p:cNvPr id="5" name="Picture 4">
            <a:extLst>
              <a:ext uri="{FF2B5EF4-FFF2-40B4-BE49-F238E27FC236}">
                <a16:creationId xmlns:a16="http://schemas.microsoft.com/office/drawing/2014/main" id="{1A0CEBAC-C705-C4C1-6BE6-B868CD36B8E8}"/>
              </a:ext>
            </a:extLst>
          </p:cNvPr>
          <p:cNvPicPr>
            <a:picLocks noChangeAspect="1"/>
          </p:cNvPicPr>
          <p:nvPr/>
        </p:nvPicPr>
        <p:blipFill>
          <a:blip r:embed="rId3"/>
          <a:stretch>
            <a:fillRect/>
          </a:stretch>
        </p:blipFill>
        <p:spPr>
          <a:xfrm>
            <a:off x="6629400" y="1124643"/>
            <a:ext cx="5120640" cy="3243782"/>
          </a:xfrm>
          <a:prstGeom prst="rect">
            <a:avLst/>
          </a:prstGeom>
        </p:spPr>
      </p:pic>
      <p:sp>
        <p:nvSpPr>
          <p:cNvPr id="20" name="TextBox 19">
            <a:extLst>
              <a:ext uri="{FF2B5EF4-FFF2-40B4-BE49-F238E27FC236}">
                <a16:creationId xmlns:a16="http://schemas.microsoft.com/office/drawing/2014/main" id="{5108CA82-30BB-179C-BDC6-E73D6F46277D}"/>
              </a:ext>
            </a:extLst>
          </p:cNvPr>
          <p:cNvSpPr txBox="1"/>
          <p:nvPr/>
        </p:nvSpPr>
        <p:spPr>
          <a:xfrm>
            <a:off x="7479598" y="4482803"/>
            <a:ext cx="4270442" cy="369332"/>
          </a:xfrm>
          <a:prstGeom prst="rect">
            <a:avLst/>
          </a:prstGeom>
          <a:noFill/>
        </p:spPr>
        <p:txBody>
          <a:bodyPr wrap="square" rtlCol="0">
            <a:spAutoFit/>
          </a:bodyPr>
          <a:lstStyle/>
          <a:p>
            <a:r>
              <a:rPr lang="en-US" i="1" dirty="0"/>
              <a:t>Service interfaces and peer interfaces</a:t>
            </a:r>
            <a:endParaRPr lang="en-IN" i="1" dirty="0"/>
          </a:p>
        </p:txBody>
      </p:sp>
      <p:sp>
        <p:nvSpPr>
          <p:cNvPr id="22" name="TextBox 21">
            <a:extLst>
              <a:ext uri="{FF2B5EF4-FFF2-40B4-BE49-F238E27FC236}">
                <a16:creationId xmlns:a16="http://schemas.microsoft.com/office/drawing/2014/main" id="{C50296D4-6AC5-6B35-896C-E113DD826A9C}"/>
              </a:ext>
            </a:extLst>
          </p:cNvPr>
          <p:cNvSpPr txBox="1"/>
          <p:nvPr/>
        </p:nvSpPr>
        <p:spPr>
          <a:xfrm>
            <a:off x="2634250" y="5116424"/>
            <a:ext cx="6980569" cy="1200329"/>
          </a:xfrm>
          <a:prstGeom prst="rect">
            <a:avLst/>
          </a:prstGeom>
          <a:solidFill>
            <a:schemeClr val="bg2">
              <a:lumMod val="75000"/>
            </a:schemeClr>
          </a:solidFill>
        </p:spPr>
        <p:txBody>
          <a:bodyPr wrap="square">
            <a:spAutoFit/>
          </a:bodyPr>
          <a:lstStyle/>
          <a:p>
            <a:pPr algn="l"/>
            <a:r>
              <a:rPr lang="en-US" sz="1800" b="0" i="0" u="none" strike="noStrike" baseline="0" dirty="0">
                <a:solidFill>
                  <a:srgbClr val="002060"/>
                </a:solidFill>
                <a:latin typeface="Utopia-Regular"/>
              </a:rPr>
              <a:t>To summarize, a protocol defines a communication service that it</a:t>
            </a:r>
          </a:p>
          <a:p>
            <a:pPr algn="l"/>
            <a:r>
              <a:rPr lang="en-US" sz="1800" b="0" i="0" u="none" strike="noStrike" baseline="0" dirty="0">
                <a:solidFill>
                  <a:srgbClr val="002060"/>
                </a:solidFill>
                <a:latin typeface="Utopia-Regular"/>
              </a:rPr>
              <a:t>exports locally (the service interface), along with a set of rules governing</a:t>
            </a:r>
          </a:p>
          <a:p>
            <a:pPr algn="l"/>
            <a:r>
              <a:rPr lang="en-US" sz="1800" b="0" i="0" u="none" strike="noStrike" baseline="0" dirty="0">
                <a:solidFill>
                  <a:srgbClr val="002060"/>
                </a:solidFill>
                <a:latin typeface="Utopia-Regular"/>
              </a:rPr>
              <a:t>the messages that the protocol exchanges with its peer(s) to implement</a:t>
            </a:r>
          </a:p>
          <a:p>
            <a:pPr algn="l"/>
            <a:r>
              <a:rPr lang="en-US" sz="1800" b="0" i="0" u="none" strike="noStrike" baseline="0" dirty="0">
                <a:solidFill>
                  <a:srgbClr val="002060"/>
                </a:solidFill>
                <a:latin typeface="Utopia-Regular"/>
              </a:rPr>
              <a:t>this service (the peer interface).</a:t>
            </a:r>
            <a:endParaRPr lang="en-IN" dirty="0">
              <a:solidFill>
                <a:srgbClr val="002060"/>
              </a:solidFill>
            </a:endParaRPr>
          </a:p>
        </p:txBody>
      </p:sp>
      <p:sp>
        <p:nvSpPr>
          <p:cNvPr id="23" name="TextBox 22"/>
          <p:cNvSpPr txBox="1"/>
          <p:nvPr/>
        </p:nvSpPr>
        <p:spPr>
          <a:xfrm>
            <a:off x="11792000" y="6638000"/>
            <a:ext cx="200000" cy="100000"/>
          </a:xfrm>
          <a:prstGeom prst="rect">
            <a:avLst/>
          </a:prstGeom>
          <a:noFill/>
        </p:spPr>
        <p:txBody>
          <a:bodyPr wrap="none">
            <a:spAutoFit/>
          </a:bodyPr>
          <a:lstStyle/>
          <a:p>
            <a:pPr>
              <a:defRPr sz="1000"/>
            </a:pPr>
            <a: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0091AD"/>
                </a:solidFill>
                <a:latin typeface="Calibri" pitchFamily="34" charset="0"/>
                <a:ea typeface="Calibri" pitchFamily="34" charset="-122"/>
                <a:cs typeface="Calibri" pitchFamily="34" charset="-120"/>
              </a:rPr>
              <a:t>TOPIC 1 · LAYERING &amp; PROTOCOLS</a:t>
            </a:r>
            <a:endParaRPr lang="en-US" sz="1200" dirty="0"/>
          </a:p>
        </p:txBody>
      </p:sp>
      <p:sp>
        <p:nvSpPr>
          <p:cNvPr id="3" name="Text 1"/>
          <p:cNvSpPr/>
          <p:nvPr/>
        </p:nvSpPr>
        <p:spPr>
          <a:xfrm>
            <a:off x="548640" y="566928"/>
            <a:ext cx="10424160" cy="822960"/>
          </a:xfrm>
          <a:prstGeom prst="rect">
            <a:avLst/>
          </a:prstGeom>
          <a:noFill/>
          <a:ln/>
        </p:spPr>
        <p:txBody>
          <a:bodyPr wrap="square" lIns="0" tIns="0" rIns="0" bIns="0" rtlCol="0" anchor="t"/>
          <a:lstStyle/>
          <a:p>
            <a:pPr marL="0" indent="0">
              <a:buNone/>
            </a:pPr>
            <a:r>
              <a:rPr lang="en-US" sz="3000" b="1" dirty="0">
                <a:solidFill>
                  <a:srgbClr val="13315C"/>
                </a:solidFill>
                <a:latin typeface="Bookman Old Style" pitchFamily="34" charset="0"/>
                <a:ea typeface="Bookman Old Style" pitchFamily="34" charset="-122"/>
                <a:cs typeface="Bookman Old Style" pitchFamily="34" charset="-120"/>
              </a:rPr>
              <a:t>Protocol Graph: RRP, MSP, and HHP</a:t>
            </a:r>
            <a:endParaRPr lang="en-US" sz="3000" dirty="0"/>
          </a:p>
        </p:txBody>
      </p:sp>
      <p:sp>
        <p:nvSpPr>
          <p:cNvPr id="6" name="Text 3"/>
          <p:cNvSpPr/>
          <p:nvPr/>
        </p:nvSpPr>
        <p:spPr>
          <a:xfrm>
            <a:off x="548640" y="1463040"/>
            <a:ext cx="5916168" cy="5010912"/>
          </a:xfrm>
          <a:prstGeom prst="rect">
            <a:avLst/>
          </a:prstGeom>
          <a:noFill/>
          <a:ln/>
        </p:spPr>
        <p:txBody>
          <a:bodyPr wrap="square" lIns="0" tIns="0" rIns="0" bIns="0" rtlCol="0" anchor="t"/>
          <a:lstStyle/>
          <a:p>
            <a:pPr marL="342900" indent="-342900">
              <a:lnSpc>
                <a:spcPct val="108000"/>
              </a:lnSpc>
              <a:spcAft>
                <a:spcPts val="1200"/>
              </a:spcAft>
              <a:buSzPct val="100000"/>
              <a:buChar char="●"/>
            </a:pPr>
            <a:r>
              <a:rPr lang="en-US" sz="2000" dirty="0">
                <a:solidFill>
                  <a:srgbClr val="13315C"/>
                </a:solidFill>
                <a:latin typeface="Calibri" pitchFamily="34" charset="0"/>
                <a:ea typeface="Calibri" pitchFamily="34" charset="-122"/>
                <a:cs typeface="Calibri" pitchFamily="34" charset="-120"/>
              </a:rPr>
              <a:t>A protocol graph represents the suite of protocols in a system: nodes are protocols, edges show a 'depends on' relation.</a:t>
            </a:r>
            <a:endParaRPr lang="en-US" sz="2000" dirty="0"/>
          </a:p>
          <a:p>
            <a:pPr marL="342900" indent="-342900">
              <a:lnSpc>
                <a:spcPct val="108000"/>
              </a:lnSpc>
              <a:spcAft>
                <a:spcPts val="1200"/>
              </a:spcAft>
              <a:buSzPct val="100000"/>
              <a:buChar char="●"/>
            </a:pPr>
            <a:r>
              <a:rPr lang="en-US" sz="2000" dirty="0">
                <a:solidFill>
                  <a:srgbClr val="13315C"/>
                </a:solidFill>
                <a:latin typeface="Calibri" pitchFamily="34" charset="0"/>
                <a:ea typeface="Calibri" pitchFamily="34" charset="-122"/>
                <a:cs typeface="Calibri" pitchFamily="34" charset="-120"/>
              </a:rPr>
              <a:t>RRP (Request/Reply Protocol) and MSP (Message Stream Protocol) both depend on HHP (Host-to-Host Protocol).</a:t>
            </a:r>
            <a:endParaRPr lang="en-US" sz="2000" dirty="0"/>
          </a:p>
          <a:p>
            <a:pPr marL="342900" indent="-342900">
              <a:lnSpc>
                <a:spcPct val="108000"/>
              </a:lnSpc>
              <a:spcAft>
                <a:spcPts val="1200"/>
              </a:spcAft>
              <a:buSzPct val="100000"/>
              <a:buChar char="●"/>
            </a:pPr>
            <a:r>
              <a:rPr lang="en-US" sz="2000" dirty="0">
                <a:solidFill>
                  <a:srgbClr val="13315C"/>
                </a:solidFill>
                <a:latin typeface="Calibri" pitchFamily="34" charset="0"/>
                <a:ea typeface="Calibri" pitchFamily="34" charset="-122"/>
                <a:cs typeface="Calibri" pitchFamily="34" charset="-120"/>
              </a:rPr>
              <a:t>To send a message, the file application asks RRP; RRP invokes HHP; HHP delivers it to its peer on Host 2, which passes it back up to RRP, then to the application.</a:t>
            </a:r>
            <a:endParaRPr lang="en-US" sz="2000" dirty="0"/>
          </a:p>
          <a:p>
            <a:pPr marL="342900" indent="-342900">
              <a:lnSpc>
                <a:spcPct val="108000"/>
              </a:lnSpc>
              <a:spcAft>
                <a:spcPts val="1200"/>
              </a:spcAft>
              <a:buSzPct val="100000"/>
              <a:buChar char="●"/>
            </a:pPr>
            <a:r>
              <a:rPr lang="en-US" sz="2000" dirty="0">
                <a:solidFill>
                  <a:srgbClr val="13315C"/>
                </a:solidFill>
                <a:latin typeface="Calibri" pitchFamily="34" charset="0"/>
                <a:ea typeface="Calibri" pitchFamily="34" charset="-122"/>
                <a:cs typeface="Calibri" pitchFamily="34" charset="-120"/>
              </a:rPr>
              <a:t>This path — RRP over HHP — is called a protocol stack</a:t>
            </a:r>
            <a:r>
              <a:rPr lang="en-US" dirty="0">
                <a:solidFill>
                  <a:srgbClr val="13315C"/>
                </a:solidFill>
                <a:latin typeface="Calibri" pitchFamily="34" charset="0"/>
                <a:ea typeface="Calibri" pitchFamily="34" charset="-122"/>
                <a:cs typeface="Calibri" pitchFamily="34" charset="-120"/>
              </a:rPr>
              <a:t>.</a:t>
            </a:r>
            <a:endParaRPr lang="en-US" dirty="0"/>
          </a:p>
        </p:txBody>
      </p:sp>
      <p:sp>
        <p:nvSpPr>
          <p:cNvPr id="9" name="Text 6"/>
          <p:cNvSpPr/>
          <p:nvPr/>
        </p:nvSpPr>
        <p:spPr>
          <a:xfrm>
            <a:off x="6035040" y="1828800"/>
            <a:ext cx="246888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File App</a:t>
            </a:r>
            <a:endParaRPr lang="en-US" sz="1200" dirty="0"/>
          </a:p>
        </p:txBody>
      </p:sp>
      <p:sp>
        <p:nvSpPr>
          <p:cNvPr id="11" name="Text 8"/>
          <p:cNvSpPr/>
          <p:nvPr/>
        </p:nvSpPr>
        <p:spPr>
          <a:xfrm>
            <a:off x="6035040" y="2514600"/>
            <a:ext cx="1161288" cy="50292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RRP</a:t>
            </a:r>
            <a:endParaRPr lang="en-US" sz="1150" dirty="0"/>
          </a:p>
        </p:txBody>
      </p:sp>
      <p:sp>
        <p:nvSpPr>
          <p:cNvPr id="13" name="Text 10"/>
          <p:cNvSpPr/>
          <p:nvPr/>
        </p:nvSpPr>
        <p:spPr>
          <a:xfrm>
            <a:off x="7342632" y="2514600"/>
            <a:ext cx="1161288" cy="50292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MS</a:t>
            </a:r>
            <a:endParaRPr lang="en-US" sz="1150" dirty="0"/>
          </a:p>
        </p:txBody>
      </p:sp>
      <p:sp>
        <p:nvSpPr>
          <p:cNvPr id="15" name="Text 12"/>
          <p:cNvSpPr/>
          <p:nvPr/>
        </p:nvSpPr>
        <p:spPr>
          <a:xfrm>
            <a:off x="6035040" y="3200400"/>
            <a:ext cx="246888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HHP</a:t>
            </a:r>
            <a:endParaRPr lang="en-US" sz="1200" dirty="0"/>
          </a:p>
        </p:txBody>
      </p:sp>
      <p:sp>
        <p:nvSpPr>
          <p:cNvPr id="21" name="Text 18"/>
          <p:cNvSpPr/>
          <p:nvPr/>
        </p:nvSpPr>
        <p:spPr>
          <a:xfrm>
            <a:off x="9235440" y="1828800"/>
            <a:ext cx="246888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File App</a:t>
            </a:r>
            <a:endParaRPr lang="en-US" sz="1200" dirty="0"/>
          </a:p>
        </p:txBody>
      </p:sp>
      <p:sp>
        <p:nvSpPr>
          <p:cNvPr id="23" name="Text 20"/>
          <p:cNvSpPr/>
          <p:nvPr/>
        </p:nvSpPr>
        <p:spPr>
          <a:xfrm>
            <a:off x="9235440" y="2514600"/>
            <a:ext cx="1161288" cy="50292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RRP</a:t>
            </a:r>
            <a:endParaRPr lang="en-US" sz="1150" dirty="0"/>
          </a:p>
        </p:txBody>
      </p:sp>
      <p:sp>
        <p:nvSpPr>
          <p:cNvPr id="25" name="Text 22"/>
          <p:cNvSpPr/>
          <p:nvPr/>
        </p:nvSpPr>
        <p:spPr>
          <a:xfrm>
            <a:off x="10543032" y="2514600"/>
            <a:ext cx="1161288" cy="50292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MSP</a:t>
            </a:r>
            <a:endParaRPr lang="en-US" sz="1150" dirty="0"/>
          </a:p>
        </p:txBody>
      </p:sp>
      <p:sp>
        <p:nvSpPr>
          <p:cNvPr id="27" name="Text 24"/>
          <p:cNvSpPr/>
          <p:nvPr/>
        </p:nvSpPr>
        <p:spPr>
          <a:xfrm>
            <a:off x="9235440" y="3200400"/>
            <a:ext cx="246888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HHP</a:t>
            </a:r>
            <a:endParaRPr lang="en-US" sz="1200" dirty="0"/>
          </a:p>
        </p:txBody>
      </p:sp>
      <p:sp>
        <p:nvSpPr>
          <p:cNvPr id="33" name="Text 30"/>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TOPIC 1 · LAYERING &amp; PROTOCOLS</a:t>
            </a:r>
            <a:endParaRPr lang="en-US" sz="1000" dirty="0"/>
          </a:p>
        </p:txBody>
      </p:sp>
      <p:pic>
        <p:nvPicPr>
          <p:cNvPr id="5" name="Picture 4">
            <a:extLst>
              <a:ext uri="{FF2B5EF4-FFF2-40B4-BE49-F238E27FC236}">
                <a16:creationId xmlns:a16="http://schemas.microsoft.com/office/drawing/2014/main" id="{FE724EB1-DA83-706B-DED6-C99FBC269255}"/>
              </a:ext>
            </a:extLst>
          </p:cNvPr>
          <p:cNvPicPr>
            <a:picLocks noChangeAspect="1"/>
          </p:cNvPicPr>
          <p:nvPr/>
        </p:nvPicPr>
        <p:blipFill>
          <a:blip r:embed="rId3"/>
          <a:stretch>
            <a:fillRect/>
          </a:stretch>
        </p:blipFill>
        <p:spPr>
          <a:xfrm>
            <a:off x="7196328" y="1531620"/>
            <a:ext cx="4710327" cy="3840480"/>
          </a:xfrm>
          <a:prstGeom prst="rect">
            <a:avLst/>
          </a:prstGeom>
        </p:spPr>
      </p:pic>
      <p:sp>
        <p:nvSpPr>
          <p:cNvPr id="34" name="TextBox 33"/>
          <p:cNvSpPr txBox="1"/>
          <p:nvPr/>
        </p:nvSpPr>
        <p:spPr>
          <a:xfrm>
            <a:off x="11792000" y="6638000"/>
            <a:ext cx="200000" cy="100000"/>
          </a:xfrm>
          <a:prstGeom prst="rect">
            <a:avLst/>
          </a:prstGeom>
          <a:noFill/>
        </p:spPr>
        <p:txBody>
          <a:bodyPr wrap="none">
            <a:spAutoFit/>
          </a:bodyPr>
          <a:lstStyle/>
          <a:p>
            <a:pPr>
              <a:defRPr sz="1000"/>
            </a:pPr>
            <a: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182880"/>
            <a:ext cx="9144000" cy="274320"/>
          </a:xfrm>
          <a:prstGeom prst="rect">
            <a:avLst/>
          </a:prstGeom>
          <a:noFill/>
          <a:ln/>
        </p:spPr>
        <p:txBody>
          <a:bodyPr wrap="square" lIns="0" tIns="0" rIns="0" bIns="0" rtlCol="0" anchor="ctr"/>
          <a:lstStyle/>
          <a:p>
            <a:pPr marL="0" indent="0">
              <a:buNone/>
            </a:pPr>
            <a:r>
              <a:rPr lang="en-US" sz="1200" b="1" kern="0" spc="200" dirty="0">
                <a:solidFill>
                  <a:srgbClr val="0091AD"/>
                </a:solidFill>
                <a:latin typeface="Calibri" pitchFamily="34" charset="0"/>
                <a:ea typeface="Calibri" pitchFamily="34" charset="-122"/>
                <a:cs typeface="Calibri" pitchFamily="34" charset="-120"/>
              </a:rPr>
              <a:t>TOPIC 1 · LAYERING &amp; PROTOCOLS</a:t>
            </a:r>
            <a:endParaRPr lang="en-US" sz="1200" dirty="0"/>
          </a:p>
        </p:txBody>
      </p:sp>
      <p:sp>
        <p:nvSpPr>
          <p:cNvPr id="3" name="Text 1"/>
          <p:cNvSpPr/>
          <p:nvPr/>
        </p:nvSpPr>
        <p:spPr>
          <a:xfrm>
            <a:off x="548640" y="566928"/>
            <a:ext cx="10424160" cy="822960"/>
          </a:xfrm>
          <a:prstGeom prst="rect">
            <a:avLst/>
          </a:prstGeom>
          <a:noFill/>
          <a:ln/>
        </p:spPr>
        <p:txBody>
          <a:bodyPr wrap="square" lIns="0" tIns="0" rIns="0" bIns="0" rtlCol="0" anchor="t"/>
          <a:lstStyle/>
          <a:p>
            <a:pPr marL="0" indent="0">
              <a:buNone/>
            </a:pPr>
            <a:r>
              <a:rPr lang="en-US" sz="3200" b="1" dirty="0">
                <a:solidFill>
                  <a:srgbClr val="13315C"/>
                </a:solidFill>
                <a:latin typeface="Bookman Old Style" pitchFamily="34" charset="0"/>
                <a:ea typeface="Bookman Old Style" pitchFamily="34" charset="-122"/>
                <a:cs typeface="Bookman Old Style" pitchFamily="34" charset="-120"/>
              </a:rPr>
              <a:t>Specification vs. Implementation</a:t>
            </a:r>
            <a:endParaRPr lang="en-US" sz="3200" dirty="0"/>
          </a:p>
        </p:txBody>
      </p:sp>
      <p:sp>
        <p:nvSpPr>
          <p:cNvPr id="6" name="Text 3"/>
          <p:cNvSpPr/>
          <p:nvPr/>
        </p:nvSpPr>
        <p:spPr>
          <a:xfrm>
            <a:off x="548640" y="1600200"/>
            <a:ext cx="11064240" cy="4572000"/>
          </a:xfrm>
          <a:prstGeom prst="rect">
            <a:avLst/>
          </a:prstGeom>
          <a:noFill/>
          <a:ln/>
        </p:spPr>
        <p:txBody>
          <a:bodyPr wrap="square" lIns="0" tIns="0" rIns="0" bIns="0" rtlCol="0" anchor="t"/>
          <a:lstStyle/>
          <a:p>
            <a:pPr marL="342900" indent="-342900">
              <a:lnSpc>
                <a:spcPct val="108000"/>
              </a:lnSpc>
              <a:spcAft>
                <a:spcPts val="1200"/>
              </a:spcAft>
              <a:buSzPct val="100000"/>
              <a:buChar char="●"/>
            </a:pPr>
            <a:r>
              <a:rPr lang="en-US" sz="2400" b="1" dirty="0">
                <a:solidFill>
                  <a:srgbClr val="13315C"/>
                </a:solidFill>
                <a:latin typeface="Calibri" pitchFamily="34" charset="0"/>
                <a:ea typeface="Calibri" pitchFamily="34" charset="-122"/>
                <a:cs typeface="Calibri" pitchFamily="34" charset="-120"/>
              </a:rPr>
              <a:t>Protocol specification:</a:t>
            </a:r>
            <a:endParaRPr lang="en-US" sz="2400" dirty="0"/>
          </a:p>
          <a:p>
            <a:pPr marL="685800" lvl="1" indent="-342900">
              <a:lnSpc>
                <a:spcPct val="108000"/>
              </a:lnSpc>
              <a:spcAft>
                <a:spcPts val="600"/>
              </a:spcAft>
              <a:buSzPct val="100000"/>
              <a:buChar char="–"/>
            </a:pPr>
            <a:r>
              <a:rPr lang="en-IN" sz="2000" dirty="0">
                <a:solidFill>
                  <a:srgbClr val="13315C"/>
                </a:solidFill>
                <a:latin typeface="Calibri" pitchFamily="34" charset="0"/>
                <a:ea typeface="Calibri" pitchFamily="34" charset="-122"/>
                <a:cs typeface="Calibri" pitchFamily="34" charset="-120"/>
              </a:rPr>
              <a:t>A protocol specification is a document that defines how a protocol should work.</a:t>
            </a:r>
          </a:p>
          <a:p>
            <a:pPr marL="685800" lvl="1" indent="-342900">
              <a:lnSpc>
                <a:spcPct val="108000"/>
              </a:lnSpc>
              <a:spcAft>
                <a:spcPts val="600"/>
              </a:spcAft>
              <a:buSzPct val="100000"/>
              <a:buChar char="–"/>
            </a:pPr>
            <a:r>
              <a:rPr lang="en-US" sz="2000" dirty="0">
                <a:solidFill>
                  <a:srgbClr val="13315C"/>
                </a:solidFill>
                <a:latin typeface="Calibri" pitchFamily="34" charset="0"/>
                <a:ea typeface="Calibri" pitchFamily="34" charset="-122"/>
                <a:cs typeface="Calibri" pitchFamily="34" charset="-120"/>
              </a:rPr>
              <a:t>Expressed using prose, pseudocode, state diagrams, and packet-format pictures.</a:t>
            </a:r>
            <a:endParaRPr lang="en-US" sz="2400" dirty="0"/>
          </a:p>
          <a:p>
            <a:pPr marL="342900" indent="-342900">
              <a:lnSpc>
                <a:spcPct val="108000"/>
              </a:lnSpc>
              <a:spcAft>
                <a:spcPts val="1200"/>
              </a:spcAft>
              <a:buSzPct val="100000"/>
              <a:buChar char="●"/>
            </a:pPr>
            <a:r>
              <a:rPr lang="en-US" sz="2400" b="1" dirty="0">
                <a:solidFill>
                  <a:srgbClr val="13315C"/>
                </a:solidFill>
                <a:latin typeface="Calibri" pitchFamily="34" charset="0"/>
                <a:ea typeface="Calibri" pitchFamily="34" charset="-122"/>
                <a:cs typeface="Calibri" pitchFamily="34" charset="-120"/>
              </a:rPr>
              <a:t>Protocol implementation:</a:t>
            </a:r>
            <a:endParaRPr lang="en-US" sz="2400" dirty="0"/>
          </a:p>
          <a:p>
            <a:pPr marL="685800" lvl="1" indent="-342900">
              <a:lnSpc>
                <a:spcPct val="108000"/>
              </a:lnSpc>
              <a:spcAft>
                <a:spcPts val="600"/>
              </a:spcAft>
              <a:buSzPct val="100000"/>
              <a:buChar char="–"/>
            </a:pPr>
            <a:r>
              <a:rPr lang="en-US" sz="2000" dirty="0">
                <a:solidFill>
                  <a:srgbClr val="13315C"/>
                </a:solidFill>
                <a:latin typeface="Calibri" pitchFamily="34" charset="0"/>
                <a:ea typeface="Calibri" pitchFamily="34" charset="-122"/>
                <a:cs typeface="Calibri" pitchFamily="34" charset="-120"/>
              </a:rPr>
              <a:t>A module (software) that actually realises the specification.</a:t>
            </a:r>
            <a:endParaRPr lang="en-US" sz="2400" dirty="0"/>
          </a:p>
          <a:p>
            <a:pPr marL="685800" lvl="1" indent="-342900">
              <a:lnSpc>
                <a:spcPct val="108000"/>
              </a:lnSpc>
              <a:spcAft>
                <a:spcPts val="600"/>
              </a:spcAft>
              <a:buSzPct val="100000"/>
              <a:buChar char="–"/>
            </a:pPr>
            <a:r>
              <a:rPr lang="en-US" sz="2000" dirty="0">
                <a:solidFill>
                  <a:srgbClr val="13315C"/>
                </a:solidFill>
                <a:latin typeface="Calibri" pitchFamily="34" charset="0"/>
                <a:ea typeface="Calibri" pitchFamily="34" charset="-122"/>
                <a:cs typeface="Calibri" pitchFamily="34" charset="-120"/>
              </a:rPr>
              <a:t>Different programmers can implement the same specification differently.</a:t>
            </a:r>
            <a:endParaRPr lang="en-US" sz="2400" dirty="0"/>
          </a:p>
          <a:p>
            <a:pPr marL="342900" indent="-342900">
              <a:lnSpc>
                <a:spcPct val="108000"/>
              </a:lnSpc>
              <a:spcAft>
                <a:spcPts val="1200"/>
              </a:spcAft>
              <a:buSzPct val="100000"/>
              <a:buChar char="●"/>
            </a:pPr>
            <a:r>
              <a:rPr lang="en-US" sz="2400" b="1" dirty="0">
                <a:solidFill>
                  <a:srgbClr val="13315C"/>
                </a:solidFill>
                <a:latin typeface="Calibri" pitchFamily="34" charset="0"/>
                <a:ea typeface="Calibri" pitchFamily="34" charset="-122"/>
                <a:cs typeface="Calibri" pitchFamily="34" charset="-120"/>
              </a:rPr>
              <a:t>Interoperability:</a:t>
            </a:r>
            <a:endParaRPr lang="en-US" sz="2400" dirty="0"/>
          </a:p>
          <a:p>
            <a:pPr marL="685800" lvl="1" indent="-342900">
              <a:lnSpc>
                <a:spcPct val="108000"/>
              </a:lnSpc>
              <a:spcAft>
                <a:spcPts val="600"/>
              </a:spcAft>
              <a:buSzPct val="100000"/>
              <a:buChar char="–"/>
            </a:pPr>
            <a:r>
              <a:rPr lang="en-US" sz="2000" dirty="0">
                <a:solidFill>
                  <a:srgbClr val="13315C"/>
                </a:solidFill>
                <a:latin typeface="Calibri" pitchFamily="34" charset="0"/>
                <a:ea typeface="Calibri" pitchFamily="34" charset="-122"/>
                <a:cs typeface="Calibri" pitchFamily="34" charset="-120"/>
              </a:rPr>
              <a:t>Two or more implementations that correctly follow a specification and can successfully exchange messages are said to interoperate.</a:t>
            </a:r>
            <a:endParaRPr lang="en-US" sz="2400" dirty="0"/>
          </a:p>
        </p:txBody>
      </p:sp>
      <p:sp>
        <p:nvSpPr>
          <p:cNvPr id="7" name="Text 4"/>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TOPIC 1 · LAYERING &amp; PROTOCOLS</a:t>
            </a:r>
            <a:endParaRPr lang="en-US" sz="1000" dirty="0"/>
          </a:p>
        </p:txBody>
      </p:sp>
      <p:sp>
        <p:nvSpPr>
          <p:cNvPr id="8" name="TextBox 7"/>
          <p:cNvSpPr txBox="1"/>
          <p:nvPr/>
        </p:nvSpPr>
        <p:spPr>
          <a:xfrm>
            <a:off x="11792000" y="6638000"/>
            <a:ext cx="200000" cy="100000"/>
          </a:xfrm>
          <a:prstGeom prst="rect">
            <a:avLst/>
          </a:prstGeom>
          <a:noFill/>
        </p:spPr>
        <p:txBody>
          <a:bodyPr wrap="none">
            <a:spAutoFit/>
          </a:bodyPr>
          <a:lstStyle/>
          <a:p>
            <a:pPr>
              <a:defRPr sz="1000"/>
            </a:pPr>
            <a: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0091AD"/>
                </a:solidFill>
                <a:latin typeface="Calibri" pitchFamily="34" charset="0"/>
                <a:ea typeface="Calibri" pitchFamily="34" charset="-122"/>
                <a:cs typeface="Calibri" pitchFamily="34" charset="-120"/>
              </a:rPr>
              <a:t>TOPIC 1 · LAYERING &amp; PROTOCOLS</a:t>
            </a:r>
            <a:endParaRPr lang="en-US" sz="1200" dirty="0"/>
          </a:p>
        </p:txBody>
      </p:sp>
      <p:sp>
        <p:nvSpPr>
          <p:cNvPr id="3" name="Text 1"/>
          <p:cNvSpPr/>
          <p:nvPr/>
        </p:nvSpPr>
        <p:spPr>
          <a:xfrm>
            <a:off x="548640" y="566928"/>
            <a:ext cx="10424160" cy="822960"/>
          </a:xfrm>
          <a:prstGeom prst="rect">
            <a:avLst/>
          </a:prstGeom>
          <a:noFill/>
          <a:ln/>
        </p:spPr>
        <p:txBody>
          <a:bodyPr wrap="square" lIns="0" tIns="0" rIns="0" bIns="0" rtlCol="0" anchor="t"/>
          <a:lstStyle/>
          <a:p>
            <a:pPr marL="0" indent="0">
              <a:buNone/>
            </a:pPr>
            <a:r>
              <a:rPr lang="en-US" sz="3000" b="1" dirty="0">
                <a:solidFill>
                  <a:srgbClr val="13315C"/>
                </a:solidFill>
                <a:latin typeface="Bookman Old Style" pitchFamily="34" charset="0"/>
                <a:ea typeface="Bookman Old Style" pitchFamily="34" charset="-122"/>
                <a:cs typeface="Bookman Old Style" pitchFamily="34" charset="-120"/>
              </a:rPr>
              <a:t>Standardization Bodies</a:t>
            </a:r>
            <a:endParaRPr lang="en-US" sz="3000" dirty="0"/>
          </a:p>
        </p:txBody>
      </p:sp>
      <p:sp>
        <p:nvSpPr>
          <p:cNvPr id="6" name="Shape 3"/>
          <p:cNvSpPr/>
          <p:nvPr/>
        </p:nvSpPr>
        <p:spPr>
          <a:xfrm>
            <a:off x="548640" y="1691640"/>
            <a:ext cx="5349240" cy="1874520"/>
          </a:xfrm>
          <a:prstGeom prst="roundRect">
            <a:avLst>
              <a:gd name="adj" fmla="val 3902"/>
            </a:avLst>
          </a:prstGeom>
          <a:solidFill>
            <a:srgbClr val="F7FAFD"/>
          </a:solidFill>
          <a:ln/>
          <a:effectLst>
            <a:outerShdw blurRad="88900" dist="25400" dir="5400000" algn="bl" rotWithShape="0">
              <a:srgbClr val="0B2545">
                <a:alpha val="10000"/>
              </a:srgbClr>
            </a:outerShdw>
          </a:effectLst>
        </p:spPr>
        <p:txBody>
          <a:bodyPr/>
          <a:lstStyle/>
          <a:p>
            <a:endParaRPr/>
          </a:p>
        </p:txBody>
      </p:sp>
      <p:sp>
        <p:nvSpPr>
          <p:cNvPr id="7" name="Text 4"/>
          <p:cNvSpPr/>
          <p:nvPr/>
        </p:nvSpPr>
        <p:spPr>
          <a:xfrm>
            <a:off x="822960" y="1874520"/>
            <a:ext cx="4800600" cy="457200"/>
          </a:xfrm>
          <a:prstGeom prst="rect">
            <a:avLst/>
          </a:prstGeom>
          <a:noFill/>
          <a:ln/>
        </p:spPr>
        <p:txBody>
          <a:bodyPr wrap="square" lIns="0" tIns="0" rIns="0" bIns="0" rtlCol="0" anchor="ctr"/>
          <a:lstStyle/>
          <a:p>
            <a:pPr marL="0" indent="0">
              <a:buNone/>
            </a:pPr>
            <a:r>
              <a:rPr lang="en-US" sz="2000" b="1" dirty="0">
                <a:solidFill>
                  <a:srgbClr val="0B2545"/>
                </a:solidFill>
                <a:latin typeface="Bookman Old Style" pitchFamily="34" charset="0"/>
                <a:ea typeface="Bookman Old Style" pitchFamily="34" charset="-122"/>
                <a:cs typeface="Bookman Old Style" pitchFamily="34" charset="-120"/>
              </a:rPr>
              <a:t>IETF</a:t>
            </a:r>
            <a:endParaRPr lang="en-US" sz="2000" dirty="0"/>
          </a:p>
        </p:txBody>
      </p:sp>
      <p:sp>
        <p:nvSpPr>
          <p:cNvPr id="8" name="Text 5"/>
          <p:cNvSpPr/>
          <p:nvPr/>
        </p:nvSpPr>
        <p:spPr>
          <a:xfrm>
            <a:off x="822960" y="2468880"/>
            <a:ext cx="4800600" cy="1005840"/>
          </a:xfrm>
          <a:prstGeom prst="rect">
            <a:avLst/>
          </a:prstGeom>
          <a:noFill/>
          <a:ln/>
        </p:spPr>
        <p:txBody>
          <a:bodyPr wrap="square" lIns="0" tIns="0" rIns="0" bIns="0" rtlCol="0" anchor="t"/>
          <a:lstStyle/>
          <a:p>
            <a:pPr marL="0" indent="0">
              <a:buNone/>
            </a:pPr>
            <a:r>
              <a:rPr lang="en-US" sz="1250" dirty="0">
                <a:solidFill>
                  <a:srgbClr val="5B6B82"/>
                </a:solidFill>
                <a:latin typeface="Calibri" pitchFamily="34" charset="0"/>
                <a:ea typeface="Calibri" pitchFamily="34" charset="-122"/>
                <a:cs typeface="Calibri" pitchFamily="34" charset="-120"/>
              </a:rPr>
              <a:t>Internet Engineering Task Force — defines the Internet architecture and specifies protocols such as TCP, UDP, IP, DNS, and BGP.</a:t>
            </a:r>
            <a:endParaRPr lang="en-US" sz="1250" dirty="0"/>
          </a:p>
        </p:txBody>
      </p:sp>
      <p:sp>
        <p:nvSpPr>
          <p:cNvPr id="9" name="Shape 6"/>
          <p:cNvSpPr/>
          <p:nvPr/>
        </p:nvSpPr>
        <p:spPr>
          <a:xfrm>
            <a:off x="6263640" y="1691640"/>
            <a:ext cx="5349240" cy="1874520"/>
          </a:xfrm>
          <a:prstGeom prst="roundRect">
            <a:avLst>
              <a:gd name="adj" fmla="val 3902"/>
            </a:avLst>
          </a:prstGeom>
          <a:solidFill>
            <a:srgbClr val="F7FAFD"/>
          </a:solidFill>
          <a:ln/>
          <a:effectLst>
            <a:outerShdw blurRad="88900" dist="25400" dir="5400000" algn="bl" rotWithShape="0">
              <a:srgbClr val="0B2545">
                <a:alpha val="10000"/>
              </a:srgbClr>
            </a:outerShdw>
          </a:effectLst>
        </p:spPr>
        <p:txBody>
          <a:bodyPr/>
          <a:lstStyle/>
          <a:p>
            <a:endParaRPr/>
          </a:p>
        </p:txBody>
      </p:sp>
      <p:sp>
        <p:nvSpPr>
          <p:cNvPr id="10" name="Text 7"/>
          <p:cNvSpPr/>
          <p:nvPr/>
        </p:nvSpPr>
        <p:spPr>
          <a:xfrm>
            <a:off x="6537960" y="1874520"/>
            <a:ext cx="4800600" cy="457200"/>
          </a:xfrm>
          <a:prstGeom prst="rect">
            <a:avLst/>
          </a:prstGeom>
          <a:noFill/>
          <a:ln/>
        </p:spPr>
        <p:txBody>
          <a:bodyPr wrap="square" lIns="0" tIns="0" rIns="0" bIns="0" rtlCol="0" anchor="ctr"/>
          <a:lstStyle/>
          <a:p>
            <a:pPr marL="0" indent="0">
              <a:buNone/>
            </a:pPr>
            <a:r>
              <a:rPr lang="en-US" sz="2000" b="1" dirty="0">
                <a:solidFill>
                  <a:srgbClr val="0B2545"/>
                </a:solidFill>
                <a:latin typeface="Bookman Old Style" pitchFamily="34" charset="0"/>
                <a:ea typeface="Bookman Old Style" pitchFamily="34" charset="-122"/>
                <a:cs typeface="Bookman Old Style" pitchFamily="34" charset="-120"/>
              </a:rPr>
              <a:t>ISO</a:t>
            </a:r>
            <a:endParaRPr lang="en-US" sz="2000" dirty="0"/>
          </a:p>
        </p:txBody>
      </p:sp>
      <p:sp>
        <p:nvSpPr>
          <p:cNvPr id="11" name="Text 8"/>
          <p:cNvSpPr/>
          <p:nvPr/>
        </p:nvSpPr>
        <p:spPr>
          <a:xfrm>
            <a:off x="6537960" y="2468880"/>
            <a:ext cx="4800600" cy="1005840"/>
          </a:xfrm>
          <a:prstGeom prst="rect">
            <a:avLst/>
          </a:prstGeom>
          <a:noFill/>
          <a:ln/>
        </p:spPr>
        <p:txBody>
          <a:bodyPr wrap="square" lIns="0" tIns="0" rIns="0" bIns="0" rtlCol="0" anchor="t"/>
          <a:lstStyle/>
          <a:p>
            <a:pPr marL="0" indent="0">
              <a:buNone/>
            </a:pPr>
            <a:r>
              <a:rPr lang="en-US" sz="1250" dirty="0">
                <a:solidFill>
                  <a:srgbClr val="5B6B82"/>
                </a:solidFill>
                <a:latin typeface="Calibri" pitchFamily="34" charset="0"/>
                <a:ea typeface="Calibri" pitchFamily="34" charset="-122"/>
                <a:cs typeface="Calibri" pitchFamily="34" charset="-120"/>
              </a:rPr>
              <a:t>International Standards Organization — defined the OSI reference architecture and 7-layer model.</a:t>
            </a:r>
            <a:endParaRPr lang="en-US" sz="1250" dirty="0"/>
          </a:p>
        </p:txBody>
      </p:sp>
      <p:sp>
        <p:nvSpPr>
          <p:cNvPr id="18" name="Text 15"/>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TOPIC 1 · LAYERING &amp; PROTOCOLS</a:t>
            </a:r>
            <a:endParaRPr lang="en-US" sz="1000" dirty="0"/>
          </a:p>
        </p:txBody>
      </p:sp>
      <p:sp>
        <p:nvSpPr>
          <p:cNvPr id="5" name="TextBox 4">
            <a:extLst>
              <a:ext uri="{FF2B5EF4-FFF2-40B4-BE49-F238E27FC236}">
                <a16:creationId xmlns:a16="http://schemas.microsoft.com/office/drawing/2014/main" id="{A683FA4B-54BC-E7E2-4A4C-C3BEAC55040C}"/>
              </a:ext>
            </a:extLst>
          </p:cNvPr>
          <p:cNvSpPr txBox="1"/>
          <p:nvPr/>
        </p:nvSpPr>
        <p:spPr>
          <a:xfrm>
            <a:off x="2969367" y="4163438"/>
            <a:ext cx="6094378" cy="1477328"/>
          </a:xfrm>
          <a:prstGeom prst="rect">
            <a:avLst/>
          </a:prstGeom>
          <a:solidFill>
            <a:schemeClr val="tx2">
              <a:lumMod val="10000"/>
              <a:lumOff val="90000"/>
            </a:schemeClr>
          </a:solidFill>
        </p:spPr>
        <p:txBody>
          <a:bodyPr wrap="square">
            <a:spAutoFit/>
          </a:bodyPr>
          <a:lstStyle/>
          <a:p>
            <a:r>
              <a:rPr lang="en-IN" dirty="0"/>
              <a:t>These standards specify how protocols should work and how they should be organized into layers. When companies implement these standards correctly, their devices can communicate seamlessly, regardless of who manufactured them.</a:t>
            </a:r>
          </a:p>
        </p:txBody>
      </p:sp>
      <p:sp>
        <p:nvSpPr>
          <p:cNvPr id="19" name="TextBox 18"/>
          <p:cNvSpPr txBox="1"/>
          <p:nvPr/>
        </p:nvSpPr>
        <p:spPr>
          <a:xfrm>
            <a:off x="11792000" y="6638000"/>
            <a:ext cx="200000" cy="100000"/>
          </a:xfrm>
          <a:prstGeom prst="rect">
            <a:avLst/>
          </a:prstGeom>
          <a:noFill/>
        </p:spPr>
        <p:txBody>
          <a:bodyPr wrap="none">
            <a:spAutoFit/>
          </a:bodyPr>
          <a:lstStyle/>
          <a:p>
            <a:pPr>
              <a:defRPr sz="1000"/>
            </a:pPr>
            <a: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E07A2C"/>
          </a:solidFill>
          <a:ln/>
        </p:spPr>
        <p:txBody>
          <a:bodyPr/>
          <a:lstStyle/>
          <a:p>
            <a:endParaRPr/>
          </a:p>
        </p:txBody>
      </p:sp>
      <p:pic>
        <p:nvPicPr>
          <p:cNvPr id="3" name="Image 0" descr="preencoded.png"/>
          <p:cNvPicPr>
            <a:picLocks noChangeAspect="1"/>
          </p:cNvPicPr>
          <p:nvPr/>
        </p:nvPicPr>
        <p:blipFill>
          <a:blip r:embed="rId3"/>
          <a:stretch>
            <a:fillRect/>
          </a:stretch>
        </p:blipFill>
        <p:spPr>
          <a:xfrm>
            <a:off x="631850" y="494690"/>
            <a:ext cx="473659" cy="473659"/>
          </a:xfrm>
          <a:prstGeom prst="rect">
            <a:avLst/>
          </a:prstGeom>
        </p:spPr>
      </p:pic>
      <p:sp>
        <p:nvSpPr>
          <p:cNvPr id="4" name="Text 1"/>
          <p:cNvSpPr/>
          <p:nvPr/>
        </p:nvSpPr>
        <p:spPr>
          <a:xfrm>
            <a:off x="1371600" y="457200"/>
            <a:ext cx="8229600" cy="320040"/>
          </a:xfrm>
          <a:prstGeom prst="rect">
            <a:avLst/>
          </a:prstGeom>
          <a:noFill/>
          <a:ln/>
        </p:spPr>
        <p:txBody>
          <a:bodyPr wrap="square" lIns="0" tIns="0" rIns="0" bIns="0" rtlCol="0" anchor="ctr"/>
          <a:lstStyle/>
          <a:p>
            <a:pPr marL="0" indent="0">
              <a:buNone/>
            </a:pPr>
            <a:r>
              <a:rPr lang="en-US" sz="1300" b="1" kern="0" spc="150" dirty="0">
                <a:solidFill>
                  <a:srgbClr val="E07A2C"/>
                </a:solidFill>
                <a:latin typeface="Calibri" pitchFamily="34" charset="0"/>
                <a:ea typeface="Calibri" pitchFamily="34" charset="-122"/>
                <a:cs typeface="Calibri" pitchFamily="34" charset="-120"/>
              </a:rPr>
              <a:t>BRAINSTORMING SESSION  </a:t>
            </a:r>
            <a:endParaRPr lang="en-US" sz="1300" dirty="0"/>
          </a:p>
        </p:txBody>
      </p:sp>
      <p:sp>
        <p:nvSpPr>
          <p:cNvPr id="5" name="Text 2"/>
          <p:cNvSpPr/>
          <p:nvPr/>
        </p:nvSpPr>
        <p:spPr>
          <a:xfrm>
            <a:off x="548640" y="868680"/>
            <a:ext cx="10789920" cy="777240"/>
          </a:xfrm>
          <a:prstGeom prst="rect">
            <a:avLst/>
          </a:prstGeom>
          <a:noFill/>
          <a:ln/>
        </p:spPr>
        <p:txBody>
          <a:bodyPr wrap="square" lIns="0" tIns="0" rIns="0" bIns="0" rtlCol="0" anchor="ctr"/>
          <a:lstStyle/>
          <a:p>
            <a:pPr marL="0" indent="0">
              <a:buNone/>
            </a:pPr>
            <a:r>
              <a:rPr lang="en-US" sz="2700" b="1" dirty="0">
                <a:solidFill>
                  <a:srgbClr val="13315C"/>
                </a:solidFill>
                <a:latin typeface="Bookman Old Style" pitchFamily="34" charset="0"/>
                <a:ea typeface="Bookman Old Style" pitchFamily="34" charset="-122"/>
                <a:cs typeface="Bookman Old Style" pitchFamily="34" charset="-120"/>
              </a:rPr>
              <a:t>Map the Postal System to a Protocol Stack</a:t>
            </a:r>
            <a:endParaRPr lang="en-US" sz="2700" dirty="0"/>
          </a:p>
        </p:txBody>
      </p:sp>
      <p:sp>
        <p:nvSpPr>
          <p:cNvPr id="6" name="Shape 3"/>
          <p:cNvSpPr/>
          <p:nvPr/>
        </p:nvSpPr>
        <p:spPr>
          <a:xfrm>
            <a:off x="548640" y="1783080"/>
            <a:ext cx="11064240" cy="4434840"/>
          </a:xfrm>
          <a:prstGeom prst="roundRect">
            <a:avLst>
              <a:gd name="adj" fmla="val 1649"/>
            </a:avLst>
          </a:prstGeom>
          <a:solidFill>
            <a:srgbClr val="FFFFFF"/>
          </a:solidFill>
          <a:ln/>
          <a:effectLst>
            <a:outerShdw blurRad="88900" dist="25400" dir="5400000" algn="bl" rotWithShape="0">
              <a:srgbClr val="0B2545">
                <a:alpha val="10000"/>
              </a:srgbClr>
            </a:outerShdw>
          </a:effectLst>
        </p:spPr>
        <p:txBody>
          <a:bodyPr/>
          <a:lstStyle/>
          <a:p>
            <a:endParaRPr/>
          </a:p>
        </p:txBody>
      </p:sp>
      <p:sp>
        <p:nvSpPr>
          <p:cNvPr id="7" name="Text 4"/>
          <p:cNvSpPr/>
          <p:nvPr/>
        </p:nvSpPr>
        <p:spPr>
          <a:xfrm>
            <a:off x="914400" y="2057400"/>
            <a:ext cx="10332720" cy="3931920"/>
          </a:xfrm>
          <a:prstGeom prst="rect">
            <a:avLst/>
          </a:prstGeom>
          <a:noFill/>
          <a:ln/>
        </p:spPr>
        <p:txBody>
          <a:bodyPr wrap="square" lIns="0" tIns="0" rIns="0" bIns="0" rtlCol="0" anchor="t"/>
          <a:lstStyle/>
          <a:p>
            <a:pPr marL="342900" indent="-342900">
              <a:lnSpc>
                <a:spcPct val="110000"/>
              </a:lnSpc>
              <a:spcAft>
                <a:spcPts val="1300"/>
              </a:spcAft>
              <a:buSzPct val="100000"/>
              <a:buChar char="▸"/>
            </a:pPr>
            <a:r>
              <a:rPr lang="en-US" sz="1550" dirty="0">
                <a:solidFill>
                  <a:srgbClr val="13315C"/>
                </a:solidFill>
                <a:latin typeface="Calibri" pitchFamily="34" charset="0"/>
                <a:ea typeface="Calibri" pitchFamily="34" charset="-122"/>
                <a:cs typeface="Calibri" pitchFamily="34" charset="-120"/>
              </a:rPr>
              <a:t>In pairs, list the 'layers' involved when you post a letter: you writing a letter, an envelope with an address, the local post office, a transport truck/plane, and the receiving post office.</a:t>
            </a:r>
            <a:endParaRPr lang="en-US" sz="1550" dirty="0"/>
          </a:p>
          <a:p>
            <a:pPr marL="342900" indent="-342900">
              <a:lnSpc>
                <a:spcPct val="110000"/>
              </a:lnSpc>
              <a:spcAft>
                <a:spcPts val="1300"/>
              </a:spcAft>
              <a:buSzPct val="100000"/>
              <a:buChar char="▸"/>
            </a:pPr>
            <a:r>
              <a:rPr lang="en-US" sz="1550" dirty="0">
                <a:solidFill>
                  <a:srgbClr val="13315C"/>
                </a:solidFill>
                <a:latin typeface="Calibri" pitchFamily="34" charset="0"/>
                <a:ea typeface="Calibri" pitchFamily="34" charset="-122"/>
                <a:cs typeface="Calibri" pitchFamily="34" charset="-120"/>
              </a:rPr>
              <a:t>For each layer, identify: (a) what service it offers the layer above, and (b) what 'peer' it communicates with on the receiving side.</a:t>
            </a:r>
            <a:endParaRPr lang="en-US" sz="1550" dirty="0"/>
          </a:p>
          <a:p>
            <a:pPr marL="342900" indent="-342900">
              <a:lnSpc>
                <a:spcPct val="110000"/>
              </a:lnSpc>
              <a:spcAft>
                <a:spcPts val="1300"/>
              </a:spcAft>
              <a:buSzPct val="100000"/>
              <a:buChar char="▸"/>
            </a:pPr>
            <a:r>
              <a:rPr lang="en-US" sz="1550" dirty="0">
                <a:solidFill>
                  <a:srgbClr val="13315C"/>
                </a:solidFill>
                <a:latin typeface="Calibri" pitchFamily="34" charset="0"/>
                <a:ea typeface="Calibri" pitchFamily="34" charset="-122"/>
                <a:cs typeface="Calibri" pitchFamily="34" charset="-120"/>
              </a:rPr>
              <a:t>Identify one header (control information) that gets added at each stage — e.g., the envelope address is the 'header' added by the postal layer.</a:t>
            </a:r>
            <a:endParaRPr lang="en-US" sz="1550" dirty="0"/>
          </a:p>
          <a:p>
            <a:pPr marL="342900" indent="-342900">
              <a:lnSpc>
                <a:spcPct val="110000"/>
              </a:lnSpc>
              <a:spcAft>
                <a:spcPts val="1300"/>
              </a:spcAft>
              <a:buSzPct val="100000"/>
              <a:buChar char="▸"/>
            </a:pPr>
            <a:r>
              <a:rPr lang="en-US" sz="1550" dirty="0">
                <a:solidFill>
                  <a:srgbClr val="13315C"/>
                </a:solidFill>
                <a:latin typeface="Calibri" pitchFamily="34" charset="0"/>
                <a:ea typeface="Calibri" pitchFamily="34" charset="-122"/>
                <a:cs typeface="Calibri" pitchFamily="34" charset="-120"/>
              </a:rPr>
              <a:t>Discuss: what does the letter writer NOT need to know about, thanks to abstraction, in order to send the letter successfully?</a:t>
            </a:r>
            <a:endParaRPr lang="en-US" sz="1550" dirty="0"/>
          </a:p>
          <a:p>
            <a:pPr marL="342900" indent="-342900">
              <a:lnSpc>
                <a:spcPct val="110000"/>
              </a:lnSpc>
              <a:spcAft>
                <a:spcPts val="1300"/>
              </a:spcAft>
              <a:buSzPct val="100000"/>
              <a:buChar char="▸"/>
            </a:pPr>
            <a:r>
              <a:rPr lang="en-US" sz="1550" dirty="0">
                <a:solidFill>
                  <a:srgbClr val="13315C"/>
                </a:solidFill>
                <a:latin typeface="Calibri" pitchFamily="34" charset="0"/>
                <a:ea typeface="Calibri" pitchFamily="34" charset="-122"/>
                <a:cs typeface="Calibri" pitchFamily="34" charset="-120"/>
              </a:rPr>
              <a:t>Be ready to share your mapping and name which part corresponds to a service interface and which to a peer interface.</a:t>
            </a:r>
            <a:endParaRPr lang="en-US" sz="1550" dirty="0"/>
          </a:p>
        </p:txBody>
      </p:sp>
      <p:sp>
        <p:nvSpPr>
          <p:cNvPr id="8" name="Text 5"/>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TOPIC 1 · ACTIVITY</a:t>
            </a:r>
            <a:endParaRPr lang="en-US" sz="1000" dirty="0"/>
          </a:p>
        </p:txBody>
      </p:sp>
      <p:sp>
        <p:nvSpPr>
          <p:cNvPr id="9" name="TextBox 8"/>
          <p:cNvSpPr txBox="1"/>
          <p:nvPr/>
        </p:nvSpPr>
        <p:spPr>
          <a:xfrm>
            <a:off x="11792000" y="6638000"/>
            <a:ext cx="200000" cy="100000"/>
          </a:xfrm>
          <a:prstGeom prst="rect">
            <a:avLst/>
          </a:prstGeom>
          <a:noFill/>
        </p:spPr>
        <p:txBody>
          <a:bodyPr wrap="none">
            <a:spAutoFit/>
          </a:bodyPr>
          <a:lstStyle/>
          <a:p>
            <a:pPr>
              <a:defRPr sz="1000"/>
            </a:pPr>
            <a: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chemeClr val="accent1">
            <a:lumMod val="75000"/>
          </a:schemeClr>
        </a:solidFill>
        <a:effectLst/>
      </p:bgPr>
    </p:bg>
    <p:spTree>
      <p:nvGrpSpPr>
        <p:cNvPr id="1" name=""/>
        <p:cNvGrpSpPr/>
        <p:nvPr/>
      </p:nvGrpSpPr>
      <p:grpSpPr>
        <a:xfrm>
          <a:off x="0" y="0"/>
          <a:ext cx="0" cy="0"/>
          <a:chOff x="0" y="0"/>
          <a:chExt cx="0" cy="0"/>
        </a:xfrm>
      </p:grpSpPr>
      <p:sp>
        <p:nvSpPr>
          <p:cNvPr id="4" name="Shape 2"/>
          <p:cNvSpPr/>
          <p:nvPr/>
        </p:nvSpPr>
        <p:spPr>
          <a:xfrm>
            <a:off x="9692640" y="914400"/>
            <a:ext cx="548640" cy="1371600"/>
          </a:xfrm>
          <a:prstGeom prst="line">
            <a:avLst/>
          </a:prstGeom>
          <a:noFill/>
          <a:ln w="12700">
            <a:solidFill>
              <a:srgbClr val="1E3A66"/>
            </a:solidFill>
            <a:prstDash val="solid"/>
          </a:ln>
        </p:spPr>
        <p:txBody>
          <a:bodyPr/>
          <a:lstStyle/>
          <a:p>
            <a:endParaRPr/>
          </a:p>
        </p:txBody>
      </p:sp>
      <p:sp>
        <p:nvSpPr>
          <p:cNvPr id="7" name="Shape 5"/>
          <p:cNvSpPr/>
          <p:nvPr/>
        </p:nvSpPr>
        <p:spPr>
          <a:xfrm>
            <a:off x="10607040" y="1463040"/>
            <a:ext cx="731520" cy="0"/>
          </a:xfrm>
          <a:prstGeom prst="line">
            <a:avLst/>
          </a:prstGeom>
          <a:noFill/>
          <a:ln w="12700">
            <a:solidFill>
              <a:srgbClr val="1E3A66"/>
            </a:solidFill>
            <a:prstDash val="solid"/>
          </a:ln>
        </p:spPr>
        <p:txBody>
          <a:bodyPr/>
          <a:lstStyle/>
          <a:p>
            <a:endParaRPr/>
          </a:p>
        </p:txBody>
      </p:sp>
      <p:sp>
        <p:nvSpPr>
          <p:cNvPr id="8" name="Shape 6"/>
          <p:cNvSpPr/>
          <p:nvPr/>
        </p:nvSpPr>
        <p:spPr>
          <a:xfrm>
            <a:off x="10607040" y="1463040"/>
            <a:ext cx="0" cy="822960"/>
          </a:xfrm>
          <a:prstGeom prst="line">
            <a:avLst/>
          </a:prstGeom>
          <a:noFill/>
          <a:ln w="12700">
            <a:solidFill>
              <a:srgbClr val="1E3A66"/>
            </a:solidFill>
            <a:prstDash val="solid"/>
          </a:ln>
        </p:spPr>
        <p:txBody>
          <a:bodyPr/>
          <a:lstStyle/>
          <a:p>
            <a:endParaRPr/>
          </a:p>
        </p:txBody>
      </p:sp>
      <p:sp>
        <p:nvSpPr>
          <p:cNvPr id="10" name="Shape 8"/>
          <p:cNvSpPr/>
          <p:nvPr/>
        </p:nvSpPr>
        <p:spPr>
          <a:xfrm>
            <a:off x="10607040" y="1463040"/>
            <a:ext cx="0" cy="548640"/>
          </a:xfrm>
          <a:prstGeom prst="line">
            <a:avLst/>
          </a:prstGeom>
          <a:noFill/>
          <a:ln w="12700">
            <a:solidFill>
              <a:srgbClr val="1E3A66"/>
            </a:solidFill>
            <a:prstDash val="solid"/>
          </a:ln>
        </p:spPr>
        <p:txBody>
          <a:bodyPr/>
          <a:lstStyle/>
          <a:p>
            <a:endParaRPr/>
          </a:p>
        </p:txBody>
      </p:sp>
      <p:sp>
        <p:nvSpPr>
          <p:cNvPr id="15" name="Shape 13"/>
          <p:cNvSpPr/>
          <p:nvPr/>
        </p:nvSpPr>
        <p:spPr>
          <a:xfrm>
            <a:off x="10241280" y="2286000"/>
            <a:ext cx="0" cy="0"/>
          </a:xfrm>
          <a:prstGeom prst="line">
            <a:avLst/>
          </a:prstGeom>
          <a:noFill/>
          <a:ln w="12700">
            <a:solidFill>
              <a:srgbClr val="1E3A66"/>
            </a:solidFill>
            <a:prstDash val="solid"/>
          </a:ln>
        </p:spPr>
        <p:txBody>
          <a:bodyPr/>
          <a:lstStyle/>
          <a:p>
            <a:endParaRPr/>
          </a:p>
        </p:txBody>
      </p:sp>
      <p:sp>
        <p:nvSpPr>
          <p:cNvPr id="16" name="Shape 14"/>
          <p:cNvSpPr/>
          <p:nvPr/>
        </p:nvSpPr>
        <p:spPr>
          <a:xfrm>
            <a:off x="11521440" y="2377440"/>
            <a:ext cx="0" cy="0"/>
          </a:xfrm>
          <a:prstGeom prst="line">
            <a:avLst/>
          </a:prstGeom>
          <a:noFill/>
          <a:ln w="12700">
            <a:solidFill>
              <a:srgbClr val="1E3A66"/>
            </a:solidFill>
            <a:prstDash val="solid"/>
          </a:ln>
        </p:spPr>
        <p:txBody>
          <a:bodyPr/>
          <a:lstStyle/>
          <a:p>
            <a:endParaRPr/>
          </a:p>
        </p:txBody>
      </p:sp>
      <p:sp>
        <p:nvSpPr>
          <p:cNvPr id="23" name="Text 21"/>
          <p:cNvSpPr/>
          <p:nvPr/>
        </p:nvSpPr>
        <p:spPr>
          <a:xfrm>
            <a:off x="822960" y="2148840"/>
            <a:ext cx="5486400" cy="365760"/>
          </a:xfrm>
          <a:prstGeom prst="rect">
            <a:avLst/>
          </a:prstGeom>
          <a:noFill/>
          <a:ln/>
        </p:spPr>
        <p:txBody>
          <a:bodyPr wrap="square" lIns="0" tIns="0" rIns="0" bIns="0" rtlCol="0" anchor="ctr"/>
          <a:lstStyle/>
          <a:p>
            <a:pPr marL="0" indent="0">
              <a:buNone/>
            </a:pPr>
            <a:r>
              <a:rPr lang="en-US" sz="1600" b="1" kern="0" spc="300" dirty="0">
                <a:solidFill>
                  <a:srgbClr val="00B4D8"/>
                </a:solidFill>
                <a:latin typeface="Calibri" pitchFamily="34" charset="0"/>
                <a:ea typeface="Calibri" pitchFamily="34" charset="-122"/>
                <a:cs typeface="Calibri" pitchFamily="34" charset="-120"/>
              </a:rPr>
              <a:t>TOPIC  2</a:t>
            </a:r>
            <a:endParaRPr lang="en-US" sz="1600" dirty="0"/>
          </a:p>
        </p:txBody>
      </p:sp>
      <p:sp>
        <p:nvSpPr>
          <p:cNvPr id="24" name="Text 22"/>
          <p:cNvSpPr/>
          <p:nvPr/>
        </p:nvSpPr>
        <p:spPr>
          <a:xfrm>
            <a:off x="777240" y="2514600"/>
            <a:ext cx="9601200" cy="1463040"/>
          </a:xfrm>
          <a:prstGeom prst="rect">
            <a:avLst/>
          </a:prstGeom>
          <a:noFill/>
          <a:ln/>
        </p:spPr>
        <p:txBody>
          <a:bodyPr wrap="square" lIns="0" tIns="0" rIns="0" bIns="0" rtlCol="0" anchor="t"/>
          <a:lstStyle/>
          <a:p>
            <a:pPr marL="0" indent="0">
              <a:buNone/>
            </a:pPr>
            <a:r>
              <a:rPr lang="en-US" sz="4000" b="1" dirty="0">
                <a:solidFill>
                  <a:srgbClr val="FFFFFF"/>
                </a:solidFill>
                <a:latin typeface="Bookman Old Style" pitchFamily="34" charset="0"/>
                <a:ea typeface="Bookman Old Style" pitchFamily="34" charset="-122"/>
                <a:cs typeface="Bookman Old Style" pitchFamily="34" charset="-120"/>
              </a:rPr>
              <a:t>Network Topology</a:t>
            </a:r>
            <a:endParaRPr lang="en-US" sz="4000" dirty="0"/>
          </a:p>
        </p:txBody>
      </p:sp>
      <p:sp>
        <p:nvSpPr>
          <p:cNvPr id="25" name="Text 23"/>
          <p:cNvSpPr/>
          <p:nvPr/>
        </p:nvSpPr>
        <p:spPr>
          <a:xfrm>
            <a:off x="822960" y="3794760"/>
            <a:ext cx="8686800" cy="822960"/>
          </a:xfrm>
          <a:prstGeom prst="rect">
            <a:avLst/>
          </a:prstGeom>
          <a:noFill/>
          <a:ln/>
        </p:spPr>
        <p:txBody>
          <a:bodyPr wrap="square" lIns="0" tIns="0" rIns="0" bIns="0" rtlCol="0" anchor="t"/>
          <a:lstStyle/>
          <a:p>
            <a:pPr marL="0" indent="0">
              <a:buNone/>
            </a:pPr>
            <a:r>
              <a:rPr lang="en-US" sz="1600" dirty="0">
                <a:solidFill>
                  <a:srgbClr val="C9D8EC"/>
                </a:solidFill>
                <a:latin typeface="Calibri" pitchFamily="34" charset="0"/>
                <a:ea typeface="Calibri" pitchFamily="34" charset="-122"/>
                <a:cs typeface="Calibri" pitchFamily="34" charset="-120"/>
              </a:rPr>
              <a:t>The physical and logical arrangement of nodes and links in a network.</a:t>
            </a:r>
            <a:endParaRPr lang="en-US" sz="1600" dirty="0"/>
          </a:p>
        </p:txBody>
      </p:sp>
      <p:sp>
        <p:nvSpPr>
          <p:cNvPr id="31" name="Text 27"/>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9FB3CC"/>
                </a:solidFill>
                <a:latin typeface="Calibri" pitchFamily="34" charset="0"/>
                <a:ea typeface="Calibri" pitchFamily="34" charset="-122"/>
                <a:cs typeface="Calibri" pitchFamily="34" charset="-120"/>
              </a:rPr>
              <a:t>TOPIC 2</a:t>
            </a:r>
            <a:endParaRPr lang="en-US" sz="1000" dirty="0"/>
          </a:p>
        </p:txBody>
      </p:sp>
      <p:sp>
        <p:nvSpPr>
          <p:cNvPr id="32" name="TextBox 31"/>
          <p:cNvSpPr txBox="1"/>
          <p:nvPr/>
        </p:nvSpPr>
        <p:spPr>
          <a:xfrm>
            <a:off x="11792000" y="6638000"/>
            <a:ext cx="200000" cy="100000"/>
          </a:xfrm>
          <a:prstGeom prst="rect">
            <a:avLst/>
          </a:prstGeom>
          <a:noFill/>
        </p:spPr>
        <p:txBody>
          <a:bodyPr wrap="none">
            <a:spAutoFit/>
          </a:bodyPr>
          <a:lstStyle/>
          <a:p>
            <a:pPr>
              <a:defRPr sz="1000"/>
            </a:pPr>
            <a: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0091AD"/>
                </a:solidFill>
                <a:latin typeface="Calibri" pitchFamily="34" charset="0"/>
                <a:ea typeface="Calibri" pitchFamily="34" charset="-122"/>
                <a:cs typeface="Calibri" pitchFamily="34" charset="-120"/>
              </a:rPr>
              <a:t>TOPIC 2 · NETWORK TOPOLOGY</a:t>
            </a:r>
            <a:endParaRPr lang="en-US" sz="1200" dirty="0"/>
          </a:p>
        </p:txBody>
      </p:sp>
      <p:sp>
        <p:nvSpPr>
          <p:cNvPr id="3" name="Text 1"/>
          <p:cNvSpPr/>
          <p:nvPr/>
        </p:nvSpPr>
        <p:spPr>
          <a:xfrm>
            <a:off x="548640" y="566928"/>
            <a:ext cx="10424160" cy="822960"/>
          </a:xfrm>
          <a:prstGeom prst="rect">
            <a:avLst/>
          </a:prstGeom>
          <a:noFill/>
          <a:ln/>
        </p:spPr>
        <p:txBody>
          <a:bodyPr wrap="square" lIns="0" tIns="0" rIns="0" bIns="0" rtlCol="0" anchor="t"/>
          <a:lstStyle/>
          <a:p>
            <a:pPr marL="0" indent="0">
              <a:buNone/>
            </a:pPr>
            <a:r>
              <a:rPr lang="en-US" sz="3600" b="1" dirty="0">
                <a:solidFill>
                  <a:srgbClr val="13315C"/>
                </a:solidFill>
                <a:latin typeface="Bookman Old Style" pitchFamily="34" charset="0"/>
                <a:ea typeface="Bookman Old Style" pitchFamily="34" charset="-122"/>
                <a:cs typeface="Bookman Old Style" pitchFamily="34" charset="-120"/>
              </a:rPr>
              <a:t>What Is Network Topology?</a:t>
            </a:r>
            <a:endParaRPr lang="en-US" sz="3600" dirty="0"/>
          </a:p>
        </p:txBody>
      </p:sp>
      <p:sp>
        <p:nvSpPr>
          <p:cNvPr id="6" name="Text 3"/>
          <p:cNvSpPr/>
          <p:nvPr/>
        </p:nvSpPr>
        <p:spPr>
          <a:xfrm>
            <a:off x="548640" y="1645920"/>
            <a:ext cx="11064240" cy="4480560"/>
          </a:xfrm>
          <a:prstGeom prst="rect">
            <a:avLst/>
          </a:prstGeom>
          <a:noFill/>
          <a:ln/>
        </p:spPr>
        <p:txBody>
          <a:bodyPr wrap="square" lIns="0" tIns="0" rIns="0" bIns="0" rtlCol="0" anchor="t"/>
          <a:lstStyle/>
          <a:p>
            <a:pPr marL="342900" indent="-342900">
              <a:lnSpc>
                <a:spcPct val="108000"/>
              </a:lnSpc>
              <a:spcAft>
                <a:spcPts val="1200"/>
              </a:spcAft>
              <a:buSzPct val="100000"/>
              <a:buChar char="●"/>
            </a:pPr>
            <a:r>
              <a:rPr lang="en-US" sz="2800" b="1" dirty="0">
                <a:solidFill>
                  <a:srgbClr val="13315C"/>
                </a:solidFill>
                <a:latin typeface="Calibri" pitchFamily="34" charset="0"/>
                <a:ea typeface="Calibri" pitchFamily="34" charset="-122"/>
                <a:cs typeface="Calibri" pitchFamily="34" charset="-120"/>
              </a:rPr>
              <a:t>Network topology: the arrangement of nodes (computers, switches) and links (cables, wireless paths) that make up a network.</a:t>
            </a:r>
            <a:endParaRPr lang="en-US" sz="2800" dirty="0"/>
          </a:p>
          <a:p>
            <a:pPr marL="342900" indent="-342900">
              <a:lnSpc>
                <a:spcPct val="108000"/>
              </a:lnSpc>
              <a:spcAft>
                <a:spcPts val="1200"/>
              </a:spcAft>
              <a:buSzPct val="100000"/>
              <a:buChar char="●"/>
            </a:pPr>
            <a:r>
              <a:rPr lang="en-US" sz="2800" dirty="0">
                <a:solidFill>
                  <a:srgbClr val="13315C"/>
                </a:solidFill>
                <a:latin typeface="Calibri" pitchFamily="34" charset="0"/>
                <a:ea typeface="Calibri" pitchFamily="34" charset="-122"/>
                <a:cs typeface="Calibri" pitchFamily="34" charset="-120"/>
              </a:rPr>
              <a:t>Physical topology — the actual physical layout of cabling and devices.</a:t>
            </a:r>
            <a:endParaRPr lang="en-US" sz="2800" dirty="0"/>
          </a:p>
          <a:p>
            <a:pPr marL="342900" indent="-342900">
              <a:lnSpc>
                <a:spcPct val="108000"/>
              </a:lnSpc>
              <a:spcAft>
                <a:spcPts val="1200"/>
              </a:spcAft>
              <a:buSzPct val="100000"/>
              <a:buChar char="●"/>
            </a:pPr>
            <a:r>
              <a:rPr lang="en-US" sz="2800" dirty="0">
                <a:solidFill>
                  <a:srgbClr val="13315C"/>
                </a:solidFill>
                <a:latin typeface="Calibri" pitchFamily="34" charset="0"/>
                <a:ea typeface="Calibri" pitchFamily="34" charset="-122"/>
                <a:cs typeface="Calibri" pitchFamily="34" charset="-120"/>
              </a:rPr>
              <a:t>Logical topology — the path data actually takes as it flows through the network, which may differ from the physical layout.</a:t>
            </a:r>
            <a:endParaRPr lang="en-US" sz="2800" dirty="0"/>
          </a:p>
          <a:p>
            <a:pPr marL="342900" indent="-342900">
              <a:lnSpc>
                <a:spcPct val="108000"/>
              </a:lnSpc>
              <a:spcAft>
                <a:spcPts val="1200"/>
              </a:spcAft>
              <a:buSzPct val="100000"/>
              <a:buChar char="●"/>
            </a:pPr>
            <a:r>
              <a:rPr lang="en-US" sz="2800" dirty="0">
                <a:solidFill>
                  <a:srgbClr val="13315C"/>
                </a:solidFill>
                <a:latin typeface="Calibri" pitchFamily="34" charset="0"/>
                <a:ea typeface="Calibri" pitchFamily="34" charset="-122"/>
                <a:cs typeface="Calibri" pitchFamily="34" charset="-120"/>
              </a:rPr>
              <a:t>Topology choice affects: cost, cabling complexity, fault tolerance, ease of adding new nodes, and performance under load.</a:t>
            </a:r>
            <a:endParaRPr lang="en-US" sz="2800" dirty="0"/>
          </a:p>
          <a:p>
            <a:pPr marL="342900" indent="-342900">
              <a:lnSpc>
                <a:spcPct val="108000"/>
              </a:lnSpc>
              <a:spcAft>
                <a:spcPts val="1200"/>
              </a:spcAft>
              <a:buSzPct val="100000"/>
              <a:buChar char="●"/>
            </a:pPr>
            <a:r>
              <a:rPr lang="en-US" sz="2800" dirty="0">
                <a:solidFill>
                  <a:srgbClr val="13315C"/>
                </a:solidFill>
                <a:latin typeface="Calibri" pitchFamily="34" charset="0"/>
                <a:ea typeface="Calibri" pitchFamily="34" charset="-122"/>
                <a:cs typeface="Calibri" pitchFamily="34" charset="-120"/>
              </a:rPr>
              <a:t>Common topologies: Bus, Star, Ring, Mesh, Tree, and Hybrid.</a:t>
            </a:r>
            <a:endParaRPr lang="en-US" sz="2800" dirty="0"/>
          </a:p>
        </p:txBody>
      </p:sp>
      <p:sp>
        <p:nvSpPr>
          <p:cNvPr id="7" name="Text 4"/>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TOPIC 2 · NETWORK TOPOLOGY</a:t>
            </a:r>
            <a:endParaRPr lang="en-US" sz="1000" dirty="0"/>
          </a:p>
        </p:txBody>
      </p:sp>
      <p:sp>
        <p:nvSpPr>
          <p:cNvPr id="8" name="TextBox 7"/>
          <p:cNvSpPr txBox="1"/>
          <p:nvPr/>
        </p:nvSpPr>
        <p:spPr>
          <a:xfrm>
            <a:off x="11792000" y="6638000"/>
            <a:ext cx="200000" cy="100000"/>
          </a:xfrm>
          <a:prstGeom prst="rect">
            <a:avLst/>
          </a:prstGeom>
          <a:noFill/>
        </p:spPr>
        <p:txBody>
          <a:bodyPr wrap="none">
            <a:spAutoFit/>
          </a:bodyPr>
          <a:lstStyle/>
          <a:p>
            <a:pPr>
              <a:defRPr sz="1000"/>
            </a:pPr>
            <a: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0091AD"/>
                </a:solidFill>
                <a:latin typeface="Calibri" pitchFamily="34" charset="0"/>
                <a:ea typeface="Calibri" pitchFamily="34" charset="-122"/>
                <a:cs typeface="Calibri" pitchFamily="34" charset="-120"/>
              </a:rPr>
              <a:t>TOPIC 2 · NETWORK TOPOLOGY</a:t>
            </a:r>
            <a:endParaRPr lang="en-US" sz="1200" dirty="0"/>
          </a:p>
        </p:txBody>
      </p:sp>
      <p:sp>
        <p:nvSpPr>
          <p:cNvPr id="3" name="Text 1"/>
          <p:cNvSpPr/>
          <p:nvPr/>
        </p:nvSpPr>
        <p:spPr>
          <a:xfrm>
            <a:off x="548640" y="566928"/>
            <a:ext cx="10424160" cy="822960"/>
          </a:xfrm>
          <a:prstGeom prst="rect">
            <a:avLst/>
          </a:prstGeom>
          <a:noFill/>
          <a:ln/>
        </p:spPr>
        <p:txBody>
          <a:bodyPr wrap="square" lIns="0" tIns="0" rIns="0" bIns="0" rtlCol="0" anchor="t"/>
          <a:lstStyle/>
          <a:p>
            <a:pPr marL="0" indent="0">
              <a:buNone/>
            </a:pPr>
            <a:r>
              <a:rPr lang="en-US" sz="3000" b="1" dirty="0">
                <a:solidFill>
                  <a:srgbClr val="13315C"/>
                </a:solidFill>
                <a:latin typeface="Bookman Old Style" pitchFamily="34" charset="0"/>
                <a:ea typeface="Bookman Old Style" pitchFamily="34" charset="-122"/>
                <a:cs typeface="Bookman Old Style" pitchFamily="34" charset="-120"/>
              </a:rPr>
              <a:t>Bus Topology</a:t>
            </a:r>
            <a:endParaRPr lang="en-US" sz="3000" dirty="0"/>
          </a:p>
        </p:txBody>
      </p:sp>
      <p:sp>
        <p:nvSpPr>
          <p:cNvPr id="6" name="Text 3"/>
          <p:cNvSpPr/>
          <p:nvPr/>
        </p:nvSpPr>
        <p:spPr>
          <a:xfrm>
            <a:off x="589789" y="1234440"/>
            <a:ext cx="5760720" cy="4480560"/>
          </a:xfrm>
          <a:prstGeom prst="rect">
            <a:avLst/>
          </a:prstGeom>
          <a:noFill/>
          <a:ln/>
        </p:spPr>
        <p:txBody>
          <a:bodyPr wrap="square" lIns="0" tIns="0" rIns="0" bIns="0" rtlCol="0" anchor="t"/>
          <a:lstStyle/>
          <a:p>
            <a:pPr marL="342900" indent="-342900">
              <a:lnSpc>
                <a:spcPct val="108000"/>
              </a:lnSpc>
              <a:spcAft>
                <a:spcPts val="1200"/>
              </a:spcAft>
              <a:buSzPct val="100000"/>
              <a:buChar char="●"/>
            </a:pPr>
            <a:r>
              <a:rPr lang="en-US" sz="2000" dirty="0">
                <a:solidFill>
                  <a:srgbClr val="13315C"/>
                </a:solidFill>
                <a:latin typeface="Calibri" pitchFamily="34" charset="0"/>
                <a:ea typeface="Calibri" pitchFamily="34" charset="-122"/>
                <a:cs typeface="Calibri" pitchFamily="34" charset="-120"/>
              </a:rPr>
              <a:t>All nodes connect to a single shared communication line (the 'bus'), typically via a tap or connector.</a:t>
            </a:r>
            <a:endParaRPr lang="en-US" sz="2000" dirty="0"/>
          </a:p>
          <a:p>
            <a:pPr marL="342900" indent="-342900">
              <a:lnSpc>
                <a:spcPct val="108000"/>
              </a:lnSpc>
              <a:spcAft>
                <a:spcPts val="1200"/>
              </a:spcAft>
              <a:buSzPct val="100000"/>
              <a:buChar char="●"/>
            </a:pPr>
            <a:r>
              <a:rPr lang="en-US" sz="2000" dirty="0">
                <a:solidFill>
                  <a:srgbClr val="13315C"/>
                </a:solidFill>
                <a:latin typeface="Calibri" pitchFamily="34" charset="0"/>
                <a:ea typeface="Calibri" pitchFamily="34" charset="-122"/>
                <a:cs typeface="Calibri" pitchFamily="34" charset="-120"/>
              </a:rPr>
              <a:t>A signal sent by any node travels along the bus and is received by all other nodes.</a:t>
            </a:r>
            <a:endParaRPr lang="en-US" sz="2000" dirty="0"/>
          </a:p>
          <a:p>
            <a:pPr marL="342900" indent="-342900">
              <a:lnSpc>
                <a:spcPct val="108000"/>
              </a:lnSpc>
              <a:spcAft>
                <a:spcPts val="1200"/>
              </a:spcAft>
              <a:buSzPct val="100000"/>
              <a:buChar char="●"/>
            </a:pPr>
            <a:r>
              <a:rPr lang="en-US" sz="2000" b="1" dirty="0">
                <a:solidFill>
                  <a:srgbClr val="13315C"/>
                </a:solidFill>
                <a:latin typeface="Calibri" pitchFamily="34" charset="0"/>
                <a:ea typeface="Calibri" pitchFamily="34" charset="-122"/>
                <a:cs typeface="Calibri" pitchFamily="34" charset="-120"/>
              </a:rPr>
              <a:t>Advantages:</a:t>
            </a:r>
            <a:endParaRPr lang="en-US" sz="2000" dirty="0"/>
          </a:p>
          <a:p>
            <a:pPr marL="685800" lvl="1" indent="-342900">
              <a:lnSpc>
                <a:spcPct val="108000"/>
              </a:lnSpc>
              <a:spcAft>
                <a:spcPts val="600"/>
              </a:spcAft>
              <a:buSzPct val="100000"/>
              <a:buChar char="–"/>
            </a:pPr>
            <a:r>
              <a:rPr lang="en-US" sz="2000" dirty="0">
                <a:solidFill>
                  <a:srgbClr val="13315C"/>
                </a:solidFill>
                <a:latin typeface="Calibri" pitchFamily="34" charset="0"/>
                <a:ea typeface="Calibri" pitchFamily="34" charset="-122"/>
                <a:cs typeface="Calibri" pitchFamily="34" charset="-120"/>
              </a:rPr>
              <a:t>Low cabling cost; simple to install for small networks.</a:t>
            </a:r>
            <a:endParaRPr lang="en-US" sz="2000" dirty="0"/>
          </a:p>
          <a:p>
            <a:pPr marL="342900" indent="-342900">
              <a:lnSpc>
                <a:spcPct val="108000"/>
              </a:lnSpc>
              <a:spcAft>
                <a:spcPts val="1200"/>
              </a:spcAft>
              <a:buSzPct val="100000"/>
              <a:buChar char="●"/>
            </a:pPr>
            <a:r>
              <a:rPr lang="en-US" sz="2000" b="1" dirty="0">
                <a:solidFill>
                  <a:srgbClr val="13315C"/>
                </a:solidFill>
                <a:latin typeface="Calibri" pitchFamily="34" charset="0"/>
                <a:ea typeface="Calibri" pitchFamily="34" charset="-122"/>
                <a:cs typeface="Calibri" pitchFamily="34" charset="-120"/>
              </a:rPr>
              <a:t>Disadvantages:</a:t>
            </a:r>
            <a:endParaRPr lang="en-US" sz="2000" dirty="0"/>
          </a:p>
          <a:p>
            <a:pPr marL="685800" lvl="1" indent="-342900">
              <a:lnSpc>
                <a:spcPct val="108000"/>
              </a:lnSpc>
              <a:spcAft>
                <a:spcPts val="600"/>
              </a:spcAft>
              <a:buSzPct val="100000"/>
              <a:buChar char="–"/>
            </a:pPr>
            <a:r>
              <a:rPr lang="en-US" sz="2000" dirty="0">
                <a:solidFill>
                  <a:srgbClr val="13315C"/>
                </a:solidFill>
                <a:latin typeface="Calibri" pitchFamily="34" charset="0"/>
                <a:ea typeface="Calibri" pitchFamily="34" charset="-122"/>
                <a:cs typeface="Calibri" pitchFamily="34" charset="-120"/>
              </a:rPr>
              <a:t>A single break in the bus can disable the entire network.</a:t>
            </a:r>
            <a:endParaRPr lang="en-US" sz="2000" dirty="0"/>
          </a:p>
          <a:p>
            <a:pPr marL="685800" lvl="1" indent="-342900">
              <a:lnSpc>
                <a:spcPct val="108000"/>
              </a:lnSpc>
              <a:spcAft>
                <a:spcPts val="600"/>
              </a:spcAft>
              <a:buSzPct val="100000"/>
              <a:buChar char="–"/>
            </a:pPr>
            <a:r>
              <a:rPr lang="en-US" sz="2000" dirty="0">
                <a:solidFill>
                  <a:srgbClr val="13315C"/>
                </a:solidFill>
                <a:latin typeface="Calibri" pitchFamily="34" charset="0"/>
                <a:ea typeface="Calibri" pitchFamily="34" charset="-122"/>
                <a:cs typeface="Calibri" pitchFamily="34" charset="-120"/>
              </a:rPr>
              <a:t>Performance degrades as more nodes are added (shared medium contention).</a:t>
            </a:r>
            <a:endParaRPr lang="en-US" sz="2000" dirty="0"/>
          </a:p>
        </p:txBody>
      </p:sp>
      <p:sp>
        <p:nvSpPr>
          <p:cNvPr id="20" name="Text 17"/>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TOPIC 2 · NETWORK TOPOLOGY</a:t>
            </a:r>
            <a:endParaRPr lang="en-US" sz="1000" dirty="0"/>
          </a:p>
        </p:txBody>
      </p:sp>
      <p:pic>
        <p:nvPicPr>
          <p:cNvPr id="23" name="Picture 22">
            <a:extLst>
              <a:ext uri="{FF2B5EF4-FFF2-40B4-BE49-F238E27FC236}">
                <a16:creationId xmlns:a16="http://schemas.microsoft.com/office/drawing/2014/main" id="{1C3085A0-1C1B-64B5-1ECA-F23D12EC9A96}"/>
              </a:ext>
            </a:extLst>
          </p:cNvPr>
          <p:cNvPicPr>
            <a:picLocks noChangeAspect="1"/>
          </p:cNvPicPr>
          <p:nvPr/>
        </p:nvPicPr>
        <p:blipFill>
          <a:blip r:embed="rId3"/>
          <a:stretch>
            <a:fillRect/>
          </a:stretch>
        </p:blipFill>
        <p:spPr>
          <a:xfrm>
            <a:off x="6391658" y="1636776"/>
            <a:ext cx="5553908" cy="3139347"/>
          </a:xfrm>
          <a:prstGeom prst="rect">
            <a:avLst/>
          </a:prstGeom>
        </p:spPr>
      </p:pic>
      <p:sp>
        <p:nvSpPr>
          <p:cNvPr id="24" name="TextBox 23"/>
          <p:cNvSpPr txBox="1"/>
          <p:nvPr/>
        </p:nvSpPr>
        <p:spPr>
          <a:xfrm>
            <a:off x="11792000" y="6638000"/>
            <a:ext cx="200000" cy="100000"/>
          </a:xfrm>
          <a:prstGeom prst="rect">
            <a:avLst/>
          </a:prstGeom>
          <a:noFill/>
        </p:spPr>
        <p:txBody>
          <a:bodyPr wrap="none">
            <a:spAutoFit/>
          </a:bodyPr>
          <a:lstStyle/>
          <a:p>
            <a:pPr>
              <a:defRPr sz="1000"/>
            </a:pPr>
            <a: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0091AD"/>
                </a:solidFill>
                <a:latin typeface="Calibri" pitchFamily="34" charset="0"/>
                <a:ea typeface="Calibri" pitchFamily="34" charset="-122"/>
                <a:cs typeface="Calibri" pitchFamily="34" charset="-120"/>
              </a:rPr>
              <a:t>TOPIC 2 · NETWORK TOPOLOGY</a:t>
            </a:r>
            <a:endParaRPr lang="en-US" sz="1200" dirty="0"/>
          </a:p>
        </p:txBody>
      </p:sp>
      <p:sp>
        <p:nvSpPr>
          <p:cNvPr id="3" name="Text 1"/>
          <p:cNvSpPr/>
          <p:nvPr/>
        </p:nvSpPr>
        <p:spPr>
          <a:xfrm>
            <a:off x="548640" y="566928"/>
            <a:ext cx="10424160" cy="822960"/>
          </a:xfrm>
          <a:prstGeom prst="rect">
            <a:avLst/>
          </a:prstGeom>
          <a:noFill/>
          <a:ln/>
        </p:spPr>
        <p:txBody>
          <a:bodyPr wrap="square" lIns="0" tIns="0" rIns="0" bIns="0" rtlCol="0" anchor="t"/>
          <a:lstStyle/>
          <a:p>
            <a:pPr marL="0" indent="0">
              <a:buNone/>
            </a:pPr>
            <a:r>
              <a:rPr lang="en-US" sz="3000" b="1" dirty="0">
                <a:solidFill>
                  <a:srgbClr val="13315C"/>
                </a:solidFill>
                <a:latin typeface="Bookman Old Style" pitchFamily="34" charset="0"/>
                <a:ea typeface="Bookman Old Style" pitchFamily="34" charset="-122"/>
                <a:cs typeface="Bookman Old Style" pitchFamily="34" charset="-120"/>
              </a:rPr>
              <a:t>Star Topology</a:t>
            </a:r>
            <a:endParaRPr lang="en-US" sz="3000" dirty="0"/>
          </a:p>
        </p:txBody>
      </p:sp>
      <p:sp>
        <p:nvSpPr>
          <p:cNvPr id="6" name="Text 3"/>
          <p:cNvSpPr/>
          <p:nvPr/>
        </p:nvSpPr>
        <p:spPr>
          <a:xfrm>
            <a:off x="182880" y="1199810"/>
            <a:ext cx="5760720" cy="4480560"/>
          </a:xfrm>
          <a:prstGeom prst="rect">
            <a:avLst/>
          </a:prstGeom>
          <a:noFill/>
          <a:ln/>
        </p:spPr>
        <p:txBody>
          <a:bodyPr wrap="square" lIns="0" tIns="0" rIns="0" bIns="0" rtlCol="0" anchor="t"/>
          <a:lstStyle/>
          <a:p>
            <a:pPr marL="342900" indent="-342900">
              <a:lnSpc>
                <a:spcPct val="108000"/>
              </a:lnSpc>
              <a:spcAft>
                <a:spcPts val="1200"/>
              </a:spcAft>
              <a:buSzPct val="100000"/>
              <a:buChar char="●"/>
            </a:pPr>
            <a:r>
              <a:rPr lang="en-US" sz="2000" dirty="0">
                <a:solidFill>
                  <a:srgbClr val="13315C"/>
                </a:solidFill>
                <a:latin typeface="Calibri" pitchFamily="34" charset="0"/>
                <a:ea typeface="Calibri" pitchFamily="34" charset="-122"/>
                <a:cs typeface="Calibri" pitchFamily="34" charset="-120"/>
              </a:rPr>
              <a:t>Every node connects individually to a central device (a hub or switch).</a:t>
            </a:r>
            <a:endParaRPr lang="en-US" sz="2000" dirty="0"/>
          </a:p>
          <a:p>
            <a:pPr marL="342900" indent="-342900">
              <a:lnSpc>
                <a:spcPct val="108000"/>
              </a:lnSpc>
              <a:spcAft>
                <a:spcPts val="1200"/>
              </a:spcAft>
              <a:buSzPct val="100000"/>
              <a:buChar char="●"/>
            </a:pPr>
            <a:r>
              <a:rPr lang="en-US" sz="2000" dirty="0">
                <a:solidFill>
                  <a:srgbClr val="13315C"/>
                </a:solidFill>
                <a:latin typeface="Calibri" pitchFamily="34" charset="0"/>
                <a:ea typeface="Calibri" pitchFamily="34" charset="-122"/>
                <a:cs typeface="Calibri" pitchFamily="34" charset="-120"/>
              </a:rPr>
              <a:t>All traffic passes through the central device, even traffic between two ordinary nodes.</a:t>
            </a:r>
            <a:endParaRPr lang="en-US" sz="2000" dirty="0"/>
          </a:p>
          <a:p>
            <a:pPr marL="342900" indent="-342900">
              <a:lnSpc>
                <a:spcPct val="108000"/>
              </a:lnSpc>
              <a:spcAft>
                <a:spcPts val="1200"/>
              </a:spcAft>
              <a:buSzPct val="100000"/>
              <a:buChar char="●"/>
            </a:pPr>
            <a:r>
              <a:rPr lang="en-US" sz="2000" b="1" dirty="0">
                <a:solidFill>
                  <a:srgbClr val="13315C"/>
                </a:solidFill>
                <a:latin typeface="Calibri" pitchFamily="34" charset="0"/>
                <a:ea typeface="Calibri" pitchFamily="34" charset="-122"/>
                <a:cs typeface="Calibri" pitchFamily="34" charset="-120"/>
              </a:rPr>
              <a:t>Advantages:</a:t>
            </a:r>
            <a:endParaRPr lang="en-US" sz="2000" dirty="0"/>
          </a:p>
          <a:p>
            <a:pPr marL="685800" lvl="1" indent="-342900">
              <a:lnSpc>
                <a:spcPct val="108000"/>
              </a:lnSpc>
              <a:spcAft>
                <a:spcPts val="600"/>
              </a:spcAft>
              <a:buSzPct val="100000"/>
              <a:buChar char="–"/>
            </a:pPr>
            <a:r>
              <a:rPr lang="en-US" sz="2000" dirty="0">
                <a:solidFill>
                  <a:srgbClr val="13315C"/>
                </a:solidFill>
                <a:latin typeface="Calibri" pitchFamily="34" charset="0"/>
                <a:ea typeface="Calibri" pitchFamily="34" charset="-122"/>
                <a:cs typeface="Calibri" pitchFamily="34" charset="-120"/>
              </a:rPr>
              <a:t>Easy to add/remove nodes; a single cable failure only affects one node.</a:t>
            </a:r>
            <a:endParaRPr lang="en-US" sz="2000" dirty="0"/>
          </a:p>
          <a:p>
            <a:pPr marL="685800" lvl="1" indent="-342900">
              <a:lnSpc>
                <a:spcPct val="108000"/>
              </a:lnSpc>
              <a:spcAft>
                <a:spcPts val="600"/>
              </a:spcAft>
              <a:buSzPct val="100000"/>
              <a:buChar char="–"/>
            </a:pPr>
            <a:r>
              <a:rPr lang="en-US" sz="2000" dirty="0">
                <a:solidFill>
                  <a:srgbClr val="13315C"/>
                </a:solidFill>
                <a:latin typeface="Calibri" pitchFamily="34" charset="0"/>
                <a:ea typeface="Calibri" pitchFamily="34" charset="-122"/>
                <a:cs typeface="Calibri" pitchFamily="34" charset="-120"/>
              </a:rPr>
              <a:t>Centralized management and troubleshooting.</a:t>
            </a:r>
            <a:endParaRPr lang="en-US" sz="2000" dirty="0"/>
          </a:p>
          <a:p>
            <a:pPr marL="342900" indent="-342900">
              <a:lnSpc>
                <a:spcPct val="108000"/>
              </a:lnSpc>
              <a:spcAft>
                <a:spcPts val="1200"/>
              </a:spcAft>
              <a:buSzPct val="100000"/>
              <a:buChar char="●"/>
            </a:pPr>
            <a:r>
              <a:rPr lang="en-US" sz="2000" b="1" dirty="0">
                <a:solidFill>
                  <a:srgbClr val="13315C"/>
                </a:solidFill>
                <a:latin typeface="Calibri" pitchFamily="34" charset="0"/>
                <a:ea typeface="Calibri" pitchFamily="34" charset="-122"/>
                <a:cs typeface="Calibri" pitchFamily="34" charset="-120"/>
              </a:rPr>
              <a:t>Disadvantages:</a:t>
            </a:r>
            <a:endParaRPr lang="en-US" sz="2000" dirty="0"/>
          </a:p>
          <a:p>
            <a:pPr marL="685800" lvl="1" indent="-342900">
              <a:lnSpc>
                <a:spcPct val="108000"/>
              </a:lnSpc>
              <a:spcAft>
                <a:spcPts val="600"/>
              </a:spcAft>
              <a:buSzPct val="100000"/>
              <a:buChar char="–"/>
            </a:pPr>
            <a:r>
              <a:rPr lang="en-US" sz="2000" dirty="0">
                <a:solidFill>
                  <a:srgbClr val="13315C"/>
                </a:solidFill>
                <a:latin typeface="Calibri" pitchFamily="34" charset="0"/>
                <a:ea typeface="Calibri" pitchFamily="34" charset="-122"/>
                <a:cs typeface="Calibri" pitchFamily="34" charset="-120"/>
              </a:rPr>
              <a:t>The central device is a single point of failure for the whole network.</a:t>
            </a:r>
            <a:endParaRPr lang="en-US" sz="2000" dirty="0"/>
          </a:p>
        </p:txBody>
      </p:sp>
      <p:sp>
        <p:nvSpPr>
          <p:cNvPr id="21" name="Text 18"/>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TOPIC 2 · NETWORK TOPOLOGY</a:t>
            </a:r>
            <a:endParaRPr lang="en-US" sz="1000" dirty="0"/>
          </a:p>
        </p:txBody>
      </p:sp>
      <p:pic>
        <p:nvPicPr>
          <p:cNvPr id="24" name="Picture 23">
            <a:extLst>
              <a:ext uri="{FF2B5EF4-FFF2-40B4-BE49-F238E27FC236}">
                <a16:creationId xmlns:a16="http://schemas.microsoft.com/office/drawing/2014/main" id="{9D72D923-0DC4-0C62-02BE-625BECF9C321}"/>
              </a:ext>
            </a:extLst>
          </p:cNvPr>
          <p:cNvPicPr>
            <a:picLocks noChangeAspect="1"/>
          </p:cNvPicPr>
          <p:nvPr/>
        </p:nvPicPr>
        <p:blipFill>
          <a:blip r:embed="rId3"/>
          <a:stretch>
            <a:fillRect/>
          </a:stretch>
        </p:blipFill>
        <p:spPr>
          <a:xfrm>
            <a:off x="6309360" y="1199810"/>
            <a:ext cx="5448772" cy="4099915"/>
          </a:xfrm>
          <a:prstGeom prst="rect">
            <a:avLst/>
          </a:prstGeom>
        </p:spPr>
      </p:pic>
      <p:sp>
        <p:nvSpPr>
          <p:cNvPr id="25" name="TextBox 24"/>
          <p:cNvSpPr txBox="1"/>
          <p:nvPr/>
        </p:nvSpPr>
        <p:spPr>
          <a:xfrm>
            <a:off x="11792000" y="6638000"/>
            <a:ext cx="200000" cy="100000"/>
          </a:xfrm>
          <a:prstGeom prst="rect">
            <a:avLst/>
          </a:prstGeom>
          <a:noFill/>
        </p:spPr>
        <p:txBody>
          <a:bodyPr wrap="none">
            <a:spAutoFit/>
          </a:bodyPr>
          <a:lstStyle/>
          <a:p>
            <a:pPr>
              <a:defRPr sz="1000"/>
            </a:pPr>
            <a: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0091AD"/>
                </a:solidFill>
                <a:latin typeface="Calibri" pitchFamily="34" charset="0"/>
                <a:ea typeface="Calibri" pitchFamily="34" charset="-122"/>
                <a:cs typeface="Calibri" pitchFamily="34" charset="-120"/>
              </a:rPr>
              <a:t>TOPIC 1 · NETWORK TOPOLOGY</a:t>
            </a:r>
            <a:endParaRPr lang="en-US" sz="1200" dirty="0"/>
          </a:p>
        </p:txBody>
      </p:sp>
      <p:sp>
        <p:nvSpPr>
          <p:cNvPr id="3" name="Text 1"/>
          <p:cNvSpPr/>
          <p:nvPr/>
        </p:nvSpPr>
        <p:spPr>
          <a:xfrm>
            <a:off x="548640" y="566928"/>
            <a:ext cx="10424160" cy="822960"/>
          </a:xfrm>
          <a:prstGeom prst="rect">
            <a:avLst/>
          </a:prstGeom>
          <a:noFill/>
          <a:ln/>
        </p:spPr>
        <p:txBody>
          <a:bodyPr wrap="square" lIns="0" tIns="0" rIns="0" bIns="0" rtlCol="0" anchor="t"/>
          <a:lstStyle/>
          <a:p>
            <a:pPr marL="0" indent="0">
              <a:buNone/>
            </a:pPr>
            <a:r>
              <a:rPr lang="en-US" sz="3000" b="1" dirty="0">
                <a:solidFill>
                  <a:srgbClr val="13315C"/>
                </a:solidFill>
                <a:latin typeface="Bookman Old Style" pitchFamily="34" charset="0"/>
                <a:ea typeface="Bookman Old Style" pitchFamily="34" charset="-122"/>
                <a:cs typeface="Bookman Old Style" pitchFamily="34" charset="-120"/>
              </a:rPr>
              <a:t>Ring Topology</a:t>
            </a:r>
            <a:endParaRPr lang="en-US" sz="3000" dirty="0"/>
          </a:p>
        </p:txBody>
      </p:sp>
      <p:sp>
        <p:nvSpPr>
          <p:cNvPr id="6" name="Text 3"/>
          <p:cNvSpPr/>
          <p:nvPr/>
        </p:nvSpPr>
        <p:spPr>
          <a:xfrm>
            <a:off x="182880" y="1293876"/>
            <a:ext cx="5760720" cy="4480560"/>
          </a:xfrm>
          <a:prstGeom prst="rect">
            <a:avLst/>
          </a:prstGeom>
          <a:noFill/>
          <a:ln/>
        </p:spPr>
        <p:txBody>
          <a:bodyPr wrap="square" lIns="0" tIns="0" rIns="0" bIns="0" rtlCol="0" anchor="t"/>
          <a:lstStyle/>
          <a:p>
            <a:pPr marL="342900" indent="-342900">
              <a:lnSpc>
                <a:spcPct val="108000"/>
              </a:lnSpc>
              <a:spcAft>
                <a:spcPts val="1200"/>
              </a:spcAft>
              <a:buSzPct val="100000"/>
              <a:buChar char="●"/>
            </a:pPr>
            <a:r>
              <a:rPr lang="en-US" sz="2000" dirty="0">
                <a:solidFill>
                  <a:srgbClr val="13315C"/>
                </a:solidFill>
                <a:latin typeface="Calibri" pitchFamily="34" charset="0"/>
                <a:ea typeface="Calibri" pitchFamily="34" charset="-122"/>
                <a:cs typeface="Calibri" pitchFamily="34" charset="-120"/>
              </a:rPr>
              <a:t>Each node connects to exactly two neighbors, forming a closed loop.</a:t>
            </a:r>
            <a:endParaRPr lang="en-US" sz="2000" dirty="0"/>
          </a:p>
          <a:p>
            <a:pPr marL="342900" indent="-342900">
              <a:lnSpc>
                <a:spcPct val="108000"/>
              </a:lnSpc>
              <a:spcAft>
                <a:spcPts val="1200"/>
              </a:spcAft>
              <a:buSzPct val="100000"/>
              <a:buChar char="●"/>
            </a:pPr>
            <a:r>
              <a:rPr lang="en-US" sz="2000" dirty="0">
                <a:solidFill>
                  <a:srgbClr val="13315C"/>
                </a:solidFill>
                <a:latin typeface="Calibri" pitchFamily="34" charset="0"/>
                <a:ea typeface="Calibri" pitchFamily="34" charset="-122"/>
                <a:cs typeface="Calibri" pitchFamily="34" charset="-120"/>
              </a:rPr>
              <a:t>Data travels around the ring, typically in one direction, passing through intermediate nodes to reach its destination.</a:t>
            </a:r>
            <a:endParaRPr lang="en-US" sz="2000" dirty="0"/>
          </a:p>
          <a:p>
            <a:pPr marL="342900" indent="-342900">
              <a:lnSpc>
                <a:spcPct val="108000"/>
              </a:lnSpc>
              <a:spcAft>
                <a:spcPts val="1200"/>
              </a:spcAft>
              <a:buSzPct val="100000"/>
              <a:buChar char="●"/>
            </a:pPr>
            <a:r>
              <a:rPr lang="en-US" sz="2000" b="1" dirty="0">
                <a:solidFill>
                  <a:srgbClr val="13315C"/>
                </a:solidFill>
                <a:latin typeface="Calibri" pitchFamily="34" charset="0"/>
                <a:ea typeface="Calibri" pitchFamily="34" charset="-122"/>
                <a:cs typeface="Calibri" pitchFamily="34" charset="-120"/>
              </a:rPr>
              <a:t>Advantages:</a:t>
            </a:r>
            <a:endParaRPr lang="en-US" sz="2000" dirty="0"/>
          </a:p>
          <a:p>
            <a:pPr marL="685800" lvl="1" indent="-342900">
              <a:lnSpc>
                <a:spcPct val="108000"/>
              </a:lnSpc>
              <a:spcAft>
                <a:spcPts val="600"/>
              </a:spcAft>
              <a:buSzPct val="100000"/>
              <a:buChar char="–"/>
            </a:pPr>
            <a:r>
              <a:rPr lang="en-US" sz="2000" dirty="0">
                <a:solidFill>
                  <a:srgbClr val="13315C"/>
                </a:solidFill>
                <a:latin typeface="Calibri" pitchFamily="34" charset="0"/>
                <a:ea typeface="Calibri" pitchFamily="34" charset="-122"/>
                <a:cs typeface="Calibri" pitchFamily="34" charset="-120"/>
              </a:rPr>
              <a:t>Predictable performance; no collisions if using token passing.</a:t>
            </a:r>
            <a:endParaRPr lang="en-US" sz="2000" dirty="0"/>
          </a:p>
          <a:p>
            <a:pPr marL="342900" indent="-342900">
              <a:lnSpc>
                <a:spcPct val="108000"/>
              </a:lnSpc>
              <a:spcAft>
                <a:spcPts val="1200"/>
              </a:spcAft>
              <a:buSzPct val="100000"/>
              <a:buChar char="●"/>
            </a:pPr>
            <a:r>
              <a:rPr lang="en-US" sz="2000" b="1" dirty="0">
                <a:solidFill>
                  <a:srgbClr val="13315C"/>
                </a:solidFill>
                <a:latin typeface="Calibri" pitchFamily="34" charset="0"/>
                <a:ea typeface="Calibri" pitchFamily="34" charset="-122"/>
                <a:cs typeface="Calibri" pitchFamily="34" charset="-120"/>
              </a:rPr>
              <a:t>Disadvantages:</a:t>
            </a:r>
            <a:endParaRPr lang="en-US" sz="2000" dirty="0"/>
          </a:p>
          <a:p>
            <a:pPr marL="685800" lvl="1" indent="-342900">
              <a:lnSpc>
                <a:spcPct val="108000"/>
              </a:lnSpc>
              <a:spcAft>
                <a:spcPts val="600"/>
              </a:spcAft>
              <a:buSzPct val="100000"/>
              <a:buChar char="–"/>
            </a:pPr>
            <a:r>
              <a:rPr lang="en-US" sz="2000" dirty="0">
                <a:solidFill>
                  <a:srgbClr val="13315C"/>
                </a:solidFill>
                <a:latin typeface="Calibri" pitchFamily="34" charset="0"/>
                <a:ea typeface="Calibri" pitchFamily="34" charset="-122"/>
                <a:cs typeface="Calibri" pitchFamily="34" charset="-120"/>
              </a:rPr>
              <a:t>A single broken link can disrupt the entire ring (unless a dual-ring design is used).</a:t>
            </a:r>
            <a:endParaRPr lang="en-US" sz="2000" dirty="0"/>
          </a:p>
          <a:p>
            <a:pPr marL="685800" lvl="1" indent="-342900">
              <a:lnSpc>
                <a:spcPct val="108000"/>
              </a:lnSpc>
              <a:spcAft>
                <a:spcPts val="600"/>
              </a:spcAft>
              <a:buSzPct val="100000"/>
              <a:buChar char="–"/>
            </a:pPr>
            <a:r>
              <a:rPr lang="en-US" sz="2000" dirty="0">
                <a:solidFill>
                  <a:srgbClr val="13315C"/>
                </a:solidFill>
                <a:latin typeface="Calibri" pitchFamily="34" charset="0"/>
                <a:ea typeface="Calibri" pitchFamily="34" charset="-122"/>
                <a:cs typeface="Calibri" pitchFamily="34" charset="-120"/>
              </a:rPr>
              <a:t>Adding or removing a node can disrupt network operation.</a:t>
            </a:r>
            <a:endParaRPr lang="en-US" sz="2000" dirty="0"/>
          </a:p>
        </p:txBody>
      </p:sp>
      <p:sp>
        <p:nvSpPr>
          <p:cNvPr id="21" name="Text 18"/>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TOPIC 2 · NETWORK TOPOLOGY</a:t>
            </a:r>
            <a:endParaRPr lang="en-US" sz="1000" dirty="0"/>
          </a:p>
        </p:txBody>
      </p:sp>
      <p:pic>
        <p:nvPicPr>
          <p:cNvPr id="24" name="Picture 23">
            <a:extLst>
              <a:ext uri="{FF2B5EF4-FFF2-40B4-BE49-F238E27FC236}">
                <a16:creationId xmlns:a16="http://schemas.microsoft.com/office/drawing/2014/main" id="{BC8B4D0F-D5BD-E1A9-90F0-4F5465556202}"/>
              </a:ext>
            </a:extLst>
          </p:cNvPr>
          <p:cNvPicPr>
            <a:picLocks noChangeAspect="1"/>
          </p:cNvPicPr>
          <p:nvPr/>
        </p:nvPicPr>
        <p:blipFill>
          <a:blip r:embed="rId3"/>
          <a:stretch>
            <a:fillRect/>
          </a:stretch>
        </p:blipFill>
        <p:spPr>
          <a:xfrm>
            <a:off x="5988856" y="1293876"/>
            <a:ext cx="5349704" cy="4572396"/>
          </a:xfrm>
          <a:prstGeom prst="rect">
            <a:avLst/>
          </a:prstGeom>
        </p:spPr>
      </p:pic>
      <p:sp>
        <p:nvSpPr>
          <p:cNvPr id="25" name="TextBox 24"/>
          <p:cNvSpPr txBox="1"/>
          <p:nvPr/>
        </p:nvSpPr>
        <p:spPr>
          <a:xfrm>
            <a:off x="11792000" y="6638000"/>
            <a:ext cx="200000" cy="100000"/>
          </a:xfrm>
          <a:prstGeom prst="rect">
            <a:avLst/>
          </a:prstGeom>
          <a:noFill/>
        </p:spPr>
        <p:txBody>
          <a:bodyPr wrap="none">
            <a:spAutoFit/>
          </a:bodyPr>
          <a:lstStyle/>
          <a:p>
            <a:pPr>
              <a:defRPr sz="1000"/>
            </a:pPr>
            <a: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0091AD"/>
                </a:solidFill>
                <a:latin typeface="Calibri" pitchFamily="34" charset="0"/>
                <a:ea typeface="Calibri" pitchFamily="34" charset="-122"/>
                <a:cs typeface="Calibri" pitchFamily="34" charset="-120"/>
              </a:rPr>
              <a:t>TOPIC 2 · NETWORK TOPOLOGY</a:t>
            </a:r>
            <a:endParaRPr lang="en-US" sz="1200" dirty="0"/>
          </a:p>
        </p:txBody>
      </p:sp>
      <p:sp>
        <p:nvSpPr>
          <p:cNvPr id="3" name="Text 1"/>
          <p:cNvSpPr/>
          <p:nvPr/>
        </p:nvSpPr>
        <p:spPr>
          <a:xfrm>
            <a:off x="548640" y="566928"/>
            <a:ext cx="10424160" cy="822960"/>
          </a:xfrm>
          <a:prstGeom prst="rect">
            <a:avLst/>
          </a:prstGeom>
          <a:noFill/>
          <a:ln/>
        </p:spPr>
        <p:txBody>
          <a:bodyPr wrap="square" lIns="0" tIns="0" rIns="0" bIns="0" rtlCol="0" anchor="t"/>
          <a:lstStyle/>
          <a:p>
            <a:pPr marL="0" indent="0">
              <a:buNone/>
            </a:pPr>
            <a:r>
              <a:rPr lang="en-US" sz="3000" b="1" dirty="0">
                <a:solidFill>
                  <a:srgbClr val="13315C"/>
                </a:solidFill>
                <a:latin typeface="Bookman Old Style" pitchFamily="34" charset="0"/>
                <a:ea typeface="Bookman Old Style" pitchFamily="34" charset="-122"/>
                <a:cs typeface="Bookman Old Style" pitchFamily="34" charset="-120"/>
              </a:rPr>
              <a:t>Mesh Topology</a:t>
            </a:r>
            <a:endParaRPr lang="en-US" sz="3000" dirty="0"/>
          </a:p>
        </p:txBody>
      </p:sp>
      <p:sp>
        <p:nvSpPr>
          <p:cNvPr id="6" name="Text 3"/>
          <p:cNvSpPr/>
          <p:nvPr/>
        </p:nvSpPr>
        <p:spPr>
          <a:xfrm>
            <a:off x="101167" y="1090860"/>
            <a:ext cx="5760720" cy="4480560"/>
          </a:xfrm>
          <a:prstGeom prst="rect">
            <a:avLst/>
          </a:prstGeom>
          <a:noFill/>
          <a:ln/>
        </p:spPr>
        <p:txBody>
          <a:bodyPr wrap="square" lIns="0" tIns="0" rIns="0" bIns="0" rtlCol="0" anchor="t"/>
          <a:lstStyle/>
          <a:p>
            <a:pPr marL="342900" indent="-342900">
              <a:lnSpc>
                <a:spcPct val="108000"/>
              </a:lnSpc>
              <a:spcAft>
                <a:spcPts val="1200"/>
              </a:spcAft>
              <a:buSzPct val="100000"/>
              <a:buChar char="●"/>
            </a:pPr>
            <a:r>
              <a:rPr lang="en-US" sz="2400" dirty="0">
                <a:solidFill>
                  <a:srgbClr val="13315C"/>
                </a:solidFill>
                <a:latin typeface="Calibri" pitchFamily="34" charset="0"/>
                <a:ea typeface="Calibri" pitchFamily="34" charset="-122"/>
                <a:cs typeface="Calibri" pitchFamily="34" charset="-120"/>
              </a:rPr>
              <a:t>Full mesh: every node connects directly to every other node.</a:t>
            </a:r>
            <a:endParaRPr lang="en-US" sz="2400" dirty="0"/>
          </a:p>
          <a:p>
            <a:pPr marL="342900" indent="-342900">
              <a:lnSpc>
                <a:spcPct val="108000"/>
              </a:lnSpc>
              <a:spcAft>
                <a:spcPts val="1200"/>
              </a:spcAft>
              <a:buSzPct val="100000"/>
              <a:buChar char="●"/>
            </a:pPr>
            <a:r>
              <a:rPr lang="en-US" sz="2400" dirty="0">
                <a:solidFill>
                  <a:srgbClr val="13315C"/>
                </a:solidFill>
                <a:latin typeface="Calibri" pitchFamily="34" charset="0"/>
                <a:ea typeface="Calibri" pitchFamily="34" charset="-122"/>
                <a:cs typeface="Calibri" pitchFamily="34" charset="-120"/>
              </a:rPr>
              <a:t>Partial mesh: only some nodes have direct links to multiple others.</a:t>
            </a:r>
            <a:endParaRPr lang="en-US" sz="2400" dirty="0"/>
          </a:p>
          <a:p>
            <a:pPr marL="342900" indent="-342900">
              <a:lnSpc>
                <a:spcPct val="108000"/>
              </a:lnSpc>
              <a:spcAft>
                <a:spcPts val="1200"/>
              </a:spcAft>
              <a:buSzPct val="100000"/>
              <a:buChar char="●"/>
            </a:pPr>
            <a:r>
              <a:rPr lang="en-US" sz="2400" b="1" dirty="0">
                <a:solidFill>
                  <a:srgbClr val="13315C"/>
                </a:solidFill>
                <a:latin typeface="Calibri" pitchFamily="34" charset="0"/>
                <a:ea typeface="Calibri" pitchFamily="34" charset="-122"/>
                <a:cs typeface="Calibri" pitchFamily="34" charset="-120"/>
              </a:rPr>
              <a:t>Advantages:</a:t>
            </a:r>
            <a:endParaRPr lang="en-US" sz="2400" dirty="0"/>
          </a:p>
          <a:p>
            <a:pPr marL="685800" lvl="1" indent="-342900">
              <a:lnSpc>
                <a:spcPct val="108000"/>
              </a:lnSpc>
              <a:spcAft>
                <a:spcPts val="600"/>
              </a:spcAft>
              <a:buSzPct val="100000"/>
              <a:buChar char="–"/>
            </a:pPr>
            <a:r>
              <a:rPr lang="en-US" sz="2400" dirty="0">
                <a:solidFill>
                  <a:srgbClr val="13315C"/>
                </a:solidFill>
                <a:latin typeface="Calibri" pitchFamily="34" charset="0"/>
                <a:ea typeface="Calibri" pitchFamily="34" charset="-122"/>
                <a:cs typeface="Calibri" pitchFamily="34" charset="-120"/>
              </a:rPr>
              <a:t>Very high fault tolerance — multiple paths exist between any two nodes.</a:t>
            </a:r>
            <a:endParaRPr lang="en-US" sz="2400" dirty="0"/>
          </a:p>
          <a:p>
            <a:pPr marL="685800" lvl="1" indent="-342900">
              <a:lnSpc>
                <a:spcPct val="108000"/>
              </a:lnSpc>
              <a:spcAft>
                <a:spcPts val="600"/>
              </a:spcAft>
              <a:buSzPct val="100000"/>
              <a:buChar char="–"/>
            </a:pPr>
            <a:r>
              <a:rPr lang="en-US" sz="2400" dirty="0">
                <a:solidFill>
                  <a:srgbClr val="13315C"/>
                </a:solidFill>
                <a:latin typeface="Calibri" pitchFamily="34" charset="0"/>
                <a:ea typeface="Calibri" pitchFamily="34" charset="-122"/>
                <a:cs typeface="Calibri" pitchFamily="34" charset="-120"/>
              </a:rPr>
              <a:t>No single point of failure or traffic bottleneck.</a:t>
            </a:r>
            <a:endParaRPr lang="en-US" sz="2400" dirty="0"/>
          </a:p>
          <a:p>
            <a:pPr marL="342900" indent="-342900">
              <a:lnSpc>
                <a:spcPct val="108000"/>
              </a:lnSpc>
              <a:spcAft>
                <a:spcPts val="1200"/>
              </a:spcAft>
              <a:buSzPct val="100000"/>
              <a:buChar char="●"/>
            </a:pPr>
            <a:r>
              <a:rPr lang="en-US" sz="2400" b="1" dirty="0">
                <a:solidFill>
                  <a:srgbClr val="13315C"/>
                </a:solidFill>
                <a:latin typeface="Calibri" pitchFamily="34" charset="0"/>
                <a:ea typeface="Calibri" pitchFamily="34" charset="-122"/>
                <a:cs typeface="Calibri" pitchFamily="34" charset="-120"/>
              </a:rPr>
              <a:t>Disadvantages:</a:t>
            </a:r>
            <a:endParaRPr lang="en-US" sz="2400" dirty="0"/>
          </a:p>
          <a:p>
            <a:pPr marL="685800" lvl="1" indent="-342900">
              <a:lnSpc>
                <a:spcPct val="108000"/>
              </a:lnSpc>
              <a:spcAft>
                <a:spcPts val="600"/>
              </a:spcAft>
              <a:buSzPct val="100000"/>
              <a:buChar char="–"/>
            </a:pPr>
            <a:r>
              <a:rPr lang="en-US" sz="2400" dirty="0">
                <a:solidFill>
                  <a:srgbClr val="13315C"/>
                </a:solidFill>
                <a:latin typeface="Calibri" pitchFamily="34" charset="0"/>
                <a:ea typeface="Calibri" pitchFamily="34" charset="-122"/>
                <a:cs typeface="Calibri" pitchFamily="34" charset="-120"/>
              </a:rPr>
              <a:t>Expensive and complex — a full mesh of n nodes needs n(n-1)/2 links.</a:t>
            </a:r>
            <a:endParaRPr lang="en-US" sz="2400" dirty="0"/>
          </a:p>
        </p:txBody>
      </p:sp>
      <p:pic>
        <p:nvPicPr>
          <p:cNvPr id="25" name="Picture 24">
            <a:extLst>
              <a:ext uri="{FF2B5EF4-FFF2-40B4-BE49-F238E27FC236}">
                <a16:creationId xmlns:a16="http://schemas.microsoft.com/office/drawing/2014/main" id="{7C63B3F4-10DA-3468-57A2-3E3C70B78A7B}"/>
              </a:ext>
            </a:extLst>
          </p:cNvPr>
          <p:cNvPicPr>
            <a:picLocks noChangeAspect="1"/>
          </p:cNvPicPr>
          <p:nvPr/>
        </p:nvPicPr>
        <p:blipFill>
          <a:blip r:embed="rId3"/>
          <a:stretch>
            <a:fillRect/>
          </a:stretch>
        </p:blipFill>
        <p:spPr>
          <a:xfrm>
            <a:off x="6401954" y="1886388"/>
            <a:ext cx="5159187" cy="3642676"/>
          </a:xfrm>
          <a:prstGeom prst="rect">
            <a:avLst/>
          </a:prstGeom>
        </p:spPr>
      </p:pic>
      <p:sp>
        <p:nvSpPr>
          <p:cNvPr id="26" name="TextBox 25"/>
          <p:cNvSpPr txBox="1"/>
          <p:nvPr/>
        </p:nvSpPr>
        <p:spPr>
          <a:xfrm>
            <a:off x="11792000" y="6638000"/>
            <a:ext cx="200000" cy="100000"/>
          </a:xfrm>
          <a:prstGeom prst="rect">
            <a:avLst/>
          </a:prstGeom>
          <a:noFill/>
        </p:spPr>
        <p:txBody>
          <a:bodyPr wrap="none">
            <a:spAutoFit/>
          </a:bodyPr>
          <a:lstStyle/>
          <a:p>
            <a:pPr>
              <a:defRPr sz="1000"/>
            </a:pPr>
            <a: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1"/>
          <p:cNvSpPr/>
          <p:nvPr/>
        </p:nvSpPr>
        <p:spPr>
          <a:xfrm>
            <a:off x="3472775" y="109728"/>
            <a:ext cx="10424160" cy="822960"/>
          </a:xfrm>
          <a:prstGeom prst="rect">
            <a:avLst/>
          </a:prstGeom>
          <a:noFill/>
          <a:ln/>
        </p:spPr>
        <p:txBody>
          <a:bodyPr wrap="square" lIns="0" tIns="0" rIns="0" bIns="0" rtlCol="0" anchor="t"/>
          <a:lstStyle/>
          <a:p>
            <a:pPr marL="0" indent="0">
              <a:buNone/>
            </a:pPr>
            <a:r>
              <a:rPr lang="en-US" sz="3000" b="1" dirty="0">
                <a:solidFill>
                  <a:srgbClr val="13315C"/>
                </a:solidFill>
                <a:latin typeface="Bookman Old Style" pitchFamily="34" charset="0"/>
                <a:ea typeface="Bookman Old Style" pitchFamily="34" charset="-122"/>
                <a:cs typeface="Bookman Old Style" pitchFamily="34" charset="-120"/>
              </a:rPr>
              <a:t>Tree &amp; Hybrid Topology</a:t>
            </a:r>
            <a:endParaRPr lang="en-US" sz="3000" dirty="0"/>
          </a:p>
        </p:txBody>
      </p:sp>
      <p:sp>
        <p:nvSpPr>
          <p:cNvPr id="6" name="Text 3"/>
          <p:cNvSpPr/>
          <p:nvPr/>
        </p:nvSpPr>
        <p:spPr>
          <a:xfrm>
            <a:off x="0" y="433232"/>
            <a:ext cx="5760720" cy="4480560"/>
          </a:xfrm>
          <a:prstGeom prst="rect">
            <a:avLst/>
          </a:prstGeom>
          <a:noFill/>
          <a:ln/>
        </p:spPr>
        <p:txBody>
          <a:bodyPr wrap="square" lIns="0" tIns="0" rIns="0" bIns="0" rtlCol="0" anchor="t"/>
          <a:lstStyle/>
          <a:p>
            <a:pPr marL="342900" indent="-342900">
              <a:lnSpc>
                <a:spcPct val="108000"/>
              </a:lnSpc>
              <a:spcAft>
                <a:spcPts val="1200"/>
              </a:spcAft>
              <a:buSzPct val="100000"/>
              <a:buChar char="●"/>
            </a:pPr>
            <a:r>
              <a:rPr lang="en-US" sz="2800" b="1" dirty="0">
                <a:solidFill>
                  <a:srgbClr val="13315C"/>
                </a:solidFill>
                <a:latin typeface="Calibri" pitchFamily="34" charset="0"/>
                <a:ea typeface="Calibri" pitchFamily="34" charset="-122"/>
                <a:cs typeface="Calibri" pitchFamily="34" charset="-120"/>
              </a:rPr>
              <a:t>Tree topology:</a:t>
            </a:r>
            <a:endParaRPr lang="en-US" sz="2800" dirty="0"/>
          </a:p>
          <a:p>
            <a:pPr marL="685800" lvl="1" indent="-342900">
              <a:lnSpc>
                <a:spcPct val="108000"/>
              </a:lnSpc>
              <a:spcAft>
                <a:spcPts val="600"/>
              </a:spcAft>
              <a:buSzPct val="100000"/>
              <a:buChar char="–"/>
            </a:pPr>
            <a:r>
              <a:rPr lang="en-US" sz="2400" dirty="0">
                <a:solidFill>
                  <a:srgbClr val="13315C"/>
                </a:solidFill>
                <a:latin typeface="Calibri" pitchFamily="34" charset="0"/>
                <a:ea typeface="Calibri" pitchFamily="34" charset="-122"/>
                <a:cs typeface="Calibri" pitchFamily="34" charset="-120"/>
              </a:rPr>
              <a:t>A hierarchical structure — groups of star networks connected to a central backbone, like branches of a tree.</a:t>
            </a:r>
            <a:endParaRPr lang="en-US" sz="2800" dirty="0"/>
          </a:p>
          <a:p>
            <a:pPr marL="685800" lvl="1" indent="-342900">
              <a:lnSpc>
                <a:spcPct val="108000"/>
              </a:lnSpc>
              <a:spcAft>
                <a:spcPts val="600"/>
              </a:spcAft>
              <a:buSzPct val="100000"/>
              <a:buChar char="–"/>
            </a:pPr>
            <a:r>
              <a:rPr lang="en-US" sz="2400" dirty="0">
                <a:solidFill>
                  <a:srgbClr val="13315C"/>
                </a:solidFill>
                <a:latin typeface="Calibri" pitchFamily="34" charset="0"/>
                <a:ea typeface="Calibri" pitchFamily="34" charset="-122"/>
                <a:cs typeface="Calibri" pitchFamily="34" charset="-120"/>
              </a:rPr>
              <a:t>Scales well for large organizations (e.g. campus networks with per-building stars).</a:t>
            </a:r>
            <a:endParaRPr lang="en-US" sz="2800" dirty="0"/>
          </a:p>
          <a:p>
            <a:pPr marL="342900" indent="-342900">
              <a:lnSpc>
                <a:spcPct val="108000"/>
              </a:lnSpc>
              <a:spcAft>
                <a:spcPts val="1200"/>
              </a:spcAft>
              <a:buSzPct val="100000"/>
              <a:buChar char="●"/>
            </a:pPr>
            <a:r>
              <a:rPr lang="en-US" sz="2800" b="1" dirty="0">
                <a:solidFill>
                  <a:srgbClr val="13315C"/>
                </a:solidFill>
                <a:latin typeface="Calibri" pitchFamily="34" charset="0"/>
                <a:ea typeface="Calibri" pitchFamily="34" charset="-122"/>
                <a:cs typeface="Calibri" pitchFamily="34" charset="-120"/>
              </a:rPr>
              <a:t>Hybrid topology:</a:t>
            </a:r>
            <a:endParaRPr lang="en-US" sz="2800" dirty="0"/>
          </a:p>
          <a:p>
            <a:pPr marL="685800" lvl="1" indent="-342900">
              <a:lnSpc>
                <a:spcPct val="108000"/>
              </a:lnSpc>
              <a:spcAft>
                <a:spcPts val="600"/>
              </a:spcAft>
              <a:buSzPct val="100000"/>
              <a:buChar char="–"/>
            </a:pPr>
            <a:r>
              <a:rPr lang="en-US" sz="2400" dirty="0">
                <a:solidFill>
                  <a:srgbClr val="13315C"/>
                </a:solidFill>
                <a:latin typeface="Calibri" pitchFamily="34" charset="0"/>
                <a:ea typeface="Calibri" pitchFamily="34" charset="-122"/>
                <a:cs typeface="Calibri" pitchFamily="34" charset="-120"/>
              </a:rPr>
              <a:t>Combines two or more basic topologies (e.g. a star-of-rings, or star combined with mesh for critical links).</a:t>
            </a:r>
            <a:endParaRPr lang="en-US" sz="2800" dirty="0"/>
          </a:p>
          <a:p>
            <a:pPr marL="685800" lvl="1" indent="-342900">
              <a:lnSpc>
                <a:spcPct val="108000"/>
              </a:lnSpc>
              <a:spcAft>
                <a:spcPts val="600"/>
              </a:spcAft>
              <a:buSzPct val="100000"/>
              <a:buChar char="–"/>
            </a:pPr>
            <a:r>
              <a:rPr lang="en-US" sz="2400" dirty="0">
                <a:solidFill>
                  <a:srgbClr val="13315C"/>
                </a:solidFill>
                <a:latin typeface="Calibri" pitchFamily="34" charset="0"/>
                <a:ea typeface="Calibri" pitchFamily="34" charset="-122"/>
                <a:cs typeface="Calibri" pitchFamily="34" charset="-120"/>
              </a:rPr>
              <a:t>Used in practice to balance cost, performance, and reliability for real-world networks.</a:t>
            </a:r>
            <a:endParaRPr lang="en-US" sz="2800" dirty="0"/>
          </a:p>
        </p:txBody>
      </p:sp>
      <p:pic>
        <p:nvPicPr>
          <p:cNvPr id="35" name="Picture 34">
            <a:extLst>
              <a:ext uri="{FF2B5EF4-FFF2-40B4-BE49-F238E27FC236}">
                <a16:creationId xmlns:a16="http://schemas.microsoft.com/office/drawing/2014/main" id="{56B9E33D-AC9C-9557-D2A3-93EB6D7CAE02}"/>
              </a:ext>
            </a:extLst>
          </p:cNvPr>
          <p:cNvPicPr>
            <a:picLocks noChangeAspect="1"/>
          </p:cNvPicPr>
          <p:nvPr/>
        </p:nvPicPr>
        <p:blipFill>
          <a:blip r:embed="rId3"/>
          <a:stretch>
            <a:fillRect/>
          </a:stretch>
        </p:blipFill>
        <p:spPr>
          <a:xfrm>
            <a:off x="6096000" y="720625"/>
            <a:ext cx="5236723" cy="2581915"/>
          </a:xfrm>
          <a:prstGeom prst="rect">
            <a:avLst/>
          </a:prstGeom>
        </p:spPr>
      </p:pic>
      <p:pic>
        <p:nvPicPr>
          <p:cNvPr id="39" name="Picture 38">
            <a:extLst>
              <a:ext uri="{FF2B5EF4-FFF2-40B4-BE49-F238E27FC236}">
                <a16:creationId xmlns:a16="http://schemas.microsoft.com/office/drawing/2014/main" id="{987A39C2-2281-48C1-D1E2-C1F72F0CE49D}"/>
              </a:ext>
            </a:extLst>
          </p:cNvPr>
          <p:cNvPicPr>
            <a:picLocks noChangeAspect="1"/>
          </p:cNvPicPr>
          <p:nvPr/>
        </p:nvPicPr>
        <p:blipFill>
          <a:blip r:embed="rId4"/>
          <a:stretch>
            <a:fillRect/>
          </a:stretch>
        </p:blipFill>
        <p:spPr>
          <a:xfrm>
            <a:off x="5988845" y="3555461"/>
            <a:ext cx="5635708" cy="3238781"/>
          </a:xfrm>
          <a:prstGeom prst="rect">
            <a:avLst/>
          </a:prstGeom>
        </p:spPr>
      </p:pic>
      <p:sp>
        <p:nvSpPr>
          <p:cNvPr id="40" name="TextBox 39"/>
          <p:cNvSpPr txBox="1"/>
          <p:nvPr/>
        </p:nvSpPr>
        <p:spPr>
          <a:xfrm>
            <a:off x="11792000" y="6638000"/>
            <a:ext cx="200000" cy="100000"/>
          </a:xfrm>
          <a:prstGeom prst="rect">
            <a:avLst/>
          </a:prstGeom>
          <a:noFill/>
        </p:spPr>
        <p:txBody>
          <a:bodyPr wrap="none">
            <a:spAutoFit/>
          </a:bodyPr>
          <a:lstStyle/>
          <a:p>
            <a:pPr>
              <a:defRPr sz="1000"/>
            </a:pPr>
            <a: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0091AD"/>
                </a:solidFill>
                <a:latin typeface="Calibri" pitchFamily="34" charset="0"/>
                <a:ea typeface="Calibri" pitchFamily="34" charset="-122"/>
                <a:cs typeface="Calibri" pitchFamily="34" charset="-120"/>
              </a:rPr>
              <a:t>TOPIC 2 · NETWORK TOPOLOGY</a:t>
            </a:r>
            <a:endParaRPr lang="en-US" sz="1200" dirty="0"/>
          </a:p>
        </p:txBody>
      </p:sp>
      <p:sp>
        <p:nvSpPr>
          <p:cNvPr id="3" name="Text 1"/>
          <p:cNvSpPr/>
          <p:nvPr/>
        </p:nvSpPr>
        <p:spPr>
          <a:xfrm>
            <a:off x="548640" y="566928"/>
            <a:ext cx="10424160" cy="822960"/>
          </a:xfrm>
          <a:prstGeom prst="rect">
            <a:avLst/>
          </a:prstGeom>
          <a:noFill/>
          <a:ln/>
        </p:spPr>
        <p:txBody>
          <a:bodyPr wrap="square" lIns="0" tIns="0" rIns="0" bIns="0" rtlCol="0" anchor="t"/>
          <a:lstStyle/>
          <a:p>
            <a:pPr marL="0" indent="0">
              <a:buNone/>
            </a:pPr>
            <a:r>
              <a:rPr lang="en-US" sz="3000" b="1" dirty="0">
                <a:solidFill>
                  <a:srgbClr val="13315C"/>
                </a:solidFill>
                <a:latin typeface="Bookman Old Style" pitchFamily="34" charset="0"/>
                <a:ea typeface="Bookman Old Style" pitchFamily="34" charset="-122"/>
                <a:cs typeface="Bookman Old Style" pitchFamily="34" charset="-120"/>
              </a:rPr>
              <a:t>Topology Comparison</a:t>
            </a:r>
            <a:endParaRPr lang="en-US" sz="3000" dirty="0"/>
          </a:p>
        </p:txBody>
      </p:sp>
      <p:graphicFrame>
        <p:nvGraphicFramePr>
          <p:cNvPr id="23" name="Table 0"/>
          <p:cNvGraphicFramePr>
            <a:graphicFrameLocks noGrp="1"/>
          </p:cNvGraphicFramePr>
          <p:nvPr>
            <p:extLst>
              <p:ext uri="{D42A27DB-BD31-4B8C-83A1-F6EECF244321}">
                <p14:modId xmlns:p14="http://schemas.microsoft.com/office/powerpoint/2010/main" val="153147365"/>
              </p:ext>
            </p:extLst>
          </p:nvPr>
        </p:nvGraphicFramePr>
        <p:xfrm>
          <a:off x="457200" y="1408371"/>
          <a:ext cx="11064240" cy="4632960"/>
        </p:xfrm>
        <a:graphic>
          <a:graphicData uri="http://schemas.openxmlformats.org/drawingml/2006/table">
            <a:tbl>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3383280">
                  <a:extLst>
                    <a:ext uri="{9D8B030D-6E8A-4147-A177-3AD203B41FA5}">
                      <a16:colId xmlns:a16="http://schemas.microsoft.com/office/drawing/2014/main" val="20003"/>
                    </a:ext>
                  </a:extLst>
                </a:gridCol>
                <a:gridCol w="3017520">
                  <a:extLst>
                    <a:ext uri="{9D8B030D-6E8A-4147-A177-3AD203B41FA5}">
                      <a16:colId xmlns:a16="http://schemas.microsoft.com/office/drawing/2014/main" val="20004"/>
                    </a:ext>
                  </a:extLst>
                </a:gridCol>
              </a:tblGrid>
              <a:tr h="457200">
                <a:tc>
                  <a:txBody>
                    <a:bodyPr/>
                    <a:lstStyle/>
                    <a:p>
                      <a:pPr marL="0" indent="0" algn="l">
                        <a:buNone/>
                      </a:pPr>
                      <a:r>
                        <a:rPr lang="en-US" sz="2400" b="1" dirty="0">
                          <a:solidFill>
                            <a:srgbClr val="FFFFFF"/>
                          </a:solidFill>
                          <a:latin typeface="Calibri" pitchFamily="34" charset="0"/>
                          <a:ea typeface="Calibri" pitchFamily="34" charset="-122"/>
                          <a:cs typeface="Calibri" pitchFamily="34" charset="-120"/>
                        </a:rPr>
                        <a:t>Topology</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0B2545"/>
                    </a:solidFill>
                  </a:tcPr>
                </a:tc>
                <a:tc>
                  <a:txBody>
                    <a:bodyPr/>
                    <a:lstStyle/>
                    <a:p>
                      <a:pPr marL="0" indent="0" algn="l">
                        <a:buNone/>
                      </a:pPr>
                      <a:r>
                        <a:rPr lang="en-US" sz="2400" b="1" dirty="0">
                          <a:solidFill>
                            <a:srgbClr val="FFFFFF"/>
                          </a:solidFill>
                          <a:latin typeface="Calibri" pitchFamily="34" charset="0"/>
                          <a:ea typeface="Calibri" pitchFamily="34" charset="-122"/>
                          <a:cs typeface="Calibri" pitchFamily="34" charset="-120"/>
                        </a:rPr>
                        <a:t>Cost</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0B2545"/>
                    </a:solidFill>
                  </a:tcPr>
                </a:tc>
                <a:tc>
                  <a:txBody>
                    <a:bodyPr/>
                    <a:lstStyle/>
                    <a:p>
                      <a:pPr marL="0" indent="0" algn="l">
                        <a:buNone/>
                      </a:pPr>
                      <a:r>
                        <a:rPr lang="en-US" sz="2400" b="1" dirty="0">
                          <a:solidFill>
                            <a:srgbClr val="FFFFFF"/>
                          </a:solidFill>
                          <a:latin typeface="Calibri" pitchFamily="34" charset="0"/>
                          <a:ea typeface="Calibri" pitchFamily="34" charset="-122"/>
                          <a:cs typeface="Calibri" pitchFamily="34" charset="-120"/>
                        </a:rPr>
                        <a:t>Scalability</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0B2545"/>
                    </a:solidFill>
                  </a:tcPr>
                </a:tc>
                <a:tc>
                  <a:txBody>
                    <a:bodyPr/>
                    <a:lstStyle/>
                    <a:p>
                      <a:pPr marL="0" indent="0" algn="l">
                        <a:buNone/>
                      </a:pPr>
                      <a:r>
                        <a:rPr lang="en-US" sz="2400" b="1" dirty="0">
                          <a:solidFill>
                            <a:srgbClr val="FFFFFF"/>
                          </a:solidFill>
                          <a:latin typeface="Calibri" pitchFamily="34" charset="0"/>
                          <a:ea typeface="Calibri" pitchFamily="34" charset="-122"/>
                          <a:cs typeface="Calibri" pitchFamily="34" charset="-120"/>
                        </a:rPr>
                        <a:t>Fault Tolerance</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0B2545"/>
                    </a:solidFill>
                  </a:tcPr>
                </a:tc>
                <a:tc>
                  <a:txBody>
                    <a:bodyPr/>
                    <a:lstStyle/>
                    <a:p>
                      <a:pPr marL="0" indent="0" algn="l">
                        <a:buNone/>
                      </a:pPr>
                      <a:r>
                        <a:rPr lang="en-US" sz="2400" b="1" dirty="0">
                          <a:solidFill>
                            <a:srgbClr val="FFFFFF"/>
                          </a:solidFill>
                          <a:latin typeface="Calibri" pitchFamily="34" charset="0"/>
                          <a:ea typeface="Calibri" pitchFamily="34" charset="-122"/>
                          <a:cs typeface="Calibri" pitchFamily="34" charset="-120"/>
                        </a:rPr>
                        <a:t>Typical Use</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457200">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Bus</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7FAFD"/>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Low</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7FAFD"/>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Low</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7FAFD"/>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Poor (single break disables all)</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7FAFD"/>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Small, temporary LANs</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7FAFD"/>
                    </a:solidFill>
                  </a:tcPr>
                </a:tc>
                <a:extLst>
                  <a:ext uri="{0D108BD9-81ED-4DB2-BD59-A6C34878D82A}">
                    <a16:rowId xmlns:a16="http://schemas.microsoft.com/office/drawing/2014/main" val="10001"/>
                  </a:ext>
                </a:extLst>
              </a:tr>
              <a:tr h="457200">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Star</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FFFFF"/>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Medium</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FFFFF"/>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Easy</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FFFFF"/>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Good (central point fails whole net)</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FFFFF"/>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Most modern LANs/offices</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Ring</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7FAFD"/>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Medium</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7FAFD"/>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Moderate</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7FAFD"/>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Moderate (dual-ring improves this)</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7FAFD"/>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Legacy token-ring, MANs</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7FAFD"/>
                    </a:solidFill>
                  </a:tcPr>
                </a:tc>
                <a:extLst>
                  <a:ext uri="{0D108BD9-81ED-4DB2-BD59-A6C34878D82A}">
                    <a16:rowId xmlns:a16="http://schemas.microsoft.com/office/drawing/2014/main" val="10003"/>
                  </a:ext>
                </a:extLst>
              </a:tr>
              <a:tr h="457200">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Mesh</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FFFFF"/>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High</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FFFFF"/>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Complex</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FFFFF"/>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Excellent (multiple paths)</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FFFFF"/>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Backbone/critical infrastructure</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Tree</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7FAFD"/>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Medium-High</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7FAFD"/>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Moderate</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7FAFD"/>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Good (isolated branch failures)</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7FAFD"/>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Campus / enterprise networks</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7FAFD"/>
                    </a:solidFill>
                  </a:tcPr>
                </a:tc>
                <a:extLst>
                  <a:ext uri="{0D108BD9-81ED-4DB2-BD59-A6C34878D82A}">
                    <a16:rowId xmlns:a16="http://schemas.microsoft.com/office/drawing/2014/main" val="10005"/>
                  </a:ext>
                </a:extLst>
              </a:tr>
            </a:tbl>
          </a:graphicData>
        </a:graphic>
      </p:graphicFrame>
      <p:sp>
        <p:nvSpPr>
          <p:cNvPr id="7" name="Text 3"/>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TOPIC 2 · NETWORK TOPOLOGY</a:t>
            </a:r>
            <a:endParaRPr lang="en-US" sz="1000" dirty="0"/>
          </a:p>
        </p:txBody>
      </p:sp>
      <p:sp>
        <p:nvSpPr>
          <p:cNvPr id="24" name="TextBox 23"/>
          <p:cNvSpPr txBox="1"/>
          <p:nvPr/>
        </p:nvSpPr>
        <p:spPr>
          <a:xfrm>
            <a:off x="11792000" y="6638000"/>
            <a:ext cx="200000" cy="100000"/>
          </a:xfrm>
          <a:prstGeom prst="rect">
            <a:avLst/>
          </a:prstGeom>
          <a:noFill/>
        </p:spPr>
        <p:txBody>
          <a:bodyPr wrap="none">
            <a:spAutoFit/>
          </a:bodyPr>
          <a:lstStyle/>
          <a:p>
            <a:pPr>
              <a:defRPr sz="1000"/>
            </a:pPr>
            <a: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D6DA6-4A2A-5C01-2B97-BC53609B88E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7B94079-9E04-2AD3-2406-19E88D39FFDE}"/>
              </a:ext>
            </a:extLst>
          </p:cNvPr>
          <p:cNvSpPr/>
          <p:nvPr/>
        </p:nvSpPr>
        <p:spPr>
          <a:xfrm>
            <a:off x="486461" y="0"/>
            <a:ext cx="640080" cy="640080"/>
          </a:xfrm>
          <a:prstGeom prst="ellipse">
            <a:avLst/>
          </a:prstGeom>
          <a:solidFill>
            <a:srgbClr val="E07A2C"/>
          </a:solidFill>
          <a:ln/>
        </p:spPr>
        <p:txBody>
          <a:bodyPr/>
          <a:lstStyle/>
          <a:p>
            <a:endParaRPr/>
          </a:p>
        </p:txBody>
      </p:sp>
      <p:pic>
        <p:nvPicPr>
          <p:cNvPr id="3" name="Image 0" descr="preencoded.png">
            <a:extLst>
              <a:ext uri="{FF2B5EF4-FFF2-40B4-BE49-F238E27FC236}">
                <a16:creationId xmlns:a16="http://schemas.microsoft.com/office/drawing/2014/main" id="{9AEB76B1-4280-D73C-E4A5-367CFC578CED}"/>
              </a:ext>
            </a:extLst>
          </p:cNvPr>
          <p:cNvPicPr>
            <a:picLocks noChangeAspect="1"/>
          </p:cNvPicPr>
          <p:nvPr/>
        </p:nvPicPr>
        <p:blipFill>
          <a:blip r:embed="rId3"/>
          <a:stretch>
            <a:fillRect/>
          </a:stretch>
        </p:blipFill>
        <p:spPr>
          <a:xfrm>
            <a:off x="569672" y="68580"/>
            <a:ext cx="473659" cy="473659"/>
          </a:xfrm>
          <a:prstGeom prst="rect">
            <a:avLst/>
          </a:prstGeom>
        </p:spPr>
      </p:pic>
      <p:sp>
        <p:nvSpPr>
          <p:cNvPr id="4" name="Text 1">
            <a:extLst>
              <a:ext uri="{FF2B5EF4-FFF2-40B4-BE49-F238E27FC236}">
                <a16:creationId xmlns:a16="http://schemas.microsoft.com/office/drawing/2014/main" id="{E7AAD359-1F90-A29D-CD57-0BC0E9A17430}"/>
              </a:ext>
            </a:extLst>
          </p:cNvPr>
          <p:cNvSpPr/>
          <p:nvPr/>
        </p:nvSpPr>
        <p:spPr>
          <a:xfrm>
            <a:off x="1371600" y="145389"/>
            <a:ext cx="8229600" cy="320040"/>
          </a:xfrm>
          <a:prstGeom prst="rect">
            <a:avLst/>
          </a:prstGeom>
          <a:noFill/>
          <a:ln/>
        </p:spPr>
        <p:txBody>
          <a:bodyPr wrap="square" lIns="0" tIns="0" rIns="0" bIns="0" rtlCol="0" anchor="ctr"/>
          <a:lstStyle/>
          <a:p>
            <a:pPr marL="0" indent="0">
              <a:buNone/>
            </a:pPr>
            <a:r>
              <a:rPr lang="en-US" sz="1300" b="1" kern="0" spc="150" dirty="0">
                <a:solidFill>
                  <a:srgbClr val="E07A2C"/>
                </a:solidFill>
                <a:latin typeface="Calibri" pitchFamily="34" charset="0"/>
                <a:ea typeface="Calibri" pitchFamily="34" charset="-122"/>
                <a:cs typeface="Calibri" pitchFamily="34" charset="-120"/>
              </a:rPr>
              <a:t>HANDS-ON ACTIVITY  </a:t>
            </a:r>
            <a:endParaRPr lang="en-US" sz="1300" dirty="0"/>
          </a:p>
        </p:txBody>
      </p:sp>
      <p:sp>
        <p:nvSpPr>
          <p:cNvPr id="6" name="Shape 3">
            <a:extLst>
              <a:ext uri="{FF2B5EF4-FFF2-40B4-BE49-F238E27FC236}">
                <a16:creationId xmlns:a16="http://schemas.microsoft.com/office/drawing/2014/main" id="{AEC750D6-43B2-272F-C033-B817DD391890}"/>
              </a:ext>
            </a:extLst>
          </p:cNvPr>
          <p:cNvSpPr/>
          <p:nvPr/>
        </p:nvSpPr>
        <p:spPr>
          <a:xfrm>
            <a:off x="548640" y="1143388"/>
            <a:ext cx="11064240" cy="5074532"/>
          </a:xfrm>
          <a:prstGeom prst="roundRect">
            <a:avLst>
              <a:gd name="adj" fmla="val 1649"/>
            </a:avLst>
          </a:prstGeom>
          <a:solidFill>
            <a:srgbClr val="FFFFFF"/>
          </a:solidFill>
          <a:ln/>
          <a:effectLst>
            <a:outerShdw blurRad="88900" dist="25400" dir="5400000" algn="bl" rotWithShape="0">
              <a:srgbClr val="0B2545">
                <a:alpha val="10000"/>
              </a:srgbClr>
            </a:outerShdw>
          </a:effectLst>
        </p:spPr>
        <p:txBody>
          <a:bodyPr/>
          <a:lstStyle/>
          <a:p>
            <a:endParaRPr/>
          </a:p>
        </p:txBody>
      </p:sp>
      <p:sp>
        <p:nvSpPr>
          <p:cNvPr id="8" name="Text 5">
            <a:extLst>
              <a:ext uri="{FF2B5EF4-FFF2-40B4-BE49-F238E27FC236}">
                <a16:creationId xmlns:a16="http://schemas.microsoft.com/office/drawing/2014/main" id="{525D165C-BB68-FC58-929D-C3C7B4EA46C3}"/>
              </a:ext>
            </a:extLst>
          </p:cNvPr>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TOPIC 3 · ACTIVITY</a:t>
            </a:r>
            <a:endParaRPr lang="en-US" sz="1000" dirty="0"/>
          </a:p>
        </p:txBody>
      </p:sp>
      <p:sp>
        <p:nvSpPr>
          <p:cNvPr id="11" name="TextBox 10">
            <a:extLst>
              <a:ext uri="{FF2B5EF4-FFF2-40B4-BE49-F238E27FC236}">
                <a16:creationId xmlns:a16="http://schemas.microsoft.com/office/drawing/2014/main" id="{56734326-54F5-847C-3B9D-85C5A81C6516}"/>
              </a:ext>
            </a:extLst>
          </p:cNvPr>
          <p:cNvSpPr txBox="1"/>
          <p:nvPr/>
        </p:nvSpPr>
        <p:spPr>
          <a:xfrm>
            <a:off x="1043331" y="626842"/>
            <a:ext cx="10479023" cy="6124754"/>
          </a:xfrm>
          <a:prstGeom prst="rect">
            <a:avLst/>
          </a:prstGeom>
          <a:noFill/>
        </p:spPr>
        <p:txBody>
          <a:bodyPr wrap="square">
            <a:spAutoFit/>
          </a:bodyPr>
          <a:lstStyle/>
          <a:p>
            <a:pPr>
              <a:tabLst>
                <a:tab pos="3048000" algn="l"/>
              </a:tabLst>
            </a:pPr>
            <a:r>
              <a:rPr lang="en-IN" sz="3200" b="1" dirty="0">
                <a:solidFill>
                  <a:schemeClr val="accent1">
                    <a:lumMod val="75000"/>
                  </a:schemeClr>
                </a:solidFill>
              </a:rPr>
              <a:t>Design a Campus Network Topology</a:t>
            </a:r>
          </a:p>
          <a:p>
            <a:pPr>
              <a:tabLst>
                <a:tab pos="3048000" algn="l"/>
              </a:tabLst>
            </a:pPr>
            <a:endParaRPr lang="en-IN" sz="2400" b="1" dirty="0">
              <a:solidFill>
                <a:schemeClr val="accent1">
                  <a:lumMod val="75000"/>
                </a:schemeClr>
              </a:solidFill>
            </a:endParaRPr>
          </a:p>
          <a:p>
            <a:pPr>
              <a:buFont typeface="Arial" panose="020B0604020202020204" pitchFamily="34" charset="0"/>
              <a:buChar char="•"/>
            </a:pPr>
            <a:r>
              <a:rPr lang="en-IN" sz="2400" b="1" dirty="0">
                <a:solidFill>
                  <a:schemeClr val="accent1">
                    <a:lumMod val="75000"/>
                  </a:schemeClr>
                </a:solidFill>
              </a:rPr>
              <a:t>Scenario:</a:t>
            </a:r>
            <a:r>
              <a:rPr lang="en-IN" sz="2400" dirty="0">
                <a:solidFill>
                  <a:schemeClr val="accent1">
                    <a:lumMod val="75000"/>
                  </a:schemeClr>
                </a:solidFill>
              </a:rPr>
              <a:t> A college campus has </a:t>
            </a:r>
            <a:r>
              <a:rPr lang="en-IN" sz="2400" b="1" dirty="0">
                <a:solidFill>
                  <a:schemeClr val="accent1">
                    <a:lumMod val="75000"/>
                  </a:schemeClr>
                </a:solidFill>
              </a:rPr>
              <a:t>4 buildings</a:t>
            </a:r>
            <a:r>
              <a:rPr lang="en-IN" sz="2400" dirty="0">
                <a:solidFill>
                  <a:schemeClr val="accent1">
                    <a:lumMod val="75000"/>
                  </a:schemeClr>
                </a:solidFill>
              </a:rPr>
              <a:t> (Admin, Library, Hostel, Labs) that must all be interconnected, and each building has </a:t>
            </a:r>
            <a:r>
              <a:rPr lang="en-IN" sz="2400" b="1" dirty="0">
                <a:solidFill>
                  <a:schemeClr val="accent1">
                    <a:lumMod val="75000"/>
                  </a:schemeClr>
                </a:solidFill>
              </a:rPr>
              <a:t>20–40 devices</a:t>
            </a:r>
            <a:r>
              <a:rPr lang="en-IN" sz="2400" dirty="0">
                <a:solidFill>
                  <a:schemeClr val="accent1">
                    <a:lumMod val="75000"/>
                  </a:schemeClr>
                </a:solidFill>
              </a:rPr>
              <a:t> to connect internally. </a:t>
            </a:r>
          </a:p>
          <a:p>
            <a:pPr>
              <a:buFont typeface="Arial" panose="020B0604020202020204" pitchFamily="34" charset="0"/>
              <a:buChar char="•"/>
            </a:pPr>
            <a:r>
              <a:rPr lang="en-IN" sz="2400" dirty="0">
                <a:solidFill>
                  <a:schemeClr val="accent1">
                    <a:lumMod val="75000"/>
                  </a:schemeClr>
                </a:solidFill>
              </a:rPr>
              <a:t>In groups of </a:t>
            </a:r>
            <a:r>
              <a:rPr lang="en-IN" sz="2400" b="1" dirty="0">
                <a:solidFill>
                  <a:schemeClr val="accent1">
                    <a:lumMod val="75000"/>
                  </a:schemeClr>
                </a:solidFill>
              </a:rPr>
              <a:t>3–4</a:t>
            </a:r>
            <a:r>
              <a:rPr lang="en-IN" sz="2400" dirty="0">
                <a:solidFill>
                  <a:schemeClr val="accent1">
                    <a:lumMod val="75000"/>
                  </a:schemeClr>
                </a:solidFill>
              </a:rPr>
              <a:t>, sketch a topology for: </a:t>
            </a:r>
          </a:p>
          <a:p>
            <a:pPr marL="742950" lvl="1" indent="-285750">
              <a:buFont typeface="Arial" panose="020B0604020202020204" pitchFamily="34" charset="0"/>
              <a:buChar char="•"/>
            </a:pPr>
            <a:r>
              <a:rPr lang="en-IN" sz="2400" dirty="0">
                <a:solidFill>
                  <a:schemeClr val="accent1">
                    <a:lumMod val="75000"/>
                  </a:schemeClr>
                </a:solidFill>
              </a:rPr>
              <a:t>(a) connecting devices </a:t>
            </a:r>
            <a:r>
              <a:rPr lang="en-IN" sz="2400" b="1" dirty="0">
                <a:solidFill>
                  <a:schemeClr val="accent1">
                    <a:lumMod val="75000"/>
                  </a:schemeClr>
                </a:solidFill>
              </a:rPr>
              <a:t>within each building</a:t>
            </a:r>
            <a:r>
              <a:rPr lang="en-IN" sz="2400" dirty="0">
                <a:solidFill>
                  <a:schemeClr val="accent1">
                    <a:lumMod val="75000"/>
                  </a:schemeClr>
                </a:solidFill>
              </a:rPr>
              <a:t>, and </a:t>
            </a:r>
          </a:p>
          <a:p>
            <a:pPr marL="742950" lvl="1" indent="-285750">
              <a:buFont typeface="Arial" panose="020B0604020202020204" pitchFamily="34" charset="0"/>
              <a:buChar char="•"/>
            </a:pPr>
            <a:r>
              <a:rPr lang="en-IN" sz="2400" dirty="0">
                <a:solidFill>
                  <a:schemeClr val="accent1">
                    <a:lumMod val="75000"/>
                  </a:schemeClr>
                </a:solidFill>
              </a:rPr>
              <a:t>(b) connecting the </a:t>
            </a:r>
            <a:r>
              <a:rPr lang="en-IN" sz="2400" b="1" dirty="0">
                <a:solidFill>
                  <a:schemeClr val="accent1">
                    <a:lumMod val="75000"/>
                  </a:schemeClr>
                </a:solidFill>
              </a:rPr>
              <a:t>4 buildings</a:t>
            </a:r>
            <a:r>
              <a:rPr lang="en-IN" sz="2400" dirty="0">
                <a:solidFill>
                  <a:schemeClr val="accent1">
                    <a:lumMod val="75000"/>
                  </a:schemeClr>
                </a:solidFill>
              </a:rPr>
              <a:t> to each other. </a:t>
            </a:r>
          </a:p>
          <a:p>
            <a:pPr>
              <a:buFont typeface="Arial" panose="020B0604020202020204" pitchFamily="34" charset="0"/>
              <a:buChar char="•"/>
            </a:pPr>
            <a:r>
              <a:rPr lang="en-IN" sz="2400" dirty="0">
                <a:solidFill>
                  <a:schemeClr val="accent1">
                    <a:lumMod val="75000"/>
                  </a:schemeClr>
                </a:solidFill>
              </a:rPr>
              <a:t>Justify your choice using the comparison table. Consider: </a:t>
            </a:r>
          </a:p>
          <a:p>
            <a:pPr marL="742950" lvl="1" indent="-285750">
              <a:buFont typeface="Arial" panose="020B0604020202020204" pitchFamily="34" charset="0"/>
              <a:buChar char="•"/>
            </a:pPr>
            <a:r>
              <a:rPr lang="en-IN" sz="2400" dirty="0">
                <a:solidFill>
                  <a:schemeClr val="accent1">
                    <a:lumMod val="75000"/>
                  </a:schemeClr>
                </a:solidFill>
              </a:rPr>
              <a:t>Cabling cost </a:t>
            </a:r>
          </a:p>
          <a:p>
            <a:pPr marL="742950" lvl="1" indent="-285750">
              <a:buFont typeface="Arial" panose="020B0604020202020204" pitchFamily="34" charset="0"/>
              <a:buChar char="•"/>
            </a:pPr>
            <a:r>
              <a:rPr lang="en-IN" sz="2400" dirty="0">
                <a:solidFill>
                  <a:schemeClr val="accent1">
                    <a:lumMod val="75000"/>
                  </a:schemeClr>
                </a:solidFill>
              </a:rPr>
              <a:t>Fault tolerance if one building's link fails </a:t>
            </a:r>
          </a:p>
          <a:p>
            <a:pPr marL="742950" lvl="1" indent="-285750">
              <a:buFont typeface="Arial" panose="020B0604020202020204" pitchFamily="34" charset="0"/>
              <a:buChar char="•"/>
            </a:pPr>
            <a:r>
              <a:rPr lang="en-IN" sz="2400" dirty="0">
                <a:solidFill>
                  <a:schemeClr val="accent1">
                    <a:lumMod val="75000"/>
                  </a:schemeClr>
                </a:solidFill>
              </a:rPr>
              <a:t>Ease of adding a </a:t>
            </a:r>
            <a:r>
              <a:rPr lang="en-IN" sz="2400" b="1" dirty="0">
                <a:solidFill>
                  <a:schemeClr val="accent1">
                    <a:lumMod val="75000"/>
                  </a:schemeClr>
                </a:solidFill>
              </a:rPr>
              <a:t>5th building</a:t>
            </a:r>
            <a:r>
              <a:rPr lang="en-IN" sz="2400" dirty="0">
                <a:solidFill>
                  <a:schemeClr val="accent1">
                    <a:lumMod val="75000"/>
                  </a:schemeClr>
                </a:solidFill>
              </a:rPr>
              <a:t> later </a:t>
            </a:r>
          </a:p>
          <a:p>
            <a:pPr>
              <a:buFont typeface="Arial" panose="020B0604020202020204" pitchFamily="34" charset="0"/>
              <a:buChar char="•"/>
            </a:pPr>
            <a:r>
              <a:rPr lang="en-IN" sz="2400" b="1" dirty="0">
                <a:solidFill>
                  <a:schemeClr val="accent1">
                    <a:lumMod val="75000"/>
                  </a:schemeClr>
                </a:solidFill>
              </a:rPr>
              <a:t>Calculate:</a:t>
            </a:r>
            <a:r>
              <a:rPr lang="en-IN" sz="2400" dirty="0">
                <a:solidFill>
                  <a:schemeClr val="accent1">
                    <a:lumMod val="75000"/>
                  </a:schemeClr>
                </a:solidFill>
              </a:rPr>
              <a:t> If you chose a </a:t>
            </a:r>
            <a:r>
              <a:rPr lang="en-IN" sz="2400" b="1" dirty="0">
                <a:solidFill>
                  <a:schemeClr val="accent1">
                    <a:lumMod val="75000"/>
                  </a:schemeClr>
                </a:solidFill>
              </a:rPr>
              <a:t>full mesh</a:t>
            </a:r>
            <a:r>
              <a:rPr lang="en-IN" sz="2400" dirty="0">
                <a:solidFill>
                  <a:schemeClr val="accent1">
                    <a:lumMod val="75000"/>
                  </a:schemeClr>
                </a:solidFill>
              </a:rPr>
              <a:t> between the 4 buildings, how many backbone links would you need? </a:t>
            </a:r>
            <a:r>
              <a:rPr lang="en-IN" sz="2400" i="1" dirty="0">
                <a:solidFill>
                  <a:schemeClr val="accent1">
                    <a:lumMod val="75000"/>
                  </a:schemeClr>
                </a:solidFill>
              </a:rPr>
              <a:t>(Hint: n(n − 1)/2)</a:t>
            </a:r>
            <a:r>
              <a:rPr lang="en-IN" sz="2400" dirty="0">
                <a:solidFill>
                  <a:schemeClr val="accent1">
                    <a:lumMod val="75000"/>
                  </a:schemeClr>
                </a:solidFill>
              </a:rPr>
              <a:t> </a:t>
            </a:r>
          </a:p>
          <a:p>
            <a:pPr>
              <a:buFont typeface="Arial" panose="020B0604020202020204" pitchFamily="34" charset="0"/>
              <a:buChar char="•"/>
            </a:pPr>
            <a:r>
              <a:rPr lang="en-IN" sz="2400" dirty="0">
                <a:solidFill>
                  <a:schemeClr val="accent1">
                    <a:lumMod val="75000"/>
                  </a:schemeClr>
                </a:solidFill>
              </a:rPr>
              <a:t>Present your design to the class and defend it against </a:t>
            </a:r>
            <a:r>
              <a:rPr lang="en-IN" sz="2400" b="1" dirty="0">
                <a:solidFill>
                  <a:schemeClr val="accent1">
                    <a:lumMod val="75000"/>
                  </a:schemeClr>
                </a:solidFill>
              </a:rPr>
              <a:t>one weakness</a:t>
            </a:r>
            <a:r>
              <a:rPr lang="en-IN" sz="2400" dirty="0">
                <a:solidFill>
                  <a:schemeClr val="accent1">
                    <a:lumMod val="75000"/>
                  </a:schemeClr>
                </a:solidFill>
              </a:rPr>
              <a:t> a classmate identifies.</a:t>
            </a:r>
          </a:p>
        </p:txBody>
      </p:sp>
      <p:sp>
        <p:nvSpPr>
          <p:cNvPr id="12" name="TextBox 11"/>
          <p:cNvSpPr txBox="1"/>
          <p:nvPr/>
        </p:nvSpPr>
        <p:spPr>
          <a:xfrm>
            <a:off x="11792000" y="6638000"/>
            <a:ext cx="200000" cy="100000"/>
          </a:xfrm>
          <a:prstGeom prst="rect">
            <a:avLst/>
          </a:prstGeom>
          <a:noFill/>
        </p:spPr>
        <p:txBody>
          <a:bodyPr wrap="none">
            <a:spAutoFit/>
          </a:bodyPr>
          <a:lstStyle/>
          <a:p>
            <a:pPr>
              <a:defRPr sz="1000"/>
            </a:pPr>
            <a:r>
              <a:t>21</a:t>
            </a:r>
          </a:p>
        </p:txBody>
      </p:sp>
    </p:spTree>
    <p:extLst>
      <p:ext uri="{BB962C8B-B14F-4D97-AF65-F5344CB8AC3E}">
        <p14:creationId xmlns:p14="http://schemas.microsoft.com/office/powerpoint/2010/main" val="349913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bg>
      <p:bgPr>
        <a:solidFill>
          <a:srgbClr val="002060"/>
        </a:solidFill>
        <a:effectLst/>
      </p:bgPr>
    </p:bg>
    <p:spTree>
      <p:nvGrpSpPr>
        <p:cNvPr id="1" name=""/>
        <p:cNvGrpSpPr/>
        <p:nvPr/>
      </p:nvGrpSpPr>
      <p:grpSpPr>
        <a:xfrm>
          <a:off x="0" y="0"/>
          <a:ext cx="0" cy="0"/>
          <a:chOff x="0" y="0"/>
          <a:chExt cx="0" cy="0"/>
        </a:xfrm>
      </p:grpSpPr>
      <p:sp>
        <p:nvSpPr>
          <p:cNvPr id="2" name="Shape 0"/>
          <p:cNvSpPr/>
          <p:nvPr/>
        </p:nvSpPr>
        <p:spPr>
          <a:xfrm>
            <a:off x="9692640" y="914400"/>
            <a:ext cx="914400" cy="548640"/>
          </a:xfrm>
          <a:prstGeom prst="line">
            <a:avLst/>
          </a:prstGeom>
          <a:noFill/>
          <a:ln w="12700">
            <a:solidFill>
              <a:srgbClr val="1E3A66"/>
            </a:solidFill>
            <a:prstDash val="solid"/>
          </a:ln>
        </p:spPr>
        <p:txBody>
          <a:bodyPr/>
          <a:lstStyle/>
          <a:p>
            <a:endParaRPr/>
          </a:p>
        </p:txBody>
      </p:sp>
      <p:sp>
        <p:nvSpPr>
          <p:cNvPr id="3" name="Shape 1"/>
          <p:cNvSpPr/>
          <p:nvPr/>
        </p:nvSpPr>
        <p:spPr>
          <a:xfrm>
            <a:off x="9692640" y="914400"/>
            <a:ext cx="1645920" cy="0"/>
          </a:xfrm>
          <a:prstGeom prst="line">
            <a:avLst/>
          </a:prstGeom>
          <a:noFill/>
          <a:ln w="12700">
            <a:solidFill>
              <a:srgbClr val="1E3A66"/>
            </a:solidFill>
            <a:prstDash val="solid"/>
          </a:ln>
        </p:spPr>
        <p:txBody>
          <a:bodyPr/>
          <a:lstStyle/>
          <a:p>
            <a:endParaRPr/>
          </a:p>
        </p:txBody>
      </p:sp>
      <p:sp>
        <p:nvSpPr>
          <p:cNvPr id="4" name="Shape 2"/>
          <p:cNvSpPr/>
          <p:nvPr/>
        </p:nvSpPr>
        <p:spPr>
          <a:xfrm>
            <a:off x="9692640" y="914400"/>
            <a:ext cx="548640" cy="1371600"/>
          </a:xfrm>
          <a:prstGeom prst="line">
            <a:avLst/>
          </a:prstGeom>
          <a:noFill/>
          <a:ln w="12700">
            <a:solidFill>
              <a:srgbClr val="1E3A66"/>
            </a:solidFill>
            <a:prstDash val="solid"/>
          </a:ln>
        </p:spPr>
        <p:txBody>
          <a:bodyPr/>
          <a:lstStyle/>
          <a:p>
            <a:endParaRPr/>
          </a:p>
        </p:txBody>
      </p:sp>
      <p:sp>
        <p:nvSpPr>
          <p:cNvPr id="5" name="Shape 3"/>
          <p:cNvSpPr/>
          <p:nvPr/>
        </p:nvSpPr>
        <p:spPr>
          <a:xfrm>
            <a:off x="9692640" y="914400"/>
            <a:ext cx="1828800" cy="1463040"/>
          </a:xfrm>
          <a:prstGeom prst="line">
            <a:avLst/>
          </a:prstGeom>
          <a:noFill/>
          <a:ln w="12700">
            <a:solidFill>
              <a:srgbClr val="1E3A66"/>
            </a:solidFill>
            <a:prstDash val="solid"/>
          </a:ln>
        </p:spPr>
        <p:txBody>
          <a:bodyPr/>
          <a:lstStyle/>
          <a:p>
            <a:endParaRPr/>
          </a:p>
        </p:txBody>
      </p:sp>
      <p:sp>
        <p:nvSpPr>
          <p:cNvPr id="6" name="Shape 4"/>
          <p:cNvSpPr/>
          <p:nvPr/>
        </p:nvSpPr>
        <p:spPr>
          <a:xfrm>
            <a:off x="9692640" y="914400"/>
            <a:ext cx="0" cy="1097280"/>
          </a:xfrm>
          <a:prstGeom prst="line">
            <a:avLst/>
          </a:prstGeom>
          <a:noFill/>
          <a:ln w="12700">
            <a:solidFill>
              <a:srgbClr val="1E3A66"/>
            </a:solidFill>
            <a:prstDash val="solid"/>
          </a:ln>
        </p:spPr>
        <p:txBody>
          <a:bodyPr/>
          <a:lstStyle/>
          <a:p>
            <a:endParaRPr/>
          </a:p>
        </p:txBody>
      </p:sp>
      <p:sp>
        <p:nvSpPr>
          <p:cNvPr id="7" name="Shape 5"/>
          <p:cNvSpPr/>
          <p:nvPr/>
        </p:nvSpPr>
        <p:spPr>
          <a:xfrm>
            <a:off x="10607040" y="1463040"/>
            <a:ext cx="731520" cy="0"/>
          </a:xfrm>
          <a:prstGeom prst="line">
            <a:avLst/>
          </a:prstGeom>
          <a:noFill/>
          <a:ln w="12700">
            <a:solidFill>
              <a:srgbClr val="1E3A66"/>
            </a:solidFill>
            <a:prstDash val="solid"/>
          </a:ln>
        </p:spPr>
        <p:txBody>
          <a:bodyPr/>
          <a:lstStyle/>
          <a:p>
            <a:endParaRPr/>
          </a:p>
        </p:txBody>
      </p:sp>
      <p:sp>
        <p:nvSpPr>
          <p:cNvPr id="8" name="Shape 6"/>
          <p:cNvSpPr/>
          <p:nvPr/>
        </p:nvSpPr>
        <p:spPr>
          <a:xfrm>
            <a:off x="10607040" y="1463040"/>
            <a:ext cx="0" cy="822960"/>
          </a:xfrm>
          <a:prstGeom prst="line">
            <a:avLst/>
          </a:prstGeom>
          <a:noFill/>
          <a:ln w="12700">
            <a:solidFill>
              <a:srgbClr val="1E3A66"/>
            </a:solidFill>
            <a:prstDash val="solid"/>
          </a:ln>
        </p:spPr>
        <p:txBody>
          <a:bodyPr/>
          <a:lstStyle/>
          <a:p>
            <a:endParaRPr/>
          </a:p>
        </p:txBody>
      </p:sp>
      <p:sp>
        <p:nvSpPr>
          <p:cNvPr id="9" name="Shape 7"/>
          <p:cNvSpPr/>
          <p:nvPr/>
        </p:nvSpPr>
        <p:spPr>
          <a:xfrm>
            <a:off x="10607040" y="1463040"/>
            <a:ext cx="914400" cy="914400"/>
          </a:xfrm>
          <a:prstGeom prst="line">
            <a:avLst/>
          </a:prstGeom>
          <a:noFill/>
          <a:ln w="12700">
            <a:solidFill>
              <a:srgbClr val="1E3A66"/>
            </a:solidFill>
            <a:prstDash val="solid"/>
          </a:ln>
        </p:spPr>
        <p:txBody>
          <a:bodyPr/>
          <a:lstStyle/>
          <a:p>
            <a:endParaRPr/>
          </a:p>
        </p:txBody>
      </p:sp>
      <p:sp>
        <p:nvSpPr>
          <p:cNvPr id="10" name="Shape 8"/>
          <p:cNvSpPr/>
          <p:nvPr/>
        </p:nvSpPr>
        <p:spPr>
          <a:xfrm>
            <a:off x="10607040" y="1463040"/>
            <a:ext cx="0" cy="548640"/>
          </a:xfrm>
          <a:prstGeom prst="line">
            <a:avLst/>
          </a:prstGeom>
          <a:noFill/>
          <a:ln w="12700">
            <a:solidFill>
              <a:srgbClr val="1E3A66"/>
            </a:solidFill>
            <a:prstDash val="solid"/>
          </a:ln>
        </p:spPr>
        <p:txBody>
          <a:bodyPr/>
          <a:lstStyle/>
          <a:p>
            <a:endParaRPr/>
          </a:p>
        </p:txBody>
      </p:sp>
      <p:sp>
        <p:nvSpPr>
          <p:cNvPr id="11" name="Shape 9"/>
          <p:cNvSpPr/>
          <p:nvPr/>
        </p:nvSpPr>
        <p:spPr>
          <a:xfrm>
            <a:off x="11338560" y="822960"/>
            <a:ext cx="0" cy="1463040"/>
          </a:xfrm>
          <a:prstGeom prst="line">
            <a:avLst/>
          </a:prstGeom>
          <a:noFill/>
          <a:ln w="12700">
            <a:solidFill>
              <a:srgbClr val="1E3A66"/>
            </a:solidFill>
            <a:prstDash val="solid"/>
          </a:ln>
        </p:spPr>
        <p:txBody>
          <a:bodyPr/>
          <a:lstStyle/>
          <a:p>
            <a:endParaRPr/>
          </a:p>
        </p:txBody>
      </p:sp>
      <p:sp>
        <p:nvSpPr>
          <p:cNvPr id="12" name="Shape 10"/>
          <p:cNvSpPr/>
          <p:nvPr/>
        </p:nvSpPr>
        <p:spPr>
          <a:xfrm>
            <a:off x="11338560" y="822960"/>
            <a:ext cx="182880" cy="1554480"/>
          </a:xfrm>
          <a:prstGeom prst="line">
            <a:avLst/>
          </a:prstGeom>
          <a:noFill/>
          <a:ln w="12700">
            <a:solidFill>
              <a:srgbClr val="1E3A66"/>
            </a:solidFill>
            <a:prstDash val="solid"/>
          </a:ln>
        </p:spPr>
        <p:txBody>
          <a:bodyPr/>
          <a:lstStyle/>
          <a:p>
            <a:endParaRPr/>
          </a:p>
        </p:txBody>
      </p:sp>
      <p:sp>
        <p:nvSpPr>
          <p:cNvPr id="13" name="Shape 11"/>
          <p:cNvSpPr/>
          <p:nvPr/>
        </p:nvSpPr>
        <p:spPr>
          <a:xfrm>
            <a:off x="11338560" y="822960"/>
            <a:ext cx="0" cy="1188720"/>
          </a:xfrm>
          <a:prstGeom prst="line">
            <a:avLst/>
          </a:prstGeom>
          <a:noFill/>
          <a:ln w="12700">
            <a:solidFill>
              <a:srgbClr val="1E3A66"/>
            </a:solidFill>
            <a:prstDash val="solid"/>
          </a:ln>
        </p:spPr>
        <p:txBody>
          <a:bodyPr/>
          <a:lstStyle/>
          <a:p>
            <a:endParaRPr/>
          </a:p>
        </p:txBody>
      </p:sp>
      <p:sp>
        <p:nvSpPr>
          <p:cNvPr id="14" name="Shape 12"/>
          <p:cNvSpPr/>
          <p:nvPr/>
        </p:nvSpPr>
        <p:spPr>
          <a:xfrm>
            <a:off x="10241280" y="2286000"/>
            <a:ext cx="1280160" cy="91440"/>
          </a:xfrm>
          <a:prstGeom prst="line">
            <a:avLst/>
          </a:prstGeom>
          <a:noFill/>
          <a:ln w="12700">
            <a:solidFill>
              <a:srgbClr val="1E3A66"/>
            </a:solidFill>
            <a:prstDash val="solid"/>
          </a:ln>
        </p:spPr>
        <p:txBody>
          <a:bodyPr/>
          <a:lstStyle/>
          <a:p>
            <a:endParaRPr/>
          </a:p>
        </p:txBody>
      </p:sp>
      <p:sp>
        <p:nvSpPr>
          <p:cNvPr id="15" name="Shape 13"/>
          <p:cNvSpPr/>
          <p:nvPr/>
        </p:nvSpPr>
        <p:spPr>
          <a:xfrm>
            <a:off x="10241280" y="2286000"/>
            <a:ext cx="0" cy="0"/>
          </a:xfrm>
          <a:prstGeom prst="line">
            <a:avLst/>
          </a:prstGeom>
          <a:noFill/>
          <a:ln w="12700">
            <a:solidFill>
              <a:srgbClr val="1E3A66"/>
            </a:solidFill>
            <a:prstDash val="solid"/>
          </a:ln>
        </p:spPr>
        <p:txBody>
          <a:bodyPr/>
          <a:lstStyle/>
          <a:p>
            <a:endParaRPr/>
          </a:p>
        </p:txBody>
      </p:sp>
      <p:sp>
        <p:nvSpPr>
          <p:cNvPr id="16" name="Shape 14"/>
          <p:cNvSpPr/>
          <p:nvPr/>
        </p:nvSpPr>
        <p:spPr>
          <a:xfrm>
            <a:off x="11521440" y="2377440"/>
            <a:ext cx="0" cy="0"/>
          </a:xfrm>
          <a:prstGeom prst="line">
            <a:avLst/>
          </a:prstGeom>
          <a:noFill/>
          <a:ln w="12700">
            <a:solidFill>
              <a:srgbClr val="1E3A66"/>
            </a:solidFill>
            <a:prstDash val="solid"/>
          </a:ln>
        </p:spPr>
        <p:txBody>
          <a:bodyPr/>
          <a:lstStyle/>
          <a:p>
            <a:endParaRPr/>
          </a:p>
        </p:txBody>
      </p:sp>
      <p:sp>
        <p:nvSpPr>
          <p:cNvPr id="17" name="Shape 15"/>
          <p:cNvSpPr/>
          <p:nvPr/>
        </p:nvSpPr>
        <p:spPr>
          <a:xfrm>
            <a:off x="9637776" y="859536"/>
            <a:ext cx="109728" cy="109728"/>
          </a:xfrm>
          <a:prstGeom prst="ellipse">
            <a:avLst/>
          </a:prstGeom>
          <a:solidFill>
            <a:srgbClr val="00B4D8"/>
          </a:solidFill>
          <a:ln/>
        </p:spPr>
        <p:txBody>
          <a:bodyPr/>
          <a:lstStyle/>
          <a:p>
            <a:endParaRPr/>
          </a:p>
        </p:txBody>
      </p:sp>
      <p:sp>
        <p:nvSpPr>
          <p:cNvPr id="18" name="Shape 16"/>
          <p:cNvSpPr/>
          <p:nvPr/>
        </p:nvSpPr>
        <p:spPr>
          <a:xfrm>
            <a:off x="10552176" y="1408176"/>
            <a:ext cx="109728" cy="109728"/>
          </a:xfrm>
          <a:prstGeom prst="ellipse">
            <a:avLst/>
          </a:prstGeom>
          <a:solidFill>
            <a:srgbClr val="00B4D8"/>
          </a:solidFill>
          <a:ln/>
        </p:spPr>
        <p:txBody>
          <a:bodyPr/>
          <a:lstStyle/>
          <a:p>
            <a:endParaRPr/>
          </a:p>
        </p:txBody>
      </p:sp>
      <p:sp>
        <p:nvSpPr>
          <p:cNvPr id="19" name="Shape 17"/>
          <p:cNvSpPr/>
          <p:nvPr/>
        </p:nvSpPr>
        <p:spPr>
          <a:xfrm>
            <a:off x="11283696" y="768096"/>
            <a:ext cx="109728" cy="109728"/>
          </a:xfrm>
          <a:prstGeom prst="ellipse">
            <a:avLst/>
          </a:prstGeom>
          <a:solidFill>
            <a:srgbClr val="00B4D8"/>
          </a:solidFill>
          <a:ln/>
        </p:spPr>
        <p:txBody>
          <a:bodyPr/>
          <a:lstStyle/>
          <a:p>
            <a:endParaRPr/>
          </a:p>
        </p:txBody>
      </p:sp>
      <p:sp>
        <p:nvSpPr>
          <p:cNvPr id="20" name="Shape 18"/>
          <p:cNvSpPr/>
          <p:nvPr/>
        </p:nvSpPr>
        <p:spPr>
          <a:xfrm>
            <a:off x="10186416" y="2231136"/>
            <a:ext cx="109728" cy="109728"/>
          </a:xfrm>
          <a:prstGeom prst="ellipse">
            <a:avLst/>
          </a:prstGeom>
          <a:solidFill>
            <a:srgbClr val="00B4D8"/>
          </a:solidFill>
          <a:ln/>
        </p:spPr>
        <p:txBody>
          <a:bodyPr/>
          <a:lstStyle/>
          <a:p>
            <a:endParaRPr/>
          </a:p>
        </p:txBody>
      </p:sp>
      <p:sp>
        <p:nvSpPr>
          <p:cNvPr id="21" name="Shape 19"/>
          <p:cNvSpPr/>
          <p:nvPr/>
        </p:nvSpPr>
        <p:spPr>
          <a:xfrm>
            <a:off x="11466576" y="2322576"/>
            <a:ext cx="109728" cy="109728"/>
          </a:xfrm>
          <a:prstGeom prst="ellipse">
            <a:avLst/>
          </a:prstGeom>
          <a:solidFill>
            <a:srgbClr val="00B4D8"/>
          </a:solidFill>
          <a:ln/>
        </p:spPr>
        <p:txBody>
          <a:bodyPr/>
          <a:lstStyle/>
          <a:p>
            <a:endParaRPr/>
          </a:p>
        </p:txBody>
      </p:sp>
      <p:sp>
        <p:nvSpPr>
          <p:cNvPr id="22" name="Shape 20"/>
          <p:cNvSpPr/>
          <p:nvPr/>
        </p:nvSpPr>
        <p:spPr>
          <a:xfrm>
            <a:off x="9272016" y="1956816"/>
            <a:ext cx="109728" cy="109728"/>
          </a:xfrm>
          <a:prstGeom prst="ellipse">
            <a:avLst/>
          </a:prstGeom>
          <a:solidFill>
            <a:srgbClr val="00B4D8"/>
          </a:solidFill>
          <a:ln/>
        </p:spPr>
        <p:txBody>
          <a:bodyPr/>
          <a:lstStyle/>
          <a:p>
            <a:endParaRPr/>
          </a:p>
        </p:txBody>
      </p:sp>
      <p:sp>
        <p:nvSpPr>
          <p:cNvPr id="23" name="Text 21"/>
          <p:cNvSpPr/>
          <p:nvPr/>
        </p:nvSpPr>
        <p:spPr>
          <a:xfrm>
            <a:off x="822960" y="2148840"/>
            <a:ext cx="5486400" cy="365760"/>
          </a:xfrm>
          <a:prstGeom prst="rect">
            <a:avLst/>
          </a:prstGeom>
          <a:noFill/>
          <a:ln/>
        </p:spPr>
        <p:txBody>
          <a:bodyPr wrap="square" lIns="0" tIns="0" rIns="0" bIns="0" rtlCol="0" anchor="ctr"/>
          <a:lstStyle/>
          <a:p>
            <a:pPr marL="0" indent="0">
              <a:buNone/>
            </a:pPr>
            <a:r>
              <a:rPr lang="en-US" sz="1600" b="1" kern="0" spc="300" dirty="0">
                <a:solidFill>
                  <a:srgbClr val="00B4D8"/>
                </a:solidFill>
                <a:latin typeface="Calibri" pitchFamily="34" charset="0"/>
                <a:ea typeface="Calibri" pitchFamily="34" charset="-122"/>
                <a:cs typeface="Calibri" pitchFamily="34" charset="-120"/>
              </a:rPr>
              <a:t>TOPIC 3</a:t>
            </a:r>
            <a:endParaRPr lang="en-US" sz="1600" dirty="0"/>
          </a:p>
        </p:txBody>
      </p:sp>
      <p:sp>
        <p:nvSpPr>
          <p:cNvPr id="24" name="Text 22"/>
          <p:cNvSpPr/>
          <p:nvPr/>
        </p:nvSpPr>
        <p:spPr>
          <a:xfrm>
            <a:off x="777240" y="2514600"/>
            <a:ext cx="9601200" cy="1463040"/>
          </a:xfrm>
          <a:prstGeom prst="rect">
            <a:avLst/>
          </a:prstGeom>
          <a:noFill/>
          <a:ln/>
        </p:spPr>
        <p:txBody>
          <a:bodyPr wrap="square" lIns="0" tIns="0" rIns="0" bIns="0" rtlCol="0" anchor="t"/>
          <a:lstStyle/>
          <a:p>
            <a:pPr marL="0" indent="0">
              <a:buNone/>
            </a:pPr>
            <a:r>
              <a:rPr lang="en-US" sz="4000" b="1" dirty="0">
                <a:solidFill>
                  <a:srgbClr val="FFFFFF"/>
                </a:solidFill>
                <a:latin typeface="Bookman Old Style" pitchFamily="34" charset="0"/>
                <a:ea typeface="Bookman Old Style" pitchFamily="34" charset="-122"/>
                <a:cs typeface="Bookman Old Style" pitchFamily="34" charset="-120"/>
              </a:rPr>
              <a:t>Encapsulation</a:t>
            </a:r>
            <a:endParaRPr lang="en-US" sz="4000" dirty="0"/>
          </a:p>
        </p:txBody>
      </p:sp>
      <p:sp>
        <p:nvSpPr>
          <p:cNvPr id="25" name="Text 23"/>
          <p:cNvSpPr/>
          <p:nvPr/>
        </p:nvSpPr>
        <p:spPr>
          <a:xfrm>
            <a:off x="822960" y="3794760"/>
            <a:ext cx="8686800" cy="822960"/>
          </a:xfrm>
          <a:prstGeom prst="rect">
            <a:avLst/>
          </a:prstGeom>
          <a:noFill/>
          <a:ln/>
        </p:spPr>
        <p:txBody>
          <a:bodyPr wrap="square" lIns="0" tIns="0" rIns="0" bIns="0" rtlCol="0" anchor="t"/>
          <a:lstStyle/>
          <a:p>
            <a:pPr marL="0" indent="0">
              <a:buNone/>
            </a:pPr>
            <a:r>
              <a:rPr lang="en-US" sz="1600" dirty="0">
                <a:solidFill>
                  <a:srgbClr val="C9D8EC"/>
                </a:solidFill>
                <a:latin typeface="Calibri" pitchFamily="34" charset="0"/>
                <a:ea typeface="Calibri" pitchFamily="34" charset="-122"/>
                <a:cs typeface="Calibri" pitchFamily="34" charset="-120"/>
              </a:rPr>
              <a:t>How each protocol layer wraps data with its own control information.</a:t>
            </a:r>
            <a:endParaRPr lang="en-US" sz="1600" dirty="0"/>
          </a:p>
        </p:txBody>
      </p:sp>
      <p:sp>
        <p:nvSpPr>
          <p:cNvPr id="31" name="Text 27"/>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9FB3CC"/>
                </a:solidFill>
                <a:latin typeface="Calibri" pitchFamily="34" charset="0"/>
                <a:ea typeface="Calibri" pitchFamily="34" charset="-122"/>
                <a:cs typeface="Calibri" pitchFamily="34" charset="-120"/>
              </a:rPr>
              <a:t>TOPIC 3</a:t>
            </a:r>
            <a:endParaRPr lang="en-US" sz="1000" dirty="0"/>
          </a:p>
        </p:txBody>
      </p:sp>
      <p:sp>
        <p:nvSpPr>
          <p:cNvPr id="32" name="TextBox 31"/>
          <p:cNvSpPr txBox="1"/>
          <p:nvPr/>
        </p:nvSpPr>
        <p:spPr>
          <a:xfrm>
            <a:off x="11792000" y="6638000"/>
            <a:ext cx="200000" cy="100000"/>
          </a:xfrm>
          <a:prstGeom prst="rect">
            <a:avLst/>
          </a:prstGeom>
          <a:noFill/>
        </p:spPr>
        <p:txBody>
          <a:bodyPr wrap="none">
            <a:spAutoFit/>
          </a:bodyPr>
          <a:lstStyle/>
          <a:p>
            <a:pPr>
              <a:defRPr sz="1000"/>
            </a:pPr>
            <a: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0091AD"/>
                </a:solidFill>
                <a:latin typeface="Calibri" pitchFamily="34" charset="0"/>
                <a:ea typeface="Calibri" pitchFamily="34" charset="-122"/>
                <a:cs typeface="Calibri" pitchFamily="34" charset="-120"/>
              </a:rPr>
              <a:t>TOPIC 3 · ENCAPSULATION</a:t>
            </a:r>
            <a:endParaRPr lang="en-US" sz="1200" dirty="0"/>
          </a:p>
        </p:txBody>
      </p:sp>
      <p:sp>
        <p:nvSpPr>
          <p:cNvPr id="3" name="Text 1"/>
          <p:cNvSpPr/>
          <p:nvPr/>
        </p:nvSpPr>
        <p:spPr>
          <a:xfrm>
            <a:off x="548640" y="566928"/>
            <a:ext cx="10424160" cy="822960"/>
          </a:xfrm>
          <a:prstGeom prst="rect">
            <a:avLst/>
          </a:prstGeom>
          <a:noFill/>
          <a:ln/>
        </p:spPr>
        <p:txBody>
          <a:bodyPr wrap="square" lIns="0" tIns="0" rIns="0" bIns="0" rtlCol="0" anchor="t"/>
          <a:lstStyle/>
          <a:p>
            <a:pPr marL="0" indent="0">
              <a:buNone/>
            </a:pPr>
            <a:r>
              <a:rPr lang="en-US" sz="3000" b="1" dirty="0">
                <a:solidFill>
                  <a:srgbClr val="13315C"/>
                </a:solidFill>
                <a:latin typeface="Bookman Old Style" pitchFamily="34" charset="0"/>
                <a:ea typeface="Bookman Old Style" pitchFamily="34" charset="-122"/>
                <a:cs typeface="Bookman Old Style" pitchFamily="34" charset="-120"/>
              </a:rPr>
              <a:t>What Is Encapsulation?</a:t>
            </a:r>
            <a:endParaRPr lang="en-US" sz="3000" dirty="0"/>
          </a:p>
        </p:txBody>
      </p:sp>
      <p:sp>
        <p:nvSpPr>
          <p:cNvPr id="6" name="Text 3"/>
          <p:cNvSpPr/>
          <p:nvPr/>
        </p:nvSpPr>
        <p:spPr>
          <a:xfrm>
            <a:off x="548640" y="1253020"/>
            <a:ext cx="11064240" cy="4572000"/>
          </a:xfrm>
          <a:prstGeom prst="rect">
            <a:avLst/>
          </a:prstGeom>
          <a:noFill/>
          <a:ln/>
        </p:spPr>
        <p:txBody>
          <a:bodyPr wrap="square" lIns="0" tIns="0" rIns="0" bIns="0" rtlCol="0" anchor="t"/>
          <a:lstStyle/>
          <a:p>
            <a:pPr marL="342900" indent="-342900">
              <a:lnSpc>
                <a:spcPct val="108000"/>
              </a:lnSpc>
              <a:spcAft>
                <a:spcPts val="1200"/>
              </a:spcAft>
              <a:buSzPct val="100000"/>
              <a:buChar char="●"/>
            </a:pPr>
            <a:r>
              <a:rPr lang="en-US" sz="2000" dirty="0">
                <a:solidFill>
                  <a:srgbClr val="13315C"/>
                </a:solidFill>
                <a:latin typeface="Calibri" pitchFamily="34" charset="0"/>
                <a:ea typeface="Calibri" pitchFamily="34" charset="-122"/>
                <a:cs typeface="Calibri" pitchFamily="34" charset="-120"/>
              </a:rPr>
              <a:t>When an application hands a message to a protocol (e.g. RRP), that message is just an uninterpreted string of bytes to the protocol.</a:t>
            </a:r>
            <a:endParaRPr lang="en-US" sz="2000" dirty="0"/>
          </a:p>
          <a:p>
            <a:pPr marL="342900" indent="-342900">
              <a:lnSpc>
                <a:spcPct val="108000"/>
              </a:lnSpc>
              <a:spcAft>
                <a:spcPts val="1200"/>
              </a:spcAft>
              <a:buSzPct val="100000"/>
              <a:buChar char="●"/>
            </a:pPr>
            <a:r>
              <a:rPr lang="en-US" sz="2000" dirty="0">
                <a:solidFill>
                  <a:srgbClr val="13315C"/>
                </a:solidFill>
                <a:latin typeface="Calibri" pitchFamily="34" charset="0"/>
                <a:ea typeface="Calibri" pitchFamily="34" charset="-122"/>
                <a:cs typeface="Calibri" pitchFamily="34" charset="-120"/>
              </a:rPr>
              <a:t>The protocol does not care whether the bytes represent an integer array, an email, or an image — it only needs to deliver them.</a:t>
            </a:r>
            <a:endParaRPr lang="en-US" sz="2000" dirty="0"/>
          </a:p>
          <a:p>
            <a:pPr marL="342900" indent="-342900">
              <a:lnSpc>
                <a:spcPct val="108000"/>
              </a:lnSpc>
              <a:spcAft>
                <a:spcPts val="1200"/>
              </a:spcAft>
              <a:buSzPct val="100000"/>
              <a:buChar char="●"/>
            </a:pPr>
            <a:r>
              <a:rPr lang="en-US" sz="2000" dirty="0">
                <a:solidFill>
                  <a:srgbClr val="13315C"/>
                </a:solidFill>
                <a:latin typeface="Calibri" pitchFamily="34" charset="0"/>
                <a:ea typeface="Calibri" pitchFamily="34" charset="-122"/>
                <a:cs typeface="Calibri" pitchFamily="34" charset="-120"/>
              </a:rPr>
              <a:t>But the protocol must still communicate control information to its peer, so it attaches a header to the message.</a:t>
            </a:r>
            <a:endParaRPr lang="en-US" sz="2000" dirty="0"/>
          </a:p>
          <a:p>
            <a:pPr marL="342900" indent="-342900">
              <a:lnSpc>
                <a:spcPct val="108000"/>
              </a:lnSpc>
              <a:spcAft>
                <a:spcPts val="1200"/>
              </a:spcAft>
              <a:buSzPct val="100000"/>
              <a:buChar char="●"/>
            </a:pPr>
            <a:r>
              <a:rPr lang="en-US" sz="2000" b="1" dirty="0">
                <a:solidFill>
                  <a:srgbClr val="13315C"/>
                </a:solidFill>
                <a:latin typeface="Calibri" pitchFamily="34" charset="0"/>
                <a:ea typeface="Calibri" pitchFamily="34" charset="-122"/>
                <a:cs typeface="Calibri" pitchFamily="34" charset="-120"/>
              </a:rPr>
              <a:t>Header:</a:t>
            </a:r>
            <a:endParaRPr lang="en-US" sz="2000" dirty="0"/>
          </a:p>
          <a:p>
            <a:pPr marL="685800" lvl="1" indent="-342900">
              <a:lnSpc>
                <a:spcPct val="108000"/>
              </a:lnSpc>
              <a:spcAft>
                <a:spcPts val="600"/>
              </a:spcAft>
              <a:buSzPct val="100000"/>
              <a:buChar char="–"/>
            </a:pPr>
            <a:r>
              <a:rPr lang="en-US" dirty="0">
                <a:solidFill>
                  <a:srgbClr val="13315C"/>
                </a:solidFill>
                <a:latin typeface="Calibri" pitchFamily="34" charset="0"/>
                <a:ea typeface="Calibri" pitchFamily="34" charset="-122"/>
                <a:cs typeface="Calibri" pitchFamily="34" charset="-120"/>
              </a:rPr>
              <a:t>A small data structure (a few bytes to a few dozen bytes) carrying peer-to-peer control information.</a:t>
            </a:r>
            <a:endParaRPr lang="en-US" sz="2000" dirty="0"/>
          </a:p>
          <a:p>
            <a:pPr marL="685800" lvl="1" indent="-342900">
              <a:lnSpc>
                <a:spcPct val="108000"/>
              </a:lnSpc>
              <a:spcAft>
                <a:spcPts val="600"/>
              </a:spcAft>
              <a:buSzPct val="100000"/>
              <a:buChar char="–"/>
            </a:pPr>
            <a:r>
              <a:rPr lang="en-US" dirty="0">
                <a:solidFill>
                  <a:srgbClr val="13315C"/>
                </a:solidFill>
                <a:latin typeface="Calibri" pitchFamily="34" charset="0"/>
                <a:ea typeface="Calibri" pitchFamily="34" charset="-122"/>
                <a:cs typeface="Calibri" pitchFamily="34" charset="-120"/>
              </a:rPr>
              <a:t>Usually placed at the front of the message; if placed at the end, it is called a trailer.</a:t>
            </a:r>
            <a:endParaRPr lang="en-US" sz="2000" dirty="0"/>
          </a:p>
          <a:p>
            <a:pPr marL="342900" indent="-342900">
              <a:lnSpc>
                <a:spcPct val="108000"/>
              </a:lnSpc>
              <a:spcAft>
                <a:spcPts val="1200"/>
              </a:spcAft>
              <a:buSzPct val="100000"/>
              <a:buChar char="●"/>
            </a:pPr>
            <a:r>
              <a:rPr lang="en-US" sz="2000" dirty="0">
                <a:solidFill>
                  <a:srgbClr val="13315C"/>
                </a:solidFill>
                <a:latin typeface="Calibri" pitchFamily="34" charset="0"/>
                <a:ea typeface="Calibri" pitchFamily="34" charset="-122"/>
                <a:cs typeface="Calibri" pitchFamily="34" charset="-120"/>
              </a:rPr>
              <a:t>The original data becomes the body or payload of the new, larger message — this is called encapsulation.</a:t>
            </a:r>
            <a:endParaRPr lang="en-US" sz="2000" dirty="0"/>
          </a:p>
        </p:txBody>
      </p:sp>
      <p:sp>
        <p:nvSpPr>
          <p:cNvPr id="7" name="Text 4"/>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TOPIC 3 · ENCAPSULATION</a:t>
            </a:r>
            <a:endParaRPr lang="en-US" sz="1000" dirty="0"/>
          </a:p>
        </p:txBody>
      </p:sp>
      <p:sp>
        <p:nvSpPr>
          <p:cNvPr id="8" name="TextBox 7"/>
          <p:cNvSpPr txBox="1"/>
          <p:nvPr/>
        </p:nvSpPr>
        <p:spPr>
          <a:xfrm>
            <a:off x="11792000" y="6638000"/>
            <a:ext cx="200000" cy="100000"/>
          </a:xfrm>
          <a:prstGeom prst="rect">
            <a:avLst/>
          </a:prstGeom>
          <a:noFill/>
        </p:spPr>
        <p:txBody>
          <a:bodyPr wrap="none">
            <a:spAutoFit/>
          </a:bodyPr>
          <a:lstStyle/>
          <a:p>
            <a:pPr>
              <a:defRPr sz="1000"/>
            </a:pPr>
            <a: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0091AD"/>
                </a:solidFill>
                <a:latin typeface="Calibri" pitchFamily="34" charset="0"/>
                <a:ea typeface="Calibri" pitchFamily="34" charset="-122"/>
                <a:cs typeface="Calibri" pitchFamily="34" charset="-120"/>
              </a:rPr>
              <a:t>TOPIC 3 · ENCAPSULATION</a:t>
            </a:r>
            <a:endParaRPr lang="en-US" sz="1200" dirty="0"/>
          </a:p>
        </p:txBody>
      </p:sp>
      <p:sp>
        <p:nvSpPr>
          <p:cNvPr id="3" name="Text 1"/>
          <p:cNvSpPr/>
          <p:nvPr/>
        </p:nvSpPr>
        <p:spPr>
          <a:xfrm>
            <a:off x="548640" y="566928"/>
            <a:ext cx="10424160" cy="822960"/>
          </a:xfrm>
          <a:prstGeom prst="rect">
            <a:avLst/>
          </a:prstGeom>
          <a:noFill/>
          <a:ln/>
        </p:spPr>
        <p:txBody>
          <a:bodyPr wrap="square" lIns="0" tIns="0" rIns="0" bIns="0" rtlCol="0" anchor="t"/>
          <a:lstStyle/>
          <a:p>
            <a:pPr marL="0" indent="0">
              <a:buNone/>
            </a:pPr>
            <a:r>
              <a:rPr lang="en-US" sz="3000" b="1" dirty="0">
                <a:solidFill>
                  <a:srgbClr val="13315C"/>
                </a:solidFill>
                <a:latin typeface="Bookman Old Style" pitchFamily="34" charset="0"/>
                <a:ea typeface="Bookman Old Style" pitchFamily="34" charset="-122"/>
                <a:cs typeface="Bookman Old Style" pitchFamily="34" charset="-120"/>
              </a:rPr>
              <a:t>Anatomy of an Encapsulated Message</a:t>
            </a:r>
            <a:endParaRPr lang="en-US" sz="3000" dirty="0"/>
          </a:p>
        </p:txBody>
      </p:sp>
      <p:sp>
        <p:nvSpPr>
          <p:cNvPr id="6" name="Text 3"/>
          <p:cNvSpPr/>
          <p:nvPr/>
        </p:nvSpPr>
        <p:spPr>
          <a:xfrm>
            <a:off x="579120" y="1170432"/>
            <a:ext cx="11064240" cy="2103120"/>
          </a:xfrm>
          <a:prstGeom prst="rect">
            <a:avLst/>
          </a:prstGeom>
          <a:noFill/>
          <a:ln/>
        </p:spPr>
        <p:txBody>
          <a:bodyPr wrap="square" lIns="0" tIns="0" rIns="0" bIns="0" rtlCol="0" anchor="t"/>
          <a:lstStyle/>
          <a:p>
            <a:pPr marL="342900" indent="-342900">
              <a:lnSpc>
                <a:spcPct val="108000"/>
              </a:lnSpc>
              <a:spcAft>
                <a:spcPts val="1200"/>
              </a:spcAft>
              <a:buSzPct val="100000"/>
              <a:buChar char="●"/>
            </a:pPr>
            <a:r>
              <a:rPr lang="en-US" sz="2800" dirty="0">
                <a:solidFill>
                  <a:srgbClr val="13315C"/>
                </a:solidFill>
                <a:latin typeface="Calibri" pitchFamily="34" charset="0"/>
                <a:ea typeface="Calibri" pitchFamily="34" charset="-122"/>
                <a:cs typeface="Calibri" pitchFamily="34" charset="-120"/>
              </a:rPr>
              <a:t>A message built by a layer typically has three parts:</a:t>
            </a:r>
            <a:endParaRPr lang="en-US" sz="2800" dirty="0"/>
          </a:p>
          <a:p>
            <a:pPr marL="685800" lvl="1" indent="-342900">
              <a:lnSpc>
                <a:spcPct val="108000"/>
              </a:lnSpc>
              <a:spcAft>
                <a:spcPts val="600"/>
              </a:spcAft>
              <a:buSzPct val="100000"/>
              <a:buChar char="–"/>
            </a:pPr>
            <a:r>
              <a:rPr lang="en-US" sz="2400" dirty="0">
                <a:solidFill>
                  <a:srgbClr val="13315C"/>
                </a:solidFill>
                <a:latin typeface="Calibri" pitchFamily="34" charset="0"/>
                <a:ea typeface="Calibri" pitchFamily="34" charset="-122"/>
                <a:cs typeface="Calibri" pitchFamily="34" charset="-120"/>
              </a:rPr>
              <a:t>Header — control info added at the front by this layer's protocol.</a:t>
            </a:r>
            <a:endParaRPr lang="en-US" sz="2800" dirty="0"/>
          </a:p>
          <a:p>
            <a:pPr marL="685800" lvl="1" indent="-342900">
              <a:lnSpc>
                <a:spcPct val="108000"/>
              </a:lnSpc>
              <a:spcAft>
                <a:spcPts val="600"/>
              </a:spcAft>
              <a:buSzPct val="100000"/>
              <a:buChar char="–"/>
            </a:pPr>
            <a:r>
              <a:rPr lang="en-US" sz="2400" dirty="0">
                <a:solidFill>
                  <a:srgbClr val="13315C"/>
                </a:solidFill>
                <a:latin typeface="Calibri" pitchFamily="34" charset="0"/>
                <a:ea typeface="Calibri" pitchFamily="34" charset="-122"/>
                <a:cs typeface="Calibri" pitchFamily="34" charset="-120"/>
              </a:rPr>
              <a:t>Payload / body — the data handed down from the layer above (may itself contain a header from that layer).</a:t>
            </a:r>
            <a:endParaRPr lang="en-US" sz="2800" dirty="0"/>
          </a:p>
          <a:p>
            <a:pPr marL="685800" lvl="1" indent="-342900">
              <a:lnSpc>
                <a:spcPct val="108000"/>
              </a:lnSpc>
              <a:spcAft>
                <a:spcPts val="600"/>
              </a:spcAft>
              <a:buSzPct val="100000"/>
              <a:buChar char="–"/>
            </a:pPr>
            <a:r>
              <a:rPr lang="en-US" sz="2400" dirty="0">
                <a:solidFill>
                  <a:srgbClr val="13315C"/>
                </a:solidFill>
                <a:latin typeface="Calibri" pitchFamily="34" charset="0"/>
                <a:ea typeface="Calibri" pitchFamily="34" charset="-122"/>
                <a:cs typeface="Calibri" pitchFamily="34" charset="-120"/>
              </a:rPr>
              <a:t>Trailer (optional) — control info some protocols add at the end, e.g. for error checking.</a:t>
            </a:r>
            <a:endParaRPr lang="en-US" sz="2800" dirty="0"/>
          </a:p>
          <a:p>
            <a:pPr marL="342900" indent="-342900">
              <a:lnSpc>
                <a:spcPct val="108000"/>
              </a:lnSpc>
              <a:spcAft>
                <a:spcPts val="1200"/>
              </a:spcAft>
              <a:buSzPct val="100000"/>
              <a:buChar char="●"/>
            </a:pPr>
            <a:r>
              <a:rPr lang="en-US" sz="2800" dirty="0">
                <a:solidFill>
                  <a:srgbClr val="13315C"/>
                </a:solidFill>
                <a:latin typeface="Calibri" pitchFamily="34" charset="0"/>
                <a:ea typeface="Calibri" pitchFamily="34" charset="-122"/>
                <a:cs typeface="Calibri" pitchFamily="34" charset="-120"/>
              </a:rPr>
              <a:t>This repeats at every layer as the message travels down the protocol graph before transmission.</a:t>
            </a:r>
            <a:endParaRPr lang="en-US" sz="2800" dirty="0"/>
          </a:p>
        </p:txBody>
      </p:sp>
      <p:sp>
        <p:nvSpPr>
          <p:cNvPr id="7" name="Shape 4"/>
          <p:cNvSpPr/>
          <p:nvPr/>
        </p:nvSpPr>
        <p:spPr>
          <a:xfrm>
            <a:off x="853440" y="5145349"/>
            <a:ext cx="1005840" cy="914400"/>
          </a:xfrm>
          <a:prstGeom prst="roundRect">
            <a:avLst>
              <a:gd name="adj" fmla="val 4000"/>
            </a:avLst>
          </a:prstGeom>
          <a:solidFill>
            <a:srgbClr val="0B2545"/>
          </a:solidFill>
          <a:ln w="12700">
            <a:solidFill>
              <a:srgbClr val="D8E2ED"/>
            </a:solidFill>
            <a:prstDash val="solid"/>
          </a:ln>
        </p:spPr>
        <p:txBody>
          <a:bodyPr/>
          <a:lstStyle/>
          <a:p>
            <a:endParaRPr/>
          </a:p>
        </p:txBody>
      </p:sp>
      <p:sp>
        <p:nvSpPr>
          <p:cNvPr id="8" name="Text 5"/>
          <p:cNvSpPr/>
          <p:nvPr/>
        </p:nvSpPr>
        <p:spPr>
          <a:xfrm>
            <a:off x="807720" y="5032702"/>
            <a:ext cx="1005840" cy="91440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HHP</a:t>
            </a:r>
            <a:endParaRPr lang="en-US" dirty="0"/>
          </a:p>
          <a:p>
            <a:pPr marL="0" indent="0" algn="ctr">
              <a:buNone/>
            </a:pPr>
            <a:r>
              <a:rPr lang="en-US" b="1" dirty="0">
                <a:solidFill>
                  <a:srgbClr val="FFFFFF"/>
                </a:solidFill>
                <a:latin typeface="Calibri" pitchFamily="34" charset="0"/>
                <a:ea typeface="Calibri" pitchFamily="34" charset="-122"/>
                <a:cs typeface="Calibri" pitchFamily="34" charset="-120"/>
              </a:rPr>
              <a:t>Header</a:t>
            </a:r>
            <a:endParaRPr lang="en-US" dirty="0"/>
          </a:p>
        </p:txBody>
      </p:sp>
      <p:sp>
        <p:nvSpPr>
          <p:cNvPr id="9" name="Shape 6"/>
          <p:cNvSpPr/>
          <p:nvPr/>
        </p:nvSpPr>
        <p:spPr>
          <a:xfrm>
            <a:off x="1828800" y="5134911"/>
            <a:ext cx="1005840" cy="914400"/>
          </a:xfrm>
          <a:prstGeom prst="roundRect">
            <a:avLst>
              <a:gd name="adj" fmla="val 4000"/>
            </a:avLst>
          </a:prstGeom>
          <a:solidFill>
            <a:srgbClr val="0091AD"/>
          </a:solidFill>
          <a:ln w="12700">
            <a:solidFill>
              <a:srgbClr val="D8E2ED"/>
            </a:solidFill>
            <a:prstDash val="solid"/>
          </a:ln>
        </p:spPr>
        <p:txBody>
          <a:bodyPr/>
          <a:lstStyle/>
          <a:p>
            <a:endParaRPr/>
          </a:p>
        </p:txBody>
      </p:sp>
      <p:sp>
        <p:nvSpPr>
          <p:cNvPr id="10" name="Text 7"/>
          <p:cNvSpPr/>
          <p:nvPr/>
        </p:nvSpPr>
        <p:spPr>
          <a:xfrm>
            <a:off x="1874520" y="5188831"/>
            <a:ext cx="1005840" cy="91440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RRP</a:t>
            </a:r>
            <a:endParaRPr lang="en-US" sz="1150" dirty="0"/>
          </a:p>
          <a:p>
            <a:pPr marL="0" indent="0" algn="ctr">
              <a:buNone/>
            </a:pPr>
            <a:r>
              <a:rPr lang="en-US" sz="2000" b="1" dirty="0">
                <a:solidFill>
                  <a:srgbClr val="FFFFFF"/>
                </a:solidFill>
                <a:latin typeface="Calibri" pitchFamily="34" charset="0"/>
                <a:ea typeface="Calibri" pitchFamily="34" charset="-122"/>
                <a:cs typeface="Calibri" pitchFamily="34" charset="-120"/>
              </a:rPr>
              <a:t>Header</a:t>
            </a:r>
            <a:endParaRPr lang="en-US" sz="1150" dirty="0"/>
          </a:p>
        </p:txBody>
      </p:sp>
      <p:sp>
        <p:nvSpPr>
          <p:cNvPr id="11" name="Shape 8"/>
          <p:cNvSpPr/>
          <p:nvPr/>
        </p:nvSpPr>
        <p:spPr>
          <a:xfrm>
            <a:off x="2849880" y="5120640"/>
            <a:ext cx="5486400" cy="914400"/>
          </a:xfrm>
          <a:prstGeom prst="roundRect">
            <a:avLst>
              <a:gd name="adj" fmla="val 4000"/>
            </a:avLst>
          </a:prstGeom>
          <a:solidFill>
            <a:srgbClr val="00B4D8"/>
          </a:solidFill>
          <a:ln w="12700">
            <a:solidFill>
              <a:srgbClr val="D8E2ED"/>
            </a:solidFill>
            <a:prstDash val="solid"/>
          </a:ln>
        </p:spPr>
        <p:txBody>
          <a:bodyPr/>
          <a:lstStyle/>
          <a:p>
            <a:endParaRPr lang="en-IN" dirty="0"/>
          </a:p>
        </p:txBody>
      </p:sp>
      <p:sp>
        <p:nvSpPr>
          <p:cNvPr id="12" name="Text 9"/>
          <p:cNvSpPr/>
          <p:nvPr/>
        </p:nvSpPr>
        <p:spPr>
          <a:xfrm>
            <a:off x="2865120" y="5078618"/>
            <a:ext cx="5486400" cy="914400"/>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Application Data (Payload)</a:t>
            </a:r>
            <a:endParaRPr lang="en-US" sz="3200" dirty="0"/>
          </a:p>
        </p:txBody>
      </p:sp>
      <p:sp>
        <p:nvSpPr>
          <p:cNvPr id="13" name="Shape 10"/>
          <p:cNvSpPr/>
          <p:nvPr/>
        </p:nvSpPr>
        <p:spPr>
          <a:xfrm>
            <a:off x="8351520" y="5127840"/>
            <a:ext cx="914400" cy="914400"/>
          </a:xfrm>
          <a:prstGeom prst="roundRect">
            <a:avLst>
              <a:gd name="adj" fmla="val 4000"/>
            </a:avLst>
          </a:prstGeom>
          <a:solidFill>
            <a:srgbClr val="8FA8C9"/>
          </a:solidFill>
          <a:ln w="12700">
            <a:solidFill>
              <a:srgbClr val="D8E2ED"/>
            </a:solidFill>
            <a:prstDash val="solid"/>
          </a:ln>
        </p:spPr>
        <p:txBody>
          <a:bodyPr/>
          <a:lstStyle/>
          <a:p>
            <a:endParaRPr/>
          </a:p>
        </p:txBody>
      </p:sp>
      <p:sp>
        <p:nvSpPr>
          <p:cNvPr id="14" name="Text 11"/>
          <p:cNvSpPr/>
          <p:nvPr/>
        </p:nvSpPr>
        <p:spPr>
          <a:xfrm>
            <a:off x="8366760" y="5032702"/>
            <a:ext cx="914400" cy="9144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Trailer</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(optional)</a:t>
            </a:r>
            <a:endParaRPr lang="en-US" sz="1100" dirty="0"/>
          </a:p>
        </p:txBody>
      </p:sp>
      <p:sp>
        <p:nvSpPr>
          <p:cNvPr id="15" name="Text 12"/>
          <p:cNvSpPr/>
          <p:nvPr/>
        </p:nvSpPr>
        <p:spPr>
          <a:xfrm>
            <a:off x="982494" y="6146712"/>
            <a:ext cx="8412480" cy="320040"/>
          </a:xfrm>
          <a:prstGeom prst="rect">
            <a:avLst/>
          </a:prstGeom>
          <a:noFill/>
          <a:ln/>
        </p:spPr>
        <p:txBody>
          <a:bodyPr wrap="square" lIns="0" tIns="0" rIns="0" bIns="0" rtlCol="0" anchor="ctr"/>
          <a:lstStyle/>
          <a:p>
            <a:pPr marL="0" indent="0" algn="ctr">
              <a:buNone/>
            </a:pPr>
            <a:r>
              <a:rPr lang="en-US" sz="2000" i="1" dirty="0">
                <a:solidFill>
                  <a:srgbClr val="5B6B82"/>
                </a:solidFill>
                <a:latin typeface="Calibri" pitchFamily="34" charset="0"/>
                <a:ea typeface="Calibri" pitchFamily="34" charset="-122"/>
                <a:cs typeface="Calibri" pitchFamily="34" charset="-120"/>
              </a:rPr>
              <a:t>Frame built by HHP, ready for transmission on the wire</a:t>
            </a:r>
            <a:endParaRPr lang="en-US" sz="2000" dirty="0"/>
          </a:p>
        </p:txBody>
      </p:sp>
      <p:sp>
        <p:nvSpPr>
          <p:cNvPr id="16" name="Text 13"/>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TOPIC 3 · ENCAPSULATION</a:t>
            </a:r>
            <a:endParaRPr lang="en-US" sz="1000" dirty="0"/>
          </a:p>
        </p:txBody>
      </p:sp>
      <p:sp>
        <p:nvSpPr>
          <p:cNvPr id="17" name="TextBox 16"/>
          <p:cNvSpPr txBox="1"/>
          <p:nvPr/>
        </p:nvSpPr>
        <p:spPr>
          <a:xfrm>
            <a:off x="11792000" y="6638000"/>
            <a:ext cx="200000" cy="100000"/>
          </a:xfrm>
          <a:prstGeom prst="rect">
            <a:avLst/>
          </a:prstGeom>
          <a:noFill/>
        </p:spPr>
        <p:txBody>
          <a:bodyPr wrap="none">
            <a:spAutoFit/>
          </a:bodyPr>
          <a:lstStyle/>
          <a:p>
            <a:pPr>
              <a:defRPr sz="1000"/>
            </a:pPr>
            <a: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39039" y="222764"/>
            <a:ext cx="9144000" cy="274320"/>
          </a:xfrm>
          <a:prstGeom prst="rect">
            <a:avLst/>
          </a:prstGeom>
          <a:noFill/>
          <a:ln/>
        </p:spPr>
        <p:txBody>
          <a:bodyPr wrap="square" lIns="0" tIns="0" rIns="0" bIns="0" rtlCol="0" anchor="ctr"/>
          <a:lstStyle/>
          <a:p>
            <a:pPr marL="0" indent="0">
              <a:buNone/>
            </a:pPr>
            <a:r>
              <a:rPr lang="en-US" sz="1200" b="1" kern="0" spc="200" dirty="0">
                <a:solidFill>
                  <a:srgbClr val="0091AD"/>
                </a:solidFill>
                <a:latin typeface="Calibri" pitchFamily="34" charset="0"/>
                <a:ea typeface="Calibri" pitchFamily="34" charset="-122"/>
                <a:cs typeface="Calibri" pitchFamily="34" charset="-120"/>
              </a:rPr>
              <a:t>TOPIC 3 · ENCAPSULATION</a:t>
            </a:r>
            <a:endParaRPr lang="en-US" sz="1200" dirty="0"/>
          </a:p>
        </p:txBody>
      </p:sp>
      <p:sp>
        <p:nvSpPr>
          <p:cNvPr id="3" name="Text 1"/>
          <p:cNvSpPr/>
          <p:nvPr/>
        </p:nvSpPr>
        <p:spPr>
          <a:xfrm>
            <a:off x="548640" y="566928"/>
            <a:ext cx="10424160" cy="822960"/>
          </a:xfrm>
          <a:prstGeom prst="rect">
            <a:avLst/>
          </a:prstGeom>
          <a:noFill/>
          <a:ln/>
        </p:spPr>
        <p:txBody>
          <a:bodyPr wrap="square" lIns="0" tIns="0" rIns="0" bIns="0" rtlCol="0" anchor="t"/>
          <a:lstStyle/>
          <a:p>
            <a:pPr marL="0" indent="0">
              <a:buNone/>
            </a:pPr>
            <a:r>
              <a:rPr lang="en-US" sz="3600" b="1" dirty="0">
                <a:solidFill>
                  <a:srgbClr val="13315C"/>
                </a:solidFill>
                <a:latin typeface="Bookman Old Style" pitchFamily="34" charset="0"/>
                <a:ea typeface="Bookman Old Style" pitchFamily="34" charset="-122"/>
                <a:cs typeface="Bookman Old Style" pitchFamily="34" charset="-120"/>
              </a:rPr>
              <a:t>Encapsulation Across the Protocol Graph</a:t>
            </a:r>
            <a:endParaRPr lang="en-US" sz="3600" dirty="0"/>
          </a:p>
        </p:txBody>
      </p:sp>
      <p:sp>
        <p:nvSpPr>
          <p:cNvPr id="6" name="Text 3"/>
          <p:cNvSpPr/>
          <p:nvPr/>
        </p:nvSpPr>
        <p:spPr>
          <a:xfrm>
            <a:off x="539039" y="1219153"/>
            <a:ext cx="11064240" cy="1737360"/>
          </a:xfrm>
          <a:prstGeom prst="rect">
            <a:avLst/>
          </a:prstGeom>
          <a:noFill/>
          <a:ln/>
        </p:spPr>
        <p:txBody>
          <a:bodyPr wrap="square" lIns="0" tIns="0" rIns="0" bIns="0" rtlCol="0" anchor="t"/>
          <a:lstStyle/>
          <a:p>
            <a:pPr marL="342900" indent="-342900">
              <a:lnSpc>
                <a:spcPct val="108000"/>
              </a:lnSpc>
              <a:spcAft>
                <a:spcPts val="1200"/>
              </a:spcAft>
              <a:buSzPct val="100000"/>
              <a:buChar char="●"/>
            </a:pPr>
            <a:r>
              <a:rPr lang="en-US" sz="2800" dirty="0">
                <a:solidFill>
                  <a:srgbClr val="13315C"/>
                </a:solidFill>
                <a:latin typeface="Calibri" pitchFamily="34" charset="0"/>
                <a:ea typeface="Calibri" pitchFamily="34" charset="-122"/>
                <a:cs typeface="Calibri" pitchFamily="34" charset="-120"/>
              </a:rPr>
              <a:t>Encapsulation repeats at each level of the protocol graph: RRP attaches its header, then HHP encapsulates RRP's entire message by attaching its own header.</a:t>
            </a:r>
            <a:endParaRPr lang="en-US" sz="2800" dirty="0"/>
          </a:p>
          <a:p>
            <a:pPr marL="342900" indent="-342900">
              <a:lnSpc>
                <a:spcPct val="108000"/>
              </a:lnSpc>
              <a:spcAft>
                <a:spcPts val="1200"/>
              </a:spcAft>
              <a:buSzPct val="100000"/>
              <a:buChar char="●"/>
            </a:pPr>
            <a:r>
              <a:rPr lang="en-US" sz="2800" dirty="0">
                <a:solidFill>
                  <a:srgbClr val="13315C"/>
                </a:solidFill>
                <a:latin typeface="Calibri" pitchFamily="34" charset="0"/>
                <a:ea typeface="Calibri" pitchFamily="34" charset="-122"/>
                <a:cs typeface="Calibri" pitchFamily="34" charset="-120"/>
              </a:rPr>
              <a:t>A low-level protocol usually does not interpret the data it is given — it just wraps it. (Some protocols do transform the whole body, e.g. to compress or encrypt it.)</a:t>
            </a:r>
            <a:endParaRPr lang="en-US" sz="2800" dirty="0"/>
          </a:p>
          <a:p>
            <a:pPr marL="342900" indent="-342900">
              <a:lnSpc>
                <a:spcPct val="108000"/>
              </a:lnSpc>
              <a:spcAft>
                <a:spcPts val="1200"/>
              </a:spcAft>
              <a:buSzPct val="100000"/>
              <a:buChar char="●"/>
            </a:pPr>
            <a:r>
              <a:rPr lang="en-US" sz="2800" dirty="0">
                <a:solidFill>
                  <a:srgbClr val="13315C"/>
                </a:solidFill>
                <a:latin typeface="Calibri" pitchFamily="34" charset="0"/>
                <a:ea typeface="Calibri" pitchFamily="34" charset="-122"/>
                <a:cs typeface="Calibri" pitchFamily="34" charset="-120"/>
              </a:rPr>
              <a:t>High-level messages become nested inside low-level messages, like Russian nesting dolls.</a:t>
            </a:r>
            <a:endParaRPr lang="en-US" sz="2800" dirty="0"/>
          </a:p>
        </p:txBody>
      </p:sp>
      <p:sp>
        <p:nvSpPr>
          <p:cNvPr id="7" name="Shape 4"/>
          <p:cNvSpPr/>
          <p:nvPr/>
        </p:nvSpPr>
        <p:spPr>
          <a:xfrm>
            <a:off x="731520" y="5537956"/>
            <a:ext cx="2011680" cy="822960"/>
          </a:xfrm>
          <a:prstGeom prst="roundRect">
            <a:avLst>
              <a:gd name="adj" fmla="val 4444"/>
            </a:avLst>
          </a:prstGeom>
          <a:solidFill>
            <a:srgbClr val="00B4D8"/>
          </a:solidFill>
          <a:ln w="12700">
            <a:solidFill>
              <a:srgbClr val="D8E2ED"/>
            </a:solidFill>
            <a:prstDash val="solid"/>
          </a:ln>
        </p:spPr>
        <p:txBody>
          <a:bodyPr/>
          <a:lstStyle/>
          <a:p>
            <a:endParaRPr/>
          </a:p>
        </p:txBody>
      </p:sp>
      <p:sp>
        <p:nvSpPr>
          <p:cNvPr id="8" name="Text 5"/>
          <p:cNvSpPr/>
          <p:nvPr/>
        </p:nvSpPr>
        <p:spPr>
          <a:xfrm>
            <a:off x="729573" y="5488492"/>
            <a:ext cx="2011680" cy="82296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Application</a:t>
            </a:r>
            <a:r>
              <a:rPr lang="en-US" sz="1200" b="1" dirty="0">
                <a:solidFill>
                  <a:srgbClr val="FFFFFF"/>
                </a:solidFill>
                <a:latin typeface="Calibri" pitchFamily="34" charset="0"/>
                <a:ea typeface="Calibri" pitchFamily="34" charset="-122"/>
                <a:cs typeface="Calibri" pitchFamily="34" charset="-120"/>
              </a:rPr>
              <a:t> </a:t>
            </a:r>
            <a:r>
              <a:rPr lang="en-US" sz="2000" b="1" dirty="0">
                <a:solidFill>
                  <a:srgbClr val="FFFFFF"/>
                </a:solidFill>
                <a:latin typeface="Calibri" pitchFamily="34" charset="0"/>
                <a:ea typeface="Calibri" pitchFamily="34" charset="-122"/>
                <a:cs typeface="Calibri" pitchFamily="34" charset="-120"/>
              </a:rPr>
              <a:t>Data</a:t>
            </a:r>
            <a:endParaRPr lang="en-US" sz="1200" dirty="0"/>
          </a:p>
        </p:txBody>
      </p:sp>
      <p:sp>
        <p:nvSpPr>
          <p:cNvPr id="9" name="Shape 6"/>
          <p:cNvSpPr/>
          <p:nvPr/>
        </p:nvSpPr>
        <p:spPr>
          <a:xfrm>
            <a:off x="2743200" y="5875053"/>
            <a:ext cx="457200" cy="0"/>
          </a:xfrm>
          <a:prstGeom prst="line">
            <a:avLst/>
          </a:prstGeom>
          <a:noFill/>
          <a:ln w="19050">
            <a:solidFill>
              <a:srgbClr val="5B6B82"/>
            </a:solidFill>
            <a:prstDash val="solid"/>
            <a:tailEnd type="triangle"/>
          </a:ln>
        </p:spPr>
        <p:txBody>
          <a:bodyPr/>
          <a:lstStyle/>
          <a:p>
            <a:endParaRPr/>
          </a:p>
        </p:txBody>
      </p:sp>
      <p:sp>
        <p:nvSpPr>
          <p:cNvPr id="10" name="Shape 7"/>
          <p:cNvSpPr/>
          <p:nvPr/>
        </p:nvSpPr>
        <p:spPr>
          <a:xfrm>
            <a:off x="3200400" y="5516653"/>
            <a:ext cx="2743200" cy="822960"/>
          </a:xfrm>
          <a:prstGeom prst="roundRect">
            <a:avLst>
              <a:gd name="adj" fmla="val 4444"/>
            </a:avLst>
          </a:prstGeom>
          <a:solidFill>
            <a:srgbClr val="0091AD"/>
          </a:solidFill>
          <a:ln w="12700">
            <a:solidFill>
              <a:srgbClr val="D8E2ED"/>
            </a:solidFill>
            <a:prstDash val="solid"/>
          </a:ln>
        </p:spPr>
        <p:txBody>
          <a:bodyPr/>
          <a:lstStyle/>
          <a:p>
            <a:endParaRPr/>
          </a:p>
        </p:txBody>
      </p:sp>
      <p:sp>
        <p:nvSpPr>
          <p:cNvPr id="11" name="Text 8"/>
          <p:cNvSpPr/>
          <p:nvPr/>
        </p:nvSpPr>
        <p:spPr>
          <a:xfrm>
            <a:off x="3198453" y="5470398"/>
            <a:ext cx="2743200" cy="82296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RRP Hdr + Data</a:t>
            </a:r>
            <a:endParaRPr lang="en-US" sz="2000" dirty="0"/>
          </a:p>
        </p:txBody>
      </p:sp>
      <p:sp>
        <p:nvSpPr>
          <p:cNvPr id="12" name="Shape 9"/>
          <p:cNvSpPr/>
          <p:nvPr/>
        </p:nvSpPr>
        <p:spPr>
          <a:xfrm>
            <a:off x="5945547" y="5875053"/>
            <a:ext cx="457200" cy="0"/>
          </a:xfrm>
          <a:prstGeom prst="line">
            <a:avLst/>
          </a:prstGeom>
          <a:noFill/>
          <a:ln w="19050">
            <a:solidFill>
              <a:srgbClr val="5B6B82"/>
            </a:solidFill>
            <a:prstDash val="solid"/>
            <a:tailEnd type="triangle"/>
          </a:ln>
        </p:spPr>
        <p:txBody>
          <a:bodyPr/>
          <a:lstStyle/>
          <a:p>
            <a:endParaRPr/>
          </a:p>
        </p:txBody>
      </p:sp>
      <p:sp>
        <p:nvSpPr>
          <p:cNvPr id="13" name="Shape 10"/>
          <p:cNvSpPr/>
          <p:nvPr/>
        </p:nvSpPr>
        <p:spPr>
          <a:xfrm>
            <a:off x="6402747" y="5488492"/>
            <a:ext cx="3657600" cy="822960"/>
          </a:xfrm>
          <a:prstGeom prst="roundRect">
            <a:avLst>
              <a:gd name="adj" fmla="val 4444"/>
            </a:avLst>
          </a:prstGeom>
          <a:solidFill>
            <a:srgbClr val="0B2545"/>
          </a:solidFill>
          <a:ln w="12700">
            <a:solidFill>
              <a:srgbClr val="D8E2ED"/>
            </a:solidFill>
            <a:prstDash val="solid"/>
          </a:ln>
        </p:spPr>
        <p:txBody>
          <a:bodyPr/>
          <a:lstStyle/>
          <a:p>
            <a:endParaRPr/>
          </a:p>
        </p:txBody>
      </p:sp>
      <p:sp>
        <p:nvSpPr>
          <p:cNvPr id="14" name="Text 11"/>
          <p:cNvSpPr/>
          <p:nvPr/>
        </p:nvSpPr>
        <p:spPr>
          <a:xfrm>
            <a:off x="6396906" y="5470398"/>
            <a:ext cx="3657600" cy="82296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HHP Hdr + RRP Hdr + Data</a:t>
            </a:r>
            <a:endParaRPr lang="en-US" sz="2000" dirty="0"/>
          </a:p>
        </p:txBody>
      </p:sp>
      <p:sp>
        <p:nvSpPr>
          <p:cNvPr id="15" name="Text 12"/>
          <p:cNvSpPr/>
          <p:nvPr/>
        </p:nvSpPr>
        <p:spPr>
          <a:xfrm>
            <a:off x="1144947" y="6417659"/>
            <a:ext cx="10058400" cy="365760"/>
          </a:xfrm>
          <a:prstGeom prst="rect">
            <a:avLst/>
          </a:prstGeom>
          <a:noFill/>
          <a:ln/>
        </p:spPr>
        <p:txBody>
          <a:bodyPr wrap="square" lIns="0" tIns="0" rIns="0" bIns="0" rtlCol="0" anchor="ctr"/>
          <a:lstStyle/>
          <a:p>
            <a:pPr marL="0" indent="0">
              <a:buNone/>
            </a:pPr>
            <a:r>
              <a:rPr lang="en-US" sz="2000" i="1" dirty="0">
                <a:solidFill>
                  <a:srgbClr val="5B6B82"/>
                </a:solidFill>
                <a:latin typeface="Calibri" pitchFamily="34" charset="0"/>
                <a:ea typeface="Calibri" pitchFamily="34" charset="-122"/>
                <a:cs typeface="Calibri" pitchFamily="34" charset="-120"/>
              </a:rPr>
              <a:t>Growing outward: each layer adds its own header around what it received from above.</a:t>
            </a:r>
            <a:endParaRPr lang="en-US" sz="2000" dirty="0"/>
          </a:p>
        </p:txBody>
      </p:sp>
      <p:sp>
        <p:nvSpPr>
          <p:cNvPr id="16" name="TextBox 15"/>
          <p:cNvSpPr txBox="1"/>
          <p:nvPr/>
        </p:nvSpPr>
        <p:spPr>
          <a:xfrm>
            <a:off x="11792000" y="6638000"/>
            <a:ext cx="200000" cy="100000"/>
          </a:xfrm>
          <a:prstGeom prst="rect">
            <a:avLst/>
          </a:prstGeom>
          <a:noFill/>
        </p:spPr>
        <p:txBody>
          <a:bodyPr wrap="none">
            <a:spAutoFit/>
          </a:bodyPr>
          <a:lstStyle/>
          <a:p>
            <a:pPr>
              <a:defRPr sz="1000"/>
            </a:pPr>
            <a:r>
              <a:t>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60960"/>
            <a:ext cx="9144000" cy="274320"/>
          </a:xfrm>
          <a:prstGeom prst="rect">
            <a:avLst/>
          </a:prstGeom>
          <a:noFill/>
          <a:ln/>
        </p:spPr>
        <p:txBody>
          <a:bodyPr wrap="square" lIns="0" tIns="0" rIns="0" bIns="0" rtlCol="0" anchor="ctr"/>
          <a:lstStyle/>
          <a:p>
            <a:pPr marL="0" indent="0">
              <a:buNone/>
            </a:pPr>
            <a:r>
              <a:rPr lang="en-US" sz="1200" b="1" kern="0" spc="200" dirty="0">
                <a:solidFill>
                  <a:srgbClr val="0091AD"/>
                </a:solidFill>
                <a:latin typeface="Calibri" pitchFamily="34" charset="0"/>
                <a:ea typeface="Calibri" pitchFamily="34" charset="-122"/>
                <a:cs typeface="Calibri" pitchFamily="34" charset="-120"/>
              </a:rPr>
              <a:t>TOPIC 3 · ENCAPSULATION</a:t>
            </a:r>
            <a:endParaRPr lang="en-US" sz="1200" dirty="0"/>
          </a:p>
        </p:txBody>
      </p:sp>
      <p:sp>
        <p:nvSpPr>
          <p:cNvPr id="3" name="Text 1"/>
          <p:cNvSpPr/>
          <p:nvPr/>
        </p:nvSpPr>
        <p:spPr>
          <a:xfrm>
            <a:off x="822960" y="362712"/>
            <a:ext cx="10424160" cy="822960"/>
          </a:xfrm>
          <a:prstGeom prst="rect">
            <a:avLst/>
          </a:prstGeom>
          <a:noFill/>
          <a:ln/>
        </p:spPr>
        <p:txBody>
          <a:bodyPr wrap="square" lIns="0" tIns="0" rIns="0" bIns="0" rtlCol="0" anchor="t"/>
          <a:lstStyle/>
          <a:p>
            <a:pPr marL="0" indent="0">
              <a:buNone/>
            </a:pPr>
            <a:r>
              <a:rPr lang="en-US" sz="3600" b="1" dirty="0">
                <a:solidFill>
                  <a:srgbClr val="13315C"/>
                </a:solidFill>
                <a:latin typeface="Bookman Old Style" pitchFamily="34" charset="0"/>
                <a:ea typeface="Bookman Old Style" pitchFamily="34" charset="-122"/>
                <a:cs typeface="Bookman Old Style" pitchFamily="34" charset="-120"/>
              </a:rPr>
              <a:t>De-encapsulation at the Receiver</a:t>
            </a:r>
            <a:endParaRPr lang="en-US" sz="3600" dirty="0"/>
          </a:p>
        </p:txBody>
      </p:sp>
      <p:sp>
        <p:nvSpPr>
          <p:cNvPr id="6" name="Text 3"/>
          <p:cNvSpPr/>
          <p:nvPr/>
        </p:nvSpPr>
        <p:spPr>
          <a:xfrm>
            <a:off x="563880" y="1106424"/>
            <a:ext cx="11064240" cy="4572000"/>
          </a:xfrm>
          <a:prstGeom prst="rect">
            <a:avLst/>
          </a:prstGeom>
          <a:noFill/>
          <a:ln/>
        </p:spPr>
        <p:txBody>
          <a:bodyPr wrap="square" lIns="0" tIns="0" rIns="0" bIns="0" rtlCol="0" anchor="t"/>
          <a:lstStyle/>
          <a:p>
            <a:pPr marL="342900" indent="-342900">
              <a:lnSpc>
                <a:spcPct val="108000"/>
              </a:lnSpc>
              <a:spcAft>
                <a:spcPts val="1200"/>
              </a:spcAft>
              <a:buSzPct val="100000"/>
              <a:buChar char="●"/>
            </a:pPr>
            <a:r>
              <a:rPr lang="en-US" sz="2800" dirty="0">
                <a:solidFill>
                  <a:srgbClr val="13315C"/>
                </a:solidFill>
                <a:latin typeface="Calibri" pitchFamily="34" charset="0"/>
                <a:ea typeface="Calibri" pitchFamily="34" charset="-122"/>
                <a:cs typeface="Calibri" pitchFamily="34" charset="-120"/>
              </a:rPr>
              <a:t>At the destination, the message is processed in exactly the reverse order it was built.</a:t>
            </a:r>
            <a:endParaRPr lang="en-US" sz="2800" dirty="0"/>
          </a:p>
          <a:p>
            <a:pPr marL="342900" indent="-342900">
              <a:lnSpc>
                <a:spcPct val="108000"/>
              </a:lnSpc>
              <a:spcAft>
                <a:spcPts val="1200"/>
              </a:spcAft>
              <a:buSzPct val="100000"/>
              <a:buChar char="●"/>
            </a:pPr>
            <a:r>
              <a:rPr lang="en-US" sz="2800" dirty="0">
                <a:solidFill>
                  <a:srgbClr val="13315C"/>
                </a:solidFill>
                <a:latin typeface="Calibri" pitchFamily="34" charset="0"/>
                <a:ea typeface="Calibri" pitchFamily="34" charset="-122"/>
                <a:cs typeface="Calibri" pitchFamily="34" charset="-120"/>
              </a:rPr>
              <a:t>HHP interprets its header (acts on the control info), then passes the body — without the HHP header — up to RRP.</a:t>
            </a:r>
            <a:endParaRPr lang="en-US" sz="2800" dirty="0"/>
          </a:p>
          <a:p>
            <a:pPr marL="342900" indent="-342900">
              <a:lnSpc>
                <a:spcPct val="108000"/>
              </a:lnSpc>
              <a:spcAft>
                <a:spcPts val="1200"/>
              </a:spcAft>
              <a:buSzPct val="100000"/>
              <a:buChar char="●"/>
            </a:pPr>
            <a:r>
              <a:rPr lang="en-US" sz="2800" dirty="0">
                <a:solidFill>
                  <a:srgbClr val="13315C"/>
                </a:solidFill>
                <a:latin typeface="Calibri" pitchFamily="34" charset="0"/>
                <a:ea typeface="Calibri" pitchFamily="34" charset="-122"/>
                <a:cs typeface="Calibri" pitchFamily="34" charset="-120"/>
              </a:rPr>
              <a:t>RRP interprets its header, then passes the body — without the RRP header — up to the application.</a:t>
            </a:r>
            <a:endParaRPr lang="en-US" sz="2800" dirty="0"/>
          </a:p>
          <a:p>
            <a:pPr marL="342900" indent="-342900" algn="just">
              <a:lnSpc>
                <a:spcPct val="108000"/>
              </a:lnSpc>
              <a:spcAft>
                <a:spcPts val="1200"/>
              </a:spcAft>
              <a:buSzPct val="100000"/>
              <a:buChar char="●"/>
            </a:pPr>
            <a:r>
              <a:rPr lang="en-US" sz="2800" b="1" dirty="0">
                <a:solidFill>
                  <a:srgbClr val="13315C"/>
                </a:solidFill>
                <a:latin typeface="Calibri" pitchFamily="34" charset="0"/>
                <a:ea typeface="Calibri" pitchFamily="34" charset="-122"/>
                <a:cs typeface="Calibri" pitchFamily="34" charset="-120"/>
              </a:rPr>
              <a:t>Key result:</a:t>
            </a:r>
            <a:endParaRPr lang="en-US" sz="2800" dirty="0"/>
          </a:p>
          <a:p>
            <a:pPr marL="685800" lvl="1" indent="-342900">
              <a:lnSpc>
                <a:spcPct val="108000"/>
              </a:lnSpc>
              <a:spcAft>
                <a:spcPts val="600"/>
              </a:spcAft>
              <a:buSzPct val="100000"/>
              <a:buChar char="–"/>
            </a:pPr>
            <a:r>
              <a:rPr lang="en-US" sz="2400" dirty="0">
                <a:solidFill>
                  <a:srgbClr val="13315C"/>
                </a:solidFill>
                <a:latin typeface="Calibri" pitchFamily="34" charset="0"/>
                <a:ea typeface="Calibri" pitchFamily="34" charset="-122"/>
                <a:cs typeface="Calibri" pitchFamily="34" charset="-120"/>
              </a:rPr>
              <a:t>The message the application receives is identical to the message the sending application handed down — no headers are ever visible to the application layer.</a:t>
            </a:r>
            <a:endParaRPr lang="en-US" sz="2800" dirty="0"/>
          </a:p>
          <a:p>
            <a:pPr marL="342900" indent="-342900">
              <a:lnSpc>
                <a:spcPct val="108000"/>
              </a:lnSpc>
              <a:spcAft>
                <a:spcPts val="1200"/>
              </a:spcAft>
              <a:buSzPct val="100000"/>
              <a:buChar char="●"/>
            </a:pPr>
            <a:r>
              <a:rPr lang="en-US" sz="2800" dirty="0">
                <a:solidFill>
                  <a:srgbClr val="13315C"/>
                </a:solidFill>
                <a:latin typeface="Calibri" pitchFamily="34" charset="0"/>
                <a:ea typeface="Calibri" pitchFamily="34" charset="-122"/>
                <a:cs typeface="Calibri" pitchFamily="34" charset="-120"/>
              </a:rPr>
              <a:t>Intermediate network devices (switches, routers) may inspect lower-layer headers (like the HHP header) without touching the payload above it.</a:t>
            </a:r>
            <a:endParaRPr lang="en-US" sz="2800" dirty="0"/>
          </a:p>
        </p:txBody>
      </p:sp>
      <p:sp>
        <p:nvSpPr>
          <p:cNvPr id="7" name="TextBox 6"/>
          <p:cNvSpPr txBox="1"/>
          <p:nvPr/>
        </p:nvSpPr>
        <p:spPr>
          <a:xfrm>
            <a:off x="11792000" y="6638000"/>
            <a:ext cx="200000" cy="100000"/>
          </a:xfrm>
          <a:prstGeom prst="rect">
            <a:avLst/>
          </a:prstGeom>
          <a:noFill/>
        </p:spPr>
        <p:txBody>
          <a:bodyPr wrap="none">
            <a:spAutoFit/>
          </a:bodyPr>
          <a:lstStyle/>
          <a:p>
            <a:pPr>
              <a:defRPr sz="1000"/>
            </a:pPr>
            <a:r>
              <a:t>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E07A2C"/>
          </a:solidFill>
          <a:ln/>
        </p:spPr>
        <p:txBody>
          <a:bodyPr/>
          <a:lstStyle/>
          <a:p>
            <a:endParaRPr/>
          </a:p>
        </p:txBody>
      </p:sp>
      <p:pic>
        <p:nvPicPr>
          <p:cNvPr id="3" name="Image 0" descr="preencoded.png"/>
          <p:cNvPicPr>
            <a:picLocks noChangeAspect="1"/>
          </p:cNvPicPr>
          <p:nvPr/>
        </p:nvPicPr>
        <p:blipFill>
          <a:blip r:embed="rId3"/>
          <a:stretch>
            <a:fillRect/>
          </a:stretch>
        </p:blipFill>
        <p:spPr>
          <a:xfrm>
            <a:off x="631850" y="494690"/>
            <a:ext cx="473659" cy="473659"/>
          </a:xfrm>
          <a:prstGeom prst="rect">
            <a:avLst/>
          </a:prstGeom>
        </p:spPr>
      </p:pic>
      <p:sp>
        <p:nvSpPr>
          <p:cNvPr id="4" name="Text 1"/>
          <p:cNvSpPr/>
          <p:nvPr/>
        </p:nvSpPr>
        <p:spPr>
          <a:xfrm>
            <a:off x="1371600" y="457200"/>
            <a:ext cx="8229600" cy="320040"/>
          </a:xfrm>
          <a:prstGeom prst="rect">
            <a:avLst/>
          </a:prstGeom>
          <a:noFill/>
          <a:ln/>
        </p:spPr>
        <p:txBody>
          <a:bodyPr wrap="square" lIns="0" tIns="0" rIns="0" bIns="0" rtlCol="0" anchor="ctr"/>
          <a:lstStyle/>
          <a:p>
            <a:pPr marL="0" indent="0">
              <a:buNone/>
            </a:pPr>
            <a:r>
              <a:rPr lang="en-US" sz="1300" b="1" kern="0" spc="150" dirty="0">
                <a:solidFill>
                  <a:srgbClr val="E07A2C"/>
                </a:solidFill>
                <a:latin typeface="Calibri" pitchFamily="34" charset="0"/>
                <a:ea typeface="Calibri" pitchFamily="34" charset="-122"/>
                <a:cs typeface="Calibri" pitchFamily="34" charset="-120"/>
              </a:rPr>
              <a:t>HANDS-ON ACTIVITY  </a:t>
            </a:r>
            <a:endParaRPr lang="en-US" sz="1300" dirty="0"/>
          </a:p>
        </p:txBody>
      </p:sp>
      <p:sp>
        <p:nvSpPr>
          <p:cNvPr id="5" name="Text 2"/>
          <p:cNvSpPr/>
          <p:nvPr/>
        </p:nvSpPr>
        <p:spPr>
          <a:xfrm>
            <a:off x="548640" y="868680"/>
            <a:ext cx="10789920" cy="777240"/>
          </a:xfrm>
          <a:prstGeom prst="rect">
            <a:avLst/>
          </a:prstGeom>
          <a:noFill/>
          <a:ln/>
        </p:spPr>
        <p:txBody>
          <a:bodyPr wrap="square" lIns="0" tIns="0" rIns="0" bIns="0" rtlCol="0" anchor="ctr"/>
          <a:lstStyle/>
          <a:p>
            <a:pPr marL="0" indent="0">
              <a:buNone/>
            </a:pPr>
            <a:r>
              <a:rPr lang="en-US" sz="2700" b="1" dirty="0">
                <a:solidFill>
                  <a:srgbClr val="13315C"/>
                </a:solidFill>
                <a:latin typeface="Bookman Old Style" pitchFamily="34" charset="0"/>
                <a:ea typeface="Bookman Old Style" pitchFamily="34" charset="-122"/>
                <a:cs typeface="Bookman Old Style" pitchFamily="34" charset="-120"/>
              </a:rPr>
              <a:t>Build and Unwrap an Encapsulated Packet</a:t>
            </a:r>
            <a:endParaRPr lang="en-US" sz="2700" dirty="0"/>
          </a:p>
        </p:txBody>
      </p:sp>
      <p:sp>
        <p:nvSpPr>
          <p:cNvPr id="6" name="Shape 3"/>
          <p:cNvSpPr/>
          <p:nvPr/>
        </p:nvSpPr>
        <p:spPr>
          <a:xfrm>
            <a:off x="548640" y="1783080"/>
            <a:ext cx="11064240" cy="4434840"/>
          </a:xfrm>
          <a:prstGeom prst="roundRect">
            <a:avLst>
              <a:gd name="adj" fmla="val 1649"/>
            </a:avLst>
          </a:prstGeom>
          <a:solidFill>
            <a:srgbClr val="FFFFFF"/>
          </a:solidFill>
          <a:ln/>
          <a:effectLst>
            <a:outerShdw blurRad="88900" dist="25400" dir="5400000" algn="bl" rotWithShape="0">
              <a:srgbClr val="0B2545">
                <a:alpha val="10000"/>
              </a:srgbClr>
            </a:outerShdw>
          </a:effectLst>
        </p:spPr>
        <p:txBody>
          <a:bodyPr/>
          <a:lstStyle/>
          <a:p>
            <a:endParaRPr/>
          </a:p>
        </p:txBody>
      </p:sp>
      <p:sp>
        <p:nvSpPr>
          <p:cNvPr id="7" name="Text 4"/>
          <p:cNvSpPr/>
          <p:nvPr/>
        </p:nvSpPr>
        <p:spPr>
          <a:xfrm>
            <a:off x="868679" y="1783080"/>
            <a:ext cx="10332720" cy="3931920"/>
          </a:xfrm>
          <a:prstGeom prst="rect">
            <a:avLst/>
          </a:prstGeom>
          <a:noFill/>
          <a:ln/>
        </p:spPr>
        <p:txBody>
          <a:bodyPr wrap="square" lIns="0" tIns="0" rIns="0" bIns="0" rtlCol="0" anchor="t"/>
          <a:lstStyle/>
          <a:p>
            <a:pPr marL="342900" indent="-342900">
              <a:lnSpc>
                <a:spcPct val="110000"/>
              </a:lnSpc>
              <a:spcAft>
                <a:spcPts val="1300"/>
              </a:spcAft>
              <a:buSzPct val="100000"/>
              <a:buChar char="▸"/>
            </a:pPr>
            <a:r>
              <a:rPr lang="en-US" sz="2400" dirty="0">
                <a:solidFill>
                  <a:srgbClr val="13315C"/>
                </a:solidFill>
                <a:latin typeface="Calibri" pitchFamily="34" charset="0"/>
                <a:ea typeface="Calibri" pitchFamily="34" charset="-122"/>
                <a:cs typeface="Calibri" pitchFamily="34" charset="-120"/>
              </a:rPr>
              <a:t>Work in pairs. One partner is the 'Sender stack', the other is the 'Receiver stack'.</a:t>
            </a:r>
            <a:endParaRPr lang="en-US" sz="2400" dirty="0"/>
          </a:p>
          <a:p>
            <a:pPr marL="342900" indent="-342900">
              <a:lnSpc>
                <a:spcPct val="110000"/>
              </a:lnSpc>
              <a:spcAft>
                <a:spcPts val="1300"/>
              </a:spcAft>
              <a:buSzPct val="100000"/>
              <a:buChar char="▸"/>
            </a:pPr>
            <a:r>
              <a:rPr lang="en-US" sz="2400" dirty="0">
                <a:solidFill>
                  <a:srgbClr val="13315C"/>
                </a:solidFill>
                <a:latin typeface="Calibri" pitchFamily="34" charset="0"/>
                <a:ea typeface="Calibri" pitchFamily="34" charset="-122"/>
                <a:cs typeface="Calibri" pitchFamily="34" charset="-120"/>
              </a:rPr>
              <a:t>On paper, write a short message (the 'Application Data'). The Sender wraps it step by step: add an RRP header (write a fake sequence number), then an HHP header (write fake source/destination addresses) around the outside.</a:t>
            </a:r>
            <a:endParaRPr lang="en-US" sz="2400" dirty="0"/>
          </a:p>
          <a:p>
            <a:pPr marL="342900" indent="-342900">
              <a:lnSpc>
                <a:spcPct val="110000"/>
              </a:lnSpc>
              <a:spcAft>
                <a:spcPts val="1300"/>
              </a:spcAft>
              <a:buSzPct val="100000"/>
              <a:buChar char="▸"/>
            </a:pPr>
            <a:r>
              <a:rPr lang="en-US" sz="2400" dirty="0">
                <a:solidFill>
                  <a:srgbClr val="13315C"/>
                </a:solidFill>
                <a:latin typeface="Calibri" pitchFamily="34" charset="0"/>
                <a:ea typeface="Calibri" pitchFamily="34" charset="-122"/>
                <a:cs typeface="Calibri" pitchFamily="34" charset="-120"/>
              </a:rPr>
              <a:t>Pass the fully wrapped 'packet' (the paper) to your partner, the Receiver.</a:t>
            </a:r>
            <a:endParaRPr lang="en-US" sz="2400" dirty="0"/>
          </a:p>
          <a:p>
            <a:pPr marL="342900" indent="-342900">
              <a:lnSpc>
                <a:spcPct val="110000"/>
              </a:lnSpc>
              <a:spcAft>
                <a:spcPts val="1300"/>
              </a:spcAft>
              <a:buSzPct val="100000"/>
              <a:buChar char="▸"/>
            </a:pPr>
            <a:r>
              <a:rPr lang="en-US" sz="2400" dirty="0">
                <a:solidFill>
                  <a:srgbClr val="13315C"/>
                </a:solidFill>
                <a:latin typeface="Calibri" pitchFamily="34" charset="0"/>
                <a:ea typeface="Calibri" pitchFamily="34" charset="-122"/>
                <a:cs typeface="Calibri" pitchFamily="34" charset="-120"/>
              </a:rPr>
              <a:t>The Receiver must de-encapsulate it correctly: read and remove the HHP header first, then the RRP header, and finally recover the original Application Data — in the correct reverse order.</a:t>
            </a:r>
            <a:endParaRPr lang="en-US" sz="2400" dirty="0"/>
          </a:p>
          <a:p>
            <a:pPr marL="342900" indent="-342900">
              <a:lnSpc>
                <a:spcPct val="110000"/>
              </a:lnSpc>
              <a:spcAft>
                <a:spcPts val="1300"/>
              </a:spcAft>
              <a:buSzPct val="100000"/>
              <a:buChar char="▸"/>
            </a:pPr>
            <a:r>
              <a:rPr lang="en-US" sz="2400" dirty="0">
                <a:solidFill>
                  <a:srgbClr val="13315C"/>
                </a:solidFill>
                <a:latin typeface="Calibri" pitchFamily="34" charset="0"/>
                <a:ea typeface="Calibri" pitchFamily="34" charset="-122"/>
                <a:cs typeface="Calibri" pitchFamily="34" charset="-120"/>
              </a:rPr>
              <a:t>Discuss: what would go wrong if the Receiver tried to read the RRP header before removing the HHP header?</a:t>
            </a:r>
            <a:endParaRPr lang="en-US" sz="2400" dirty="0"/>
          </a:p>
        </p:txBody>
      </p:sp>
      <p:sp>
        <p:nvSpPr>
          <p:cNvPr id="8" name="Text 5"/>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TOPIC 3 · ACTIVITY</a:t>
            </a:r>
            <a:endParaRPr lang="en-US" sz="1000" dirty="0"/>
          </a:p>
        </p:txBody>
      </p:sp>
      <p:sp>
        <p:nvSpPr>
          <p:cNvPr id="9" name="TextBox 8"/>
          <p:cNvSpPr txBox="1"/>
          <p:nvPr/>
        </p:nvSpPr>
        <p:spPr>
          <a:xfrm>
            <a:off x="11792000" y="6638000"/>
            <a:ext cx="200000" cy="100000"/>
          </a:xfrm>
          <a:prstGeom prst="rect">
            <a:avLst/>
          </a:prstGeom>
          <a:noFill/>
        </p:spPr>
        <p:txBody>
          <a:bodyPr wrap="none">
            <a:spAutoFit/>
          </a:bodyPr>
          <a:lstStyle/>
          <a:p>
            <a:pPr>
              <a:defRPr sz="1000"/>
            </a:pPr>
            <a:r>
              <a:t>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0">
    <p:bg>
      <p:bgPr>
        <a:solidFill>
          <a:srgbClr val="002060"/>
        </a:solidFill>
        <a:effectLst/>
      </p:bgPr>
    </p:bg>
    <p:spTree>
      <p:nvGrpSpPr>
        <p:cNvPr id="1" name=""/>
        <p:cNvGrpSpPr/>
        <p:nvPr/>
      </p:nvGrpSpPr>
      <p:grpSpPr>
        <a:xfrm>
          <a:off x="0" y="0"/>
          <a:ext cx="0" cy="0"/>
          <a:chOff x="0" y="0"/>
          <a:chExt cx="0" cy="0"/>
        </a:xfrm>
      </p:grpSpPr>
      <p:sp>
        <p:nvSpPr>
          <p:cNvPr id="2" name="Shape 0"/>
          <p:cNvSpPr/>
          <p:nvPr/>
        </p:nvSpPr>
        <p:spPr>
          <a:xfrm>
            <a:off x="9692640" y="914400"/>
            <a:ext cx="914400" cy="548640"/>
          </a:xfrm>
          <a:prstGeom prst="line">
            <a:avLst/>
          </a:prstGeom>
          <a:noFill/>
          <a:ln w="12700">
            <a:solidFill>
              <a:srgbClr val="1E3A66"/>
            </a:solidFill>
            <a:prstDash val="solid"/>
          </a:ln>
        </p:spPr>
        <p:txBody>
          <a:bodyPr/>
          <a:lstStyle/>
          <a:p>
            <a:endParaRPr/>
          </a:p>
        </p:txBody>
      </p:sp>
      <p:sp>
        <p:nvSpPr>
          <p:cNvPr id="3" name="Shape 1"/>
          <p:cNvSpPr/>
          <p:nvPr/>
        </p:nvSpPr>
        <p:spPr>
          <a:xfrm>
            <a:off x="9692640" y="914400"/>
            <a:ext cx="1645920" cy="0"/>
          </a:xfrm>
          <a:prstGeom prst="line">
            <a:avLst/>
          </a:prstGeom>
          <a:noFill/>
          <a:ln w="12700">
            <a:solidFill>
              <a:srgbClr val="1E3A66"/>
            </a:solidFill>
            <a:prstDash val="solid"/>
          </a:ln>
        </p:spPr>
        <p:txBody>
          <a:bodyPr/>
          <a:lstStyle/>
          <a:p>
            <a:endParaRPr/>
          </a:p>
        </p:txBody>
      </p:sp>
      <p:sp>
        <p:nvSpPr>
          <p:cNvPr id="4" name="Shape 2"/>
          <p:cNvSpPr/>
          <p:nvPr/>
        </p:nvSpPr>
        <p:spPr>
          <a:xfrm>
            <a:off x="9692640" y="914400"/>
            <a:ext cx="548640" cy="1371600"/>
          </a:xfrm>
          <a:prstGeom prst="line">
            <a:avLst/>
          </a:prstGeom>
          <a:noFill/>
          <a:ln w="12700">
            <a:solidFill>
              <a:srgbClr val="1E3A66"/>
            </a:solidFill>
            <a:prstDash val="solid"/>
          </a:ln>
        </p:spPr>
        <p:txBody>
          <a:bodyPr/>
          <a:lstStyle/>
          <a:p>
            <a:endParaRPr/>
          </a:p>
        </p:txBody>
      </p:sp>
      <p:sp>
        <p:nvSpPr>
          <p:cNvPr id="5" name="Shape 3"/>
          <p:cNvSpPr/>
          <p:nvPr/>
        </p:nvSpPr>
        <p:spPr>
          <a:xfrm>
            <a:off x="9692640" y="914400"/>
            <a:ext cx="1828800" cy="1463040"/>
          </a:xfrm>
          <a:prstGeom prst="line">
            <a:avLst/>
          </a:prstGeom>
          <a:noFill/>
          <a:ln w="12700">
            <a:solidFill>
              <a:srgbClr val="1E3A66"/>
            </a:solidFill>
            <a:prstDash val="solid"/>
          </a:ln>
        </p:spPr>
        <p:txBody>
          <a:bodyPr/>
          <a:lstStyle/>
          <a:p>
            <a:endParaRPr/>
          </a:p>
        </p:txBody>
      </p:sp>
      <p:sp>
        <p:nvSpPr>
          <p:cNvPr id="6" name="Shape 4"/>
          <p:cNvSpPr/>
          <p:nvPr/>
        </p:nvSpPr>
        <p:spPr>
          <a:xfrm>
            <a:off x="9692640" y="914400"/>
            <a:ext cx="0" cy="1097280"/>
          </a:xfrm>
          <a:prstGeom prst="line">
            <a:avLst/>
          </a:prstGeom>
          <a:noFill/>
          <a:ln w="12700">
            <a:solidFill>
              <a:srgbClr val="1E3A66"/>
            </a:solidFill>
            <a:prstDash val="solid"/>
          </a:ln>
        </p:spPr>
        <p:txBody>
          <a:bodyPr/>
          <a:lstStyle/>
          <a:p>
            <a:endParaRPr/>
          </a:p>
        </p:txBody>
      </p:sp>
      <p:sp>
        <p:nvSpPr>
          <p:cNvPr id="7" name="Shape 5"/>
          <p:cNvSpPr/>
          <p:nvPr/>
        </p:nvSpPr>
        <p:spPr>
          <a:xfrm>
            <a:off x="10607040" y="1463040"/>
            <a:ext cx="731520" cy="0"/>
          </a:xfrm>
          <a:prstGeom prst="line">
            <a:avLst/>
          </a:prstGeom>
          <a:noFill/>
          <a:ln w="12700">
            <a:solidFill>
              <a:srgbClr val="1E3A66"/>
            </a:solidFill>
            <a:prstDash val="solid"/>
          </a:ln>
        </p:spPr>
        <p:txBody>
          <a:bodyPr/>
          <a:lstStyle/>
          <a:p>
            <a:endParaRPr/>
          </a:p>
        </p:txBody>
      </p:sp>
      <p:sp>
        <p:nvSpPr>
          <p:cNvPr id="8" name="Shape 6"/>
          <p:cNvSpPr/>
          <p:nvPr/>
        </p:nvSpPr>
        <p:spPr>
          <a:xfrm>
            <a:off x="10607040" y="1463040"/>
            <a:ext cx="0" cy="822960"/>
          </a:xfrm>
          <a:prstGeom prst="line">
            <a:avLst/>
          </a:prstGeom>
          <a:noFill/>
          <a:ln w="12700">
            <a:solidFill>
              <a:srgbClr val="1E3A66"/>
            </a:solidFill>
            <a:prstDash val="solid"/>
          </a:ln>
        </p:spPr>
        <p:txBody>
          <a:bodyPr/>
          <a:lstStyle/>
          <a:p>
            <a:endParaRPr/>
          </a:p>
        </p:txBody>
      </p:sp>
      <p:sp>
        <p:nvSpPr>
          <p:cNvPr id="9" name="Shape 7"/>
          <p:cNvSpPr/>
          <p:nvPr/>
        </p:nvSpPr>
        <p:spPr>
          <a:xfrm>
            <a:off x="10607040" y="1463040"/>
            <a:ext cx="914400" cy="914400"/>
          </a:xfrm>
          <a:prstGeom prst="line">
            <a:avLst/>
          </a:prstGeom>
          <a:noFill/>
          <a:ln w="12700">
            <a:solidFill>
              <a:srgbClr val="1E3A66"/>
            </a:solidFill>
            <a:prstDash val="solid"/>
          </a:ln>
        </p:spPr>
        <p:txBody>
          <a:bodyPr/>
          <a:lstStyle/>
          <a:p>
            <a:endParaRPr/>
          </a:p>
        </p:txBody>
      </p:sp>
      <p:sp>
        <p:nvSpPr>
          <p:cNvPr id="10" name="Shape 8"/>
          <p:cNvSpPr/>
          <p:nvPr/>
        </p:nvSpPr>
        <p:spPr>
          <a:xfrm>
            <a:off x="10607040" y="1463040"/>
            <a:ext cx="0" cy="548640"/>
          </a:xfrm>
          <a:prstGeom prst="line">
            <a:avLst/>
          </a:prstGeom>
          <a:noFill/>
          <a:ln w="12700">
            <a:solidFill>
              <a:srgbClr val="1E3A66"/>
            </a:solidFill>
            <a:prstDash val="solid"/>
          </a:ln>
        </p:spPr>
        <p:txBody>
          <a:bodyPr/>
          <a:lstStyle/>
          <a:p>
            <a:endParaRPr/>
          </a:p>
        </p:txBody>
      </p:sp>
      <p:sp>
        <p:nvSpPr>
          <p:cNvPr id="11" name="Shape 9"/>
          <p:cNvSpPr/>
          <p:nvPr/>
        </p:nvSpPr>
        <p:spPr>
          <a:xfrm>
            <a:off x="11338560" y="822960"/>
            <a:ext cx="0" cy="1463040"/>
          </a:xfrm>
          <a:prstGeom prst="line">
            <a:avLst/>
          </a:prstGeom>
          <a:noFill/>
          <a:ln w="12700">
            <a:solidFill>
              <a:srgbClr val="1E3A66"/>
            </a:solidFill>
            <a:prstDash val="solid"/>
          </a:ln>
        </p:spPr>
        <p:txBody>
          <a:bodyPr/>
          <a:lstStyle/>
          <a:p>
            <a:endParaRPr/>
          </a:p>
        </p:txBody>
      </p:sp>
      <p:sp>
        <p:nvSpPr>
          <p:cNvPr id="12" name="Shape 10"/>
          <p:cNvSpPr/>
          <p:nvPr/>
        </p:nvSpPr>
        <p:spPr>
          <a:xfrm>
            <a:off x="11338560" y="822960"/>
            <a:ext cx="182880" cy="1554480"/>
          </a:xfrm>
          <a:prstGeom prst="line">
            <a:avLst/>
          </a:prstGeom>
          <a:noFill/>
          <a:ln w="12700">
            <a:solidFill>
              <a:srgbClr val="1E3A66"/>
            </a:solidFill>
            <a:prstDash val="solid"/>
          </a:ln>
        </p:spPr>
        <p:txBody>
          <a:bodyPr/>
          <a:lstStyle/>
          <a:p>
            <a:endParaRPr/>
          </a:p>
        </p:txBody>
      </p:sp>
      <p:sp>
        <p:nvSpPr>
          <p:cNvPr id="13" name="Shape 11"/>
          <p:cNvSpPr/>
          <p:nvPr/>
        </p:nvSpPr>
        <p:spPr>
          <a:xfrm>
            <a:off x="11338560" y="822960"/>
            <a:ext cx="0" cy="1188720"/>
          </a:xfrm>
          <a:prstGeom prst="line">
            <a:avLst/>
          </a:prstGeom>
          <a:noFill/>
          <a:ln w="12700">
            <a:solidFill>
              <a:srgbClr val="1E3A66"/>
            </a:solidFill>
            <a:prstDash val="solid"/>
          </a:ln>
        </p:spPr>
        <p:txBody>
          <a:bodyPr/>
          <a:lstStyle/>
          <a:p>
            <a:endParaRPr/>
          </a:p>
        </p:txBody>
      </p:sp>
      <p:sp>
        <p:nvSpPr>
          <p:cNvPr id="14" name="Shape 12"/>
          <p:cNvSpPr/>
          <p:nvPr/>
        </p:nvSpPr>
        <p:spPr>
          <a:xfrm>
            <a:off x="10241280" y="2286000"/>
            <a:ext cx="1280160" cy="91440"/>
          </a:xfrm>
          <a:prstGeom prst="line">
            <a:avLst/>
          </a:prstGeom>
          <a:noFill/>
          <a:ln w="12700">
            <a:solidFill>
              <a:srgbClr val="1E3A66"/>
            </a:solidFill>
            <a:prstDash val="solid"/>
          </a:ln>
        </p:spPr>
        <p:txBody>
          <a:bodyPr/>
          <a:lstStyle/>
          <a:p>
            <a:endParaRPr/>
          </a:p>
        </p:txBody>
      </p:sp>
      <p:sp>
        <p:nvSpPr>
          <p:cNvPr id="15" name="Shape 13"/>
          <p:cNvSpPr/>
          <p:nvPr/>
        </p:nvSpPr>
        <p:spPr>
          <a:xfrm>
            <a:off x="10241280" y="2286000"/>
            <a:ext cx="0" cy="0"/>
          </a:xfrm>
          <a:prstGeom prst="line">
            <a:avLst/>
          </a:prstGeom>
          <a:noFill/>
          <a:ln w="12700">
            <a:solidFill>
              <a:srgbClr val="1E3A66"/>
            </a:solidFill>
            <a:prstDash val="solid"/>
          </a:ln>
        </p:spPr>
        <p:txBody>
          <a:bodyPr/>
          <a:lstStyle/>
          <a:p>
            <a:endParaRPr/>
          </a:p>
        </p:txBody>
      </p:sp>
      <p:sp>
        <p:nvSpPr>
          <p:cNvPr id="16" name="Shape 14"/>
          <p:cNvSpPr/>
          <p:nvPr/>
        </p:nvSpPr>
        <p:spPr>
          <a:xfrm>
            <a:off x="11521440" y="2377440"/>
            <a:ext cx="0" cy="0"/>
          </a:xfrm>
          <a:prstGeom prst="line">
            <a:avLst/>
          </a:prstGeom>
          <a:noFill/>
          <a:ln w="12700">
            <a:solidFill>
              <a:srgbClr val="1E3A66"/>
            </a:solidFill>
            <a:prstDash val="solid"/>
          </a:ln>
        </p:spPr>
        <p:txBody>
          <a:bodyPr/>
          <a:lstStyle/>
          <a:p>
            <a:endParaRPr/>
          </a:p>
        </p:txBody>
      </p:sp>
      <p:sp>
        <p:nvSpPr>
          <p:cNvPr id="17" name="Shape 15"/>
          <p:cNvSpPr/>
          <p:nvPr/>
        </p:nvSpPr>
        <p:spPr>
          <a:xfrm>
            <a:off x="9637776" y="859536"/>
            <a:ext cx="109728" cy="109728"/>
          </a:xfrm>
          <a:prstGeom prst="ellipse">
            <a:avLst/>
          </a:prstGeom>
          <a:solidFill>
            <a:srgbClr val="00B4D8"/>
          </a:solidFill>
          <a:ln/>
        </p:spPr>
        <p:txBody>
          <a:bodyPr/>
          <a:lstStyle/>
          <a:p>
            <a:endParaRPr/>
          </a:p>
        </p:txBody>
      </p:sp>
      <p:sp>
        <p:nvSpPr>
          <p:cNvPr id="18" name="Shape 16"/>
          <p:cNvSpPr/>
          <p:nvPr/>
        </p:nvSpPr>
        <p:spPr>
          <a:xfrm>
            <a:off x="10552176" y="1408176"/>
            <a:ext cx="109728" cy="109728"/>
          </a:xfrm>
          <a:prstGeom prst="ellipse">
            <a:avLst/>
          </a:prstGeom>
          <a:solidFill>
            <a:srgbClr val="00B4D8"/>
          </a:solidFill>
          <a:ln/>
        </p:spPr>
        <p:txBody>
          <a:bodyPr/>
          <a:lstStyle/>
          <a:p>
            <a:endParaRPr/>
          </a:p>
        </p:txBody>
      </p:sp>
      <p:sp>
        <p:nvSpPr>
          <p:cNvPr id="19" name="Shape 17"/>
          <p:cNvSpPr/>
          <p:nvPr/>
        </p:nvSpPr>
        <p:spPr>
          <a:xfrm>
            <a:off x="11283696" y="768096"/>
            <a:ext cx="109728" cy="109728"/>
          </a:xfrm>
          <a:prstGeom prst="ellipse">
            <a:avLst/>
          </a:prstGeom>
          <a:solidFill>
            <a:srgbClr val="00B4D8"/>
          </a:solidFill>
          <a:ln/>
        </p:spPr>
        <p:txBody>
          <a:bodyPr/>
          <a:lstStyle/>
          <a:p>
            <a:endParaRPr/>
          </a:p>
        </p:txBody>
      </p:sp>
      <p:sp>
        <p:nvSpPr>
          <p:cNvPr id="20" name="Shape 18"/>
          <p:cNvSpPr/>
          <p:nvPr/>
        </p:nvSpPr>
        <p:spPr>
          <a:xfrm>
            <a:off x="10186416" y="2231136"/>
            <a:ext cx="109728" cy="109728"/>
          </a:xfrm>
          <a:prstGeom prst="ellipse">
            <a:avLst/>
          </a:prstGeom>
          <a:solidFill>
            <a:srgbClr val="00B4D8"/>
          </a:solidFill>
          <a:ln/>
        </p:spPr>
        <p:txBody>
          <a:bodyPr/>
          <a:lstStyle/>
          <a:p>
            <a:endParaRPr/>
          </a:p>
        </p:txBody>
      </p:sp>
      <p:sp>
        <p:nvSpPr>
          <p:cNvPr id="21" name="Shape 19"/>
          <p:cNvSpPr/>
          <p:nvPr/>
        </p:nvSpPr>
        <p:spPr>
          <a:xfrm>
            <a:off x="11466576" y="2322576"/>
            <a:ext cx="109728" cy="109728"/>
          </a:xfrm>
          <a:prstGeom prst="ellipse">
            <a:avLst/>
          </a:prstGeom>
          <a:solidFill>
            <a:srgbClr val="00B4D8"/>
          </a:solidFill>
          <a:ln/>
        </p:spPr>
        <p:txBody>
          <a:bodyPr/>
          <a:lstStyle/>
          <a:p>
            <a:endParaRPr/>
          </a:p>
        </p:txBody>
      </p:sp>
      <p:sp>
        <p:nvSpPr>
          <p:cNvPr id="22" name="Shape 20"/>
          <p:cNvSpPr/>
          <p:nvPr/>
        </p:nvSpPr>
        <p:spPr>
          <a:xfrm>
            <a:off x="9272016" y="1956816"/>
            <a:ext cx="109728" cy="109728"/>
          </a:xfrm>
          <a:prstGeom prst="ellipse">
            <a:avLst/>
          </a:prstGeom>
          <a:solidFill>
            <a:srgbClr val="00B4D8"/>
          </a:solidFill>
          <a:ln/>
        </p:spPr>
        <p:txBody>
          <a:bodyPr/>
          <a:lstStyle/>
          <a:p>
            <a:endParaRPr/>
          </a:p>
        </p:txBody>
      </p:sp>
      <p:sp>
        <p:nvSpPr>
          <p:cNvPr id="23" name="Text 21"/>
          <p:cNvSpPr/>
          <p:nvPr/>
        </p:nvSpPr>
        <p:spPr>
          <a:xfrm>
            <a:off x="822960" y="2148840"/>
            <a:ext cx="5486400" cy="365760"/>
          </a:xfrm>
          <a:prstGeom prst="rect">
            <a:avLst/>
          </a:prstGeom>
          <a:noFill/>
          <a:ln/>
        </p:spPr>
        <p:txBody>
          <a:bodyPr wrap="square" lIns="0" tIns="0" rIns="0" bIns="0" rtlCol="0" anchor="ctr"/>
          <a:lstStyle/>
          <a:p>
            <a:pPr marL="0" indent="0">
              <a:buNone/>
            </a:pPr>
            <a:r>
              <a:rPr lang="en-US" sz="1600" b="1" kern="0" spc="300" dirty="0">
                <a:solidFill>
                  <a:srgbClr val="00B4D8"/>
                </a:solidFill>
                <a:latin typeface="Calibri" pitchFamily="34" charset="0"/>
                <a:ea typeface="Calibri" pitchFamily="34" charset="-122"/>
                <a:cs typeface="Calibri" pitchFamily="34" charset="-120"/>
              </a:rPr>
              <a:t>TOPIC 4</a:t>
            </a:r>
            <a:endParaRPr lang="en-US" sz="1600" dirty="0"/>
          </a:p>
        </p:txBody>
      </p:sp>
      <p:sp>
        <p:nvSpPr>
          <p:cNvPr id="24" name="Text 22"/>
          <p:cNvSpPr/>
          <p:nvPr/>
        </p:nvSpPr>
        <p:spPr>
          <a:xfrm>
            <a:off x="777240" y="2514600"/>
            <a:ext cx="9601200" cy="1463040"/>
          </a:xfrm>
          <a:prstGeom prst="rect">
            <a:avLst/>
          </a:prstGeom>
          <a:noFill/>
          <a:ln/>
        </p:spPr>
        <p:txBody>
          <a:bodyPr wrap="square" lIns="0" tIns="0" rIns="0" bIns="0" rtlCol="0" anchor="t"/>
          <a:lstStyle/>
          <a:p>
            <a:pPr marL="0" indent="0">
              <a:buNone/>
            </a:pPr>
            <a:r>
              <a:rPr lang="en-US" sz="4000" b="1" dirty="0">
                <a:solidFill>
                  <a:srgbClr val="FFFFFF"/>
                </a:solidFill>
                <a:latin typeface="Bookman Old Style" pitchFamily="34" charset="0"/>
                <a:ea typeface="Bookman Old Style" pitchFamily="34" charset="-122"/>
                <a:cs typeface="Bookman Old Style" pitchFamily="34" charset="-120"/>
              </a:rPr>
              <a:t>Multiplexing &amp; Demultiplexing</a:t>
            </a:r>
            <a:endParaRPr lang="en-US" sz="4000" dirty="0"/>
          </a:p>
        </p:txBody>
      </p:sp>
      <p:sp>
        <p:nvSpPr>
          <p:cNvPr id="25" name="Text 23"/>
          <p:cNvSpPr/>
          <p:nvPr/>
        </p:nvSpPr>
        <p:spPr>
          <a:xfrm>
            <a:off x="822960" y="3794760"/>
            <a:ext cx="8686800" cy="822960"/>
          </a:xfrm>
          <a:prstGeom prst="rect">
            <a:avLst/>
          </a:prstGeom>
          <a:noFill/>
          <a:ln/>
        </p:spPr>
        <p:txBody>
          <a:bodyPr wrap="square" lIns="0" tIns="0" rIns="0" bIns="0" rtlCol="0" anchor="t"/>
          <a:lstStyle/>
          <a:p>
            <a:pPr marL="0" indent="0">
              <a:buNone/>
            </a:pPr>
            <a:r>
              <a:rPr lang="en-US" sz="1600" dirty="0">
                <a:solidFill>
                  <a:srgbClr val="C9D8EC"/>
                </a:solidFill>
                <a:latin typeface="Calibri" pitchFamily="34" charset="0"/>
                <a:ea typeface="Calibri" pitchFamily="34" charset="-122"/>
                <a:cs typeface="Calibri" pitchFamily="34" charset="-120"/>
              </a:rPr>
              <a:t>Sharing one channel among many flows, and routing each message back to the right one.</a:t>
            </a:r>
            <a:endParaRPr lang="en-US" sz="1600" dirty="0"/>
          </a:p>
        </p:txBody>
      </p:sp>
      <p:sp>
        <p:nvSpPr>
          <p:cNvPr id="31" name="Text 27"/>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9FB3CC"/>
                </a:solidFill>
                <a:latin typeface="Calibri" pitchFamily="34" charset="0"/>
                <a:ea typeface="Calibri" pitchFamily="34" charset="-122"/>
                <a:cs typeface="Calibri" pitchFamily="34" charset="-120"/>
              </a:rPr>
              <a:t>TOPIC 4</a:t>
            </a:r>
            <a:endParaRPr lang="en-US" sz="1000" dirty="0"/>
          </a:p>
        </p:txBody>
      </p:sp>
      <p:sp>
        <p:nvSpPr>
          <p:cNvPr id="32" name="TextBox 31"/>
          <p:cNvSpPr txBox="1"/>
          <p:nvPr/>
        </p:nvSpPr>
        <p:spPr>
          <a:xfrm>
            <a:off x="11792000" y="6638000"/>
            <a:ext cx="200000" cy="100000"/>
          </a:xfrm>
          <a:prstGeom prst="rect">
            <a:avLst/>
          </a:prstGeom>
          <a:noFill/>
        </p:spPr>
        <p:txBody>
          <a:bodyPr wrap="none">
            <a:spAutoFit/>
          </a:bodyPr>
          <a:lstStyle/>
          <a:p>
            <a:pPr>
              <a:defRPr sz="1000"/>
            </a:pPr>
            <a:r>
              <a:t>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39624"/>
            <a:ext cx="9144000" cy="274320"/>
          </a:xfrm>
          <a:prstGeom prst="rect">
            <a:avLst/>
          </a:prstGeom>
          <a:noFill/>
          <a:ln/>
        </p:spPr>
        <p:txBody>
          <a:bodyPr wrap="square" lIns="0" tIns="0" rIns="0" bIns="0" rtlCol="0" anchor="ctr"/>
          <a:lstStyle/>
          <a:p>
            <a:pPr marL="0" indent="0">
              <a:buNone/>
            </a:pPr>
            <a:r>
              <a:rPr lang="en-US" sz="1200" b="1" kern="0" spc="200" dirty="0">
                <a:solidFill>
                  <a:srgbClr val="0091AD"/>
                </a:solidFill>
                <a:latin typeface="Calibri" pitchFamily="34" charset="0"/>
                <a:ea typeface="Calibri" pitchFamily="34" charset="-122"/>
                <a:cs typeface="Calibri" pitchFamily="34" charset="-120"/>
              </a:rPr>
              <a:t>TOPIC 4 · MULTIPLEXING &amp; DEMULTIPLEXING</a:t>
            </a:r>
            <a:endParaRPr lang="en-US" sz="1200" dirty="0"/>
          </a:p>
        </p:txBody>
      </p:sp>
      <p:sp>
        <p:nvSpPr>
          <p:cNvPr id="3" name="Text 1"/>
          <p:cNvSpPr/>
          <p:nvPr/>
        </p:nvSpPr>
        <p:spPr>
          <a:xfrm>
            <a:off x="914400" y="350520"/>
            <a:ext cx="10424160" cy="822960"/>
          </a:xfrm>
          <a:prstGeom prst="rect">
            <a:avLst/>
          </a:prstGeom>
          <a:noFill/>
          <a:ln/>
        </p:spPr>
        <p:txBody>
          <a:bodyPr wrap="square" lIns="0" tIns="0" rIns="0" bIns="0" rtlCol="0" anchor="t"/>
          <a:lstStyle/>
          <a:p>
            <a:pPr marL="0" indent="0">
              <a:buNone/>
            </a:pPr>
            <a:r>
              <a:rPr lang="en-US" sz="4000" b="1" dirty="0">
                <a:solidFill>
                  <a:srgbClr val="13315C"/>
                </a:solidFill>
                <a:latin typeface="Bookman Old Style" pitchFamily="34" charset="0"/>
                <a:ea typeface="Bookman Old Style" pitchFamily="34" charset="-122"/>
                <a:cs typeface="Bookman Old Style" pitchFamily="34" charset="-120"/>
              </a:rPr>
              <a:t>What Is Multiplexing?</a:t>
            </a:r>
            <a:endParaRPr lang="en-US" sz="4000" dirty="0"/>
          </a:p>
        </p:txBody>
      </p:sp>
      <p:sp>
        <p:nvSpPr>
          <p:cNvPr id="6" name="Text 3"/>
          <p:cNvSpPr/>
          <p:nvPr/>
        </p:nvSpPr>
        <p:spPr>
          <a:xfrm>
            <a:off x="365760" y="1074420"/>
            <a:ext cx="5760720" cy="4297680"/>
          </a:xfrm>
          <a:prstGeom prst="rect">
            <a:avLst/>
          </a:prstGeom>
          <a:noFill/>
          <a:ln/>
        </p:spPr>
        <p:txBody>
          <a:bodyPr wrap="square" lIns="0" tIns="0" rIns="0" bIns="0" rtlCol="0" anchor="t"/>
          <a:lstStyle/>
          <a:p>
            <a:pPr marL="342900" indent="-342900">
              <a:lnSpc>
                <a:spcPct val="108000"/>
              </a:lnSpc>
              <a:spcAft>
                <a:spcPts val="1200"/>
              </a:spcAft>
              <a:buSzPct val="100000"/>
              <a:buChar char="●"/>
            </a:pPr>
            <a:r>
              <a:rPr lang="en-US" sz="2400" dirty="0">
                <a:solidFill>
                  <a:srgbClr val="13315C"/>
                </a:solidFill>
                <a:latin typeface="Calibri" pitchFamily="34" charset="0"/>
                <a:ea typeface="Calibri" pitchFamily="34" charset="-122"/>
                <a:cs typeface="Calibri" pitchFamily="34" charset="-120"/>
              </a:rPr>
              <a:t>Packet switching's fundamental idea is to multiplex multiple flows of data over a single physical link.</a:t>
            </a:r>
            <a:endParaRPr lang="en-US" sz="2400" dirty="0"/>
          </a:p>
          <a:p>
            <a:pPr marL="342900" indent="-342900">
              <a:lnSpc>
                <a:spcPct val="108000"/>
              </a:lnSpc>
              <a:spcAft>
                <a:spcPts val="1200"/>
              </a:spcAft>
              <a:buSzPct val="100000"/>
              <a:buChar char="●"/>
            </a:pPr>
            <a:r>
              <a:rPr lang="en-US" sz="2400" dirty="0">
                <a:solidFill>
                  <a:srgbClr val="13315C"/>
                </a:solidFill>
                <a:latin typeface="Calibri" pitchFamily="34" charset="0"/>
                <a:ea typeface="Calibri" pitchFamily="34" charset="-122"/>
                <a:cs typeface="Calibri" pitchFamily="34" charset="-120"/>
              </a:rPr>
              <a:t>The same idea applies up and down the protocol graph, not just at switching nodes.</a:t>
            </a:r>
            <a:endParaRPr lang="en-US" sz="2400" dirty="0"/>
          </a:p>
          <a:p>
            <a:pPr marL="342900" indent="-342900">
              <a:lnSpc>
                <a:spcPct val="108000"/>
              </a:lnSpc>
              <a:spcAft>
                <a:spcPts val="1200"/>
              </a:spcAft>
              <a:buSzPct val="100000"/>
              <a:buChar char="●"/>
            </a:pPr>
            <a:r>
              <a:rPr lang="en-US" sz="2400" dirty="0">
                <a:solidFill>
                  <a:srgbClr val="13315C"/>
                </a:solidFill>
                <a:latin typeface="Calibri" pitchFamily="34" charset="0"/>
                <a:ea typeface="Calibri" pitchFamily="34" charset="-122"/>
                <a:cs typeface="Calibri" pitchFamily="34" charset="-120"/>
              </a:rPr>
              <a:t>Example: RRP can implement one logical channel, with </a:t>
            </a:r>
            <a:r>
              <a:rPr lang="en-US" sz="2800" dirty="0">
                <a:solidFill>
                  <a:srgbClr val="13315C"/>
                </a:solidFill>
                <a:latin typeface="Calibri" pitchFamily="34" charset="0"/>
                <a:ea typeface="Calibri" pitchFamily="34" charset="-122"/>
                <a:cs typeface="Calibri" pitchFamily="34" charset="-120"/>
              </a:rPr>
              <a:t>messages</a:t>
            </a:r>
            <a:r>
              <a:rPr lang="en-US" sz="2400" dirty="0">
                <a:solidFill>
                  <a:srgbClr val="13315C"/>
                </a:solidFill>
                <a:latin typeface="Calibri" pitchFamily="34" charset="0"/>
                <a:ea typeface="Calibri" pitchFamily="34" charset="-122"/>
                <a:cs typeface="Calibri" pitchFamily="34" charset="-120"/>
              </a:rPr>
              <a:t> from two different applications multiplexed over it at the source host.</a:t>
            </a:r>
            <a:endParaRPr lang="en-US" sz="2400" dirty="0"/>
          </a:p>
          <a:p>
            <a:pPr marL="342900" indent="-342900">
              <a:lnSpc>
                <a:spcPct val="108000"/>
              </a:lnSpc>
              <a:spcAft>
                <a:spcPts val="1200"/>
              </a:spcAft>
              <a:buSzPct val="100000"/>
              <a:buChar char="●"/>
            </a:pPr>
            <a:r>
              <a:rPr lang="en-US" sz="2400" dirty="0">
                <a:solidFill>
                  <a:srgbClr val="13315C"/>
                </a:solidFill>
                <a:latin typeface="Calibri" pitchFamily="34" charset="0"/>
                <a:ea typeface="Calibri" pitchFamily="34" charset="-122"/>
                <a:cs typeface="Calibri" pitchFamily="34" charset="-120"/>
              </a:rPr>
              <a:t>At the destination host, those combined messages must then be demultiplexed back to the correct application.</a:t>
            </a:r>
            <a:endParaRPr lang="en-US" sz="2400" dirty="0"/>
          </a:p>
        </p:txBody>
      </p:sp>
      <p:sp>
        <p:nvSpPr>
          <p:cNvPr id="7" name="Shape 4"/>
          <p:cNvSpPr/>
          <p:nvPr/>
        </p:nvSpPr>
        <p:spPr>
          <a:xfrm>
            <a:off x="6766560" y="1920240"/>
            <a:ext cx="2103120" cy="548640"/>
          </a:xfrm>
          <a:prstGeom prst="roundRect">
            <a:avLst>
              <a:gd name="adj" fmla="val 6667"/>
            </a:avLst>
          </a:prstGeom>
          <a:solidFill>
            <a:srgbClr val="00B4D8"/>
          </a:solidFill>
          <a:ln w="12700">
            <a:solidFill>
              <a:srgbClr val="D8E2ED"/>
            </a:solidFill>
            <a:prstDash val="solid"/>
          </a:ln>
        </p:spPr>
        <p:txBody>
          <a:bodyPr/>
          <a:lstStyle/>
          <a:p>
            <a:endParaRPr/>
          </a:p>
        </p:txBody>
      </p:sp>
      <p:sp>
        <p:nvSpPr>
          <p:cNvPr id="8" name="Text 5"/>
          <p:cNvSpPr/>
          <p:nvPr/>
        </p:nvSpPr>
        <p:spPr>
          <a:xfrm>
            <a:off x="6766560" y="1920240"/>
            <a:ext cx="210312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App A</a:t>
            </a:r>
            <a:endParaRPr lang="en-US" sz="2000" dirty="0"/>
          </a:p>
        </p:txBody>
      </p:sp>
      <p:sp>
        <p:nvSpPr>
          <p:cNvPr id="9" name="Shape 6"/>
          <p:cNvSpPr/>
          <p:nvPr/>
        </p:nvSpPr>
        <p:spPr>
          <a:xfrm>
            <a:off x="9075420" y="1920240"/>
            <a:ext cx="2103120" cy="548640"/>
          </a:xfrm>
          <a:prstGeom prst="roundRect">
            <a:avLst>
              <a:gd name="adj" fmla="val 6667"/>
            </a:avLst>
          </a:prstGeom>
          <a:solidFill>
            <a:srgbClr val="00B4D8"/>
          </a:solidFill>
          <a:ln w="12700">
            <a:solidFill>
              <a:srgbClr val="D8E2ED"/>
            </a:solidFill>
            <a:prstDash val="solid"/>
          </a:ln>
        </p:spPr>
        <p:txBody>
          <a:bodyPr/>
          <a:lstStyle/>
          <a:p>
            <a:endParaRPr/>
          </a:p>
        </p:txBody>
      </p:sp>
      <p:sp>
        <p:nvSpPr>
          <p:cNvPr id="10" name="Text 7"/>
          <p:cNvSpPr/>
          <p:nvPr/>
        </p:nvSpPr>
        <p:spPr>
          <a:xfrm>
            <a:off x="9144000" y="1920240"/>
            <a:ext cx="210312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App B</a:t>
            </a:r>
            <a:endParaRPr lang="en-US" sz="2000" dirty="0"/>
          </a:p>
        </p:txBody>
      </p:sp>
      <p:sp>
        <p:nvSpPr>
          <p:cNvPr id="11" name="Shape 8"/>
          <p:cNvSpPr/>
          <p:nvPr/>
        </p:nvSpPr>
        <p:spPr>
          <a:xfrm>
            <a:off x="7886700" y="2468880"/>
            <a:ext cx="1120140" cy="457200"/>
          </a:xfrm>
          <a:prstGeom prst="line">
            <a:avLst/>
          </a:prstGeom>
          <a:noFill/>
          <a:ln w="19050">
            <a:solidFill>
              <a:srgbClr val="5B6B82"/>
            </a:solidFill>
            <a:prstDash val="solid"/>
          </a:ln>
        </p:spPr>
        <p:txBody>
          <a:bodyPr/>
          <a:lstStyle/>
          <a:p>
            <a:endParaRPr/>
          </a:p>
        </p:txBody>
      </p:sp>
      <p:sp>
        <p:nvSpPr>
          <p:cNvPr id="12" name="Shape 9"/>
          <p:cNvSpPr/>
          <p:nvPr/>
        </p:nvSpPr>
        <p:spPr>
          <a:xfrm flipH="1">
            <a:off x="9473184" y="2468880"/>
            <a:ext cx="877824" cy="530352"/>
          </a:xfrm>
          <a:prstGeom prst="line">
            <a:avLst/>
          </a:prstGeom>
          <a:noFill/>
          <a:ln w="19050">
            <a:solidFill>
              <a:srgbClr val="5B6B82"/>
            </a:solidFill>
            <a:prstDash val="solid"/>
          </a:ln>
        </p:spPr>
        <p:txBody>
          <a:bodyPr/>
          <a:lstStyle/>
          <a:p>
            <a:endParaRPr/>
          </a:p>
        </p:txBody>
      </p:sp>
      <p:sp>
        <p:nvSpPr>
          <p:cNvPr id="13" name="Shape 10"/>
          <p:cNvSpPr/>
          <p:nvPr/>
        </p:nvSpPr>
        <p:spPr>
          <a:xfrm>
            <a:off x="6766560" y="2926080"/>
            <a:ext cx="4480560" cy="594360"/>
          </a:xfrm>
          <a:prstGeom prst="roundRect">
            <a:avLst>
              <a:gd name="adj" fmla="val 6154"/>
            </a:avLst>
          </a:prstGeom>
          <a:solidFill>
            <a:srgbClr val="0B2545"/>
          </a:solidFill>
          <a:ln w="12700">
            <a:solidFill>
              <a:srgbClr val="D8E2ED"/>
            </a:solidFill>
            <a:prstDash val="solid"/>
          </a:ln>
        </p:spPr>
        <p:txBody>
          <a:bodyPr/>
          <a:lstStyle/>
          <a:p>
            <a:endParaRPr/>
          </a:p>
        </p:txBody>
      </p:sp>
      <p:sp>
        <p:nvSpPr>
          <p:cNvPr id="14" name="Text 11"/>
          <p:cNvSpPr/>
          <p:nvPr/>
        </p:nvSpPr>
        <p:spPr>
          <a:xfrm>
            <a:off x="6766560" y="2926080"/>
            <a:ext cx="4480560" cy="5943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RRP</a:t>
            </a:r>
            <a:r>
              <a:rPr lang="en-US" sz="1200" b="1" dirty="0">
                <a:solidFill>
                  <a:srgbClr val="FFFFFF"/>
                </a:solidFill>
                <a:latin typeface="Calibri" pitchFamily="34" charset="0"/>
                <a:ea typeface="Calibri" pitchFamily="34" charset="-122"/>
                <a:cs typeface="Calibri" pitchFamily="34" charset="-120"/>
              </a:rPr>
              <a:t> (</a:t>
            </a:r>
            <a:r>
              <a:rPr lang="en-US" b="1" dirty="0">
                <a:solidFill>
                  <a:srgbClr val="FFFFFF"/>
                </a:solidFill>
                <a:latin typeface="Calibri" pitchFamily="34" charset="0"/>
                <a:ea typeface="Calibri" pitchFamily="34" charset="-122"/>
                <a:cs typeface="Calibri" pitchFamily="34" charset="-120"/>
              </a:rPr>
              <a:t>multiplexed</a:t>
            </a:r>
            <a:r>
              <a:rPr lang="en-US" sz="1200" b="1" dirty="0">
                <a:solidFill>
                  <a:srgbClr val="FFFFFF"/>
                </a:solidFill>
                <a:latin typeface="Calibri" pitchFamily="34" charset="0"/>
                <a:ea typeface="Calibri" pitchFamily="34" charset="-122"/>
                <a:cs typeface="Calibri" pitchFamily="34" charset="-120"/>
              </a:rPr>
              <a:t> </a:t>
            </a:r>
            <a:r>
              <a:rPr lang="en-US" b="1" dirty="0">
                <a:solidFill>
                  <a:srgbClr val="FFFFFF"/>
                </a:solidFill>
                <a:latin typeface="Calibri" pitchFamily="34" charset="0"/>
                <a:ea typeface="Calibri" pitchFamily="34" charset="-122"/>
                <a:cs typeface="Calibri" pitchFamily="34" charset="-120"/>
              </a:rPr>
              <a:t>channel</a:t>
            </a: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5" name="Shape 12"/>
          <p:cNvSpPr/>
          <p:nvPr/>
        </p:nvSpPr>
        <p:spPr>
          <a:xfrm>
            <a:off x="9006840" y="3520440"/>
            <a:ext cx="0" cy="457200"/>
          </a:xfrm>
          <a:prstGeom prst="line">
            <a:avLst/>
          </a:prstGeom>
          <a:noFill/>
          <a:ln w="19050">
            <a:solidFill>
              <a:srgbClr val="5B6B82"/>
            </a:solidFill>
            <a:prstDash val="solid"/>
          </a:ln>
        </p:spPr>
        <p:txBody>
          <a:bodyPr/>
          <a:lstStyle/>
          <a:p>
            <a:endParaRPr/>
          </a:p>
        </p:txBody>
      </p:sp>
      <p:sp>
        <p:nvSpPr>
          <p:cNvPr id="16" name="Shape 13"/>
          <p:cNvSpPr/>
          <p:nvPr/>
        </p:nvSpPr>
        <p:spPr>
          <a:xfrm>
            <a:off x="6766560" y="3941064"/>
            <a:ext cx="4480560" cy="594360"/>
          </a:xfrm>
          <a:prstGeom prst="roundRect">
            <a:avLst>
              <a:gd name="adj" fmla="val 6154"/>
            </a:avLst>
          </a:prstGeom>
          <a:solidFill>
            <a:srgbClr val="0091AD"/>
          </a:solidFill>
          <a:ln w="12700">
            <a:solidFill>
              <a:srgbClr val="D8E2ED"/>
            </a:solidFill>
            <a:prstDash val="solid"/>
          </a:ln>
        </p:spPr>
        <p:txBody>
          <a:bodyPr/>
          <a:lstStyle/>
          <a:p>
            <a:endParaRPr/>
          </a:p>
        </p:txBody>
      </p:sp>
      <p:sp>
        <p:nvSpPr>
          <p:cNvPr id="17" name="Text 14"/>
          <p:cNvSpPr/>
          <p:nvPr/>
        </p:nvSpPr>
        <p:spPr>
          <a:xfrm>
            <a:off x="6766560" y="3977640"/>
            <a:ext cx="448056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Shared Link (HHP)</a:t>
            </a:r>
            <a:endParaRPr lang="en-US" sz="2000" dirty="0"/>
          </a:p>
        </p:txBody>
      </p:sp>
      <p:sp>
        <p:nvSpPr>
          <p:cNvPr id="18" name="Text 15"/>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TOPIC 4 · MULTIPLEXING &amp; DEMULTIPLEXING</a:t>
            </a:r>
            <a:endParaRPr lang="en-US" sz="1000" dirty="0"/>
          </a:p>
        </p:txBody>
      </p:sp>
      <p:sp>
        <p:nvSpPr>
          <p:cNvPr id="19" name="TextBox 18"/>
          <p:cNvSpPr txBox="1"/>
          <p:nvPr/>
        </p:nvSpPr>
        <p:spPr>
          <a:xfrm>
            <a:off x="11792000" y="6638000"/>
            <a:ext cx="200000" cy="100000"/>
          </a:xfrm>
          <a:prstGeom prst="rect">
            <a:avLst/>
          </a:prstGeom>
          <a:noFill/>
        </p:spPr>
        <p:txBody>
          <a:bodyPr wrap="none">
            <a:spAutoFit/>
          </a:bodyPr>
          <a:lstStyle/>
          <a:p>
            <a:pPr>
              <a:defRPr sz="1000"/>
            </a:pPr>
            <a:r>
              <a:t>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48640" y="45720"/>
            <a:ext cx="9144000" cy="274320"/>
          </a:xfrm>
          <a:prstGeom prst="rect">
            <a:avLst/>
          </a:prstGeom>
          <a:noFill/>
          <a:ln/>
        </p:spPr>
        <p:txBody>
          <a:bodyPr wrap="square" lIns="0" tIns="0" rIns="0" bIns="0" rtlCol="0" anchor="ctr"/>
          <a:lstStyle/>
          <a:p>
            <a:pPr marL="0" indent="0">
              <a:buNone/>
            </a:pPr>
            <a:r>
              <a:rPr lang="en-US" sz="1200" b="1" kern="0" spc="200" dirty="0">
                <a:solidFill>
                  <a:srgbClr val="0091AD"/>
                </a:solidFill>
                <a:latin typeface="Calibri" pitchFamily="34" charset="0"/>
                <a:ea typeface="Calibri" pitchFamily="34" charset="-122"/>
                <a:cs typeface="Calibri" pitchFamily="34" charset="-120"/>
              </a:rPr>
              <a:t>TOPIC 4 · MULTIPLEXING &amp; DEMULTIPLEXING</a:t>
            </a:r>
            <a:endParaRPr lang="en-US" sz="1200" dirty="0"/>
          </a:p>
        </p:txBody>
      </p:sp>
      <p:sp>
        <p:nvSpPr>
          <p:cNvPr id="3" name="Text 1"/>
          <p:cNvSpPr/>
          <p:nvPr/>
        </p:nvSpPr>
        <p:spPr>
          <a:xfrm>
            <a:off x="1051560" y="508951"/>
            <a:ext cx="10424160" cy="822960"/>
          </a:xfrm>
          <a:prstGeom prst="rect">
            <a:avLst/>
          </a:prstGeom>
          <a:noFill/>
          <a:ln/>
        </p:spPr>
        <p:txBody>
          <a:bodyPr wrap="square" lIns="0" tIns="0" rIns="0" bIns="0" rtlCol="0" anchor="t"/>
          <a:lstStyle/>
          <a:p>
            <a:pPr marL="0" indent="0">
              <a:buNone/>
            </a:pPr>
            <a:r>
              <a:rPr lang="en-US" sz="3600" b="1" dirty="0">
                <a:solidFill>
                  <a:srgbClr val="13315C"/>
                </a:solidFill>
                <a:latin typeface="Bookman Old Style" pitchFamily="34" charset="0"/>
                <a:ea typeface="Bookman Old Style" pitchFamily="34" charset="-122"/>
                <a:cs typeface="Bookman Old Style" pitchFamily="34" charset="-120"/>
              </a:rPr>
              <a:t>Demultiplexing and the Demux Key</a:t>
            </a:r>
            <a:endParaRPr lang="en-US" sz="3600" dirty="0"/>
          </a:p>
        </p:txBody>
      </p:sp>
      <p:sp>
        <p:nvSpPr>
          <p:cNvPr id="6" name="Text 3"/>
          <p:cNvSpPr/>
          <p:nvPr/>
        </p:nvSpPr>
        <p:spPr>
          <a:xfrm>
            <a:off x="548640" y="1365569"/>
            <a:ext cx="11064240" cy="4572000"/>
          </a:xfrm>
          <a:prstGeom prst="rect">
            <a:avLst/>
          </a:prstGeom>
          <a:noFill/>
          <a:ln/>
        </p:spPr>
        <p:txBody>
          <a:bodyPr wrap="square" lIns="0" tIns="0" rIns="0" bIns="0" rtlCol="0" anchor="t"/>
          <a:lstStyle/>
          <a:p>
            <a:pPr marL="342900" indent="-342900">
              <a:lnSpc>
                <a:spcPct val="108000"/>
              </a:lnSpc>
              <a:spcAft>
                <a:spcPts val="1200"/>
              </a:spcAft>
              <a:buSzPct val="100000"/>
              <a:buChar char="●"/>
            </a:pPr>
            <a:r>
              <a:rPr lang="en-US" sz="2400" b="1" dirty="0">
                <a:solidFill>
                  <a:srgbClr val="13315C"/>
                </a:solidFill>
                <a:latin typeface="Calibri" pitchFamily="34" charset="0"/>
                <a:ea typeface="Calibri" pitchFamily="34" charset="-122"/>
                <a:cs typeface="Calibri" pitchFamily="34" charset="-120"/>
              </a:rPr>
              <a:t>Demultiplexing key (demux key):</a:t>
            </a:r>
            <a:endParaRPr lang="en-US" sz="2400" dirty="0"/>
          </a:p>
          <a:p>
            <a:pPr marL="685800" lvl="1" indent="-342900">
              <a:lnSpc>
                <a:spcPct val="108000"/>
              </a:lnSpc>
              <a:spcAft>
                <a:spcPts val="600"/>
              </a:spcAft>
              <a:buSzPct val="100000"/>
              <a:buChar char="–"/>
            </a:pPr>
            <a:r>
              <a:rPr lang="en-US" sz="2000" dirty="0">
                <a:solidFill>
                  <a:srgbClr val="13315C"/>
                </a:solidFill>
                <a:latin typeface="Calibri" pitchFamily="34" charset="0"/>
                <a:ea typeface="Calibri" pitchFamily="34" charset="-122"/>
                <a:cs typeface="Calibri" pitchFamily="34" charset="-120"/>
              </a:rPr>
              <a:t>An identifier included in a protocol's header that records which application (or higher protocol) a message belongs to.</a:t>
            </a:r>
            <a:endParaRPr lang="en-US" sz="2400" dirty="0"/>
          </a:p>
          <a:p>
            <a:pPr marL="342900" indent="-342900">
              <a:lnSpc>
                <a:spcPct val="108000"/>
              </a:lnSpc>
              <a:spcAft>
                <a:spcPts val="1200"/>
              </a:spcAft>
              <a:buSzPct val="100000"/>
              <a:buChar char="●"/>
            </a:pPr>
            <a:r>
              <a:rPr lang="en-US" sz="2400" dirty="0">
                <a:solidFill>
                  <a:srgbClr val="13315C"/>
                </a:solidFill>
                <a:latin typeface="Calibri" pitchFamily="34" charset="0"/>
                <a:ea typeface="Calibri" pitchFamily="34" charset="-122"/>
                <a:cs typeface="Calibri" pitchFamily="34" charset="-120"/>
              </a:rPr>
              <a:t>At the source host, the protocol includes the correct demux key in its header when sending.</a:t>
            </a:r>
            <a:endParaRPr lang="en-US" sz="2400" dirty="0"/>
          </a:p>
          <a:p>
            <a:pPr marL="342900" indent="-342900">
              <a:lnSpc>
                <a:spcPct val="108000"/>
              </a:lnSpc>
              <a:spcAft>
                <a:spcPts val="1200"/>
              </a:spcAft>
              <a:buSzPct val="100000"/>
              <a:buChar char="●"/>
            </a:pPr>
            <a:r>
              <a:rPr lang="en-US" sz="2400" dirty="0">
                <a:solidFill>
                  <a:srgbClr val="13315C"/>
                </a:solidFill>
                <a:latin typeface="Calibri" pitchFamily="34" charset="0"/>
                <a:ea typeface="Calibri" pitchFamily="34" charset="-122"/>
                <a:cs typeface="Calibri" pitchFamily="34" charset="-120"/>
              </a:rPr>
              <a:t>At the destination host, the protocol strips its header, examines the demux key, and delivers the message to the correct application.</a:t>
            </a:r>
            <a:endParaRPr lang="en-US" sz="2400" dirty="0"/>
          </a:p>
          <a:p>
            <a:pPr marL="342900" indent="-342900">
              <a:lnSpc>
                <a:spcPct val="108000"/>
              </a:lnSpc>
              <a:spcAft>
                <a:spcPts val="1200"/>
              </a:spcAft>
              <a:buSzPct val="100000"/>
              <a:buChar char="●"/>
            </a:pPr>
            <a:r>
              <a:rPr lang="en-US" sz="2400" dirty="0">
                <a:solidFill>
                  <a:srgbClr val="13315C"/>
                </a:solidFill>
                <a:latin typeface="Calibri" pitchFamily="34" charset="0"/>
                <a:ea typeface="Calibri" pitchFamily="34" charset="-122"/>
                <a:cs typeface="Calibri" pitchFamily="34" charset="-120"/>
              </a:rPr>
              <a:t>Nearly every protocol supports multiplexing this way — e.g. HHP has its own demux key to decide whether to pass a message up to RRP or to MSP.</a:t>
            </a:r>
            <a:endParaRPr lang="en-US" sz="2400" dirty="0"/>
          </a:p>
          <a:p>
            <a:pPr marL="342900" indent="-342900">
              <a:lnSpc>
                <a:spcPct val="108000"/>
              </a:lnSpc>
              <a:spcAft>
                <a:spcPts val="1200"/>
              </a:spcAft>
              <a:buSzPct val="100000"/>
              <a:buChar char="●"/>
            </a:pPr>
            <a:r>
              <a:rPr lang="en-US" sz="2400" b="1" dirty="0">
                <a:solidFill>
                  <a:srgbClr val="13315C"/>
                </a:solidFill>
                <a:latin typeface="Calibri" pitchFamily="34" charset="0"/>
                <a:ea typeface="Calibri" pitchFamily="34" charset="-122"/>
                <a:cs typeface="Calibri" pitchFamily="34" charset="-120"/>
              </a:rPr>
              <a:t>Important nuance:</a:t>
            </a:r>
            <a:endParaRPr lang="en-US" sz="2400" dirty="0"/>
          </a:p>
          <a:p>
            <a:pPr marL="685800" lvl="1" indent="-342900">
              <a:lnSpc>
                <a:spcPct val="108000"/>
              </a:lnSpc>
              <a:spcAft>
                <a:spcPts val="600"/>
              </a:spcAft>
              <a:buSzPct val="100000"/>
              <a:buChar char="–"/>
            </a:pPr>
            <a:r>
              <a:rPr lang="en-US" sz="2000" dirty="0">
                <a:solidFill>
                  <a:srgbClr val="13315C"/>
                </a:solidFill>
                <a:latin typeface="Calibri" pitchFamily="34" charset="0"/>
                <a:ea typeface="Calibri" pitchFamily="34" charset="-122"/>
                <a:cs typeface="Calibri" pitchFamily="34" charset="-120"/>
              </a:rPr>
              <a:t>There is no universal demux key format — field size (8, 16, or 32 bits) and count (one key vs. a pair of keys) vary between protocols, even within one architecture.</a:t>
            </a:r>
            <a:endParaRPr lang="en-US" sz="2400" dirty="0"/>
          </a:p>
        </p:txBody>
      </p:sp>
      <p:sp>
        <p:nvSpPr>
          <p:cNvPr id="7" name="TextBox 6"/>
          <p:cNvSpPr txBox="1"/>
          <p:nvPr/>
        </p:nvSpPr>
        <p:spPr>
          <a:xfrm>
            <a:off x="11792000" y="6638000"/>
            <a:ext cx="200000" cy="100000"/>
          </a:xfrm>
          <a:prstGeom prst="rect">
            <a:avLst/>
          </a:prstGeom>
          <a:noFill/>
        </p:spPr>
        <p:txBody>
          <a:bodyPr wrap="none">
            <a:spAutoFit/>
          </a:bodyPr>
          <a:lstStyle/>
          <a:p>
            <a:pPr>
              <a:defRPr sz="1000"/>
            </a:pPr>
            <a:r>
              <a:t>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0091AD"/>
                </a:solidFill>
                <a:latin typeface="Calibri" pitchFamily="34" charset="0"/>
                <a:ea typeface="Calibri" pitchFamily="34" charset="-122"/>
                <a:cs typeface="Calibri" pitchFamily="34" charset="-120"/>
              </a:rPr>
              <a:t>TOPIC 4 · MULTIPLEXING &amp; DEMULTIPLEXING</a:t>
            </a:r>
            <a:endParaRPr lang="en-US" sz="1200" dirty="0"/>
          </a:p>
        </p:txBody>
      </p:sp>
      <p:sp>
        <p:nvSpPr>
          <p:cNvPr id="3" name="Text 1"/>
          <p:cNvSpPr/>
          <p:nvPr/>
        </p:nvSpPr>
        <p:spPr>
          <a:xfrm>
            <a:off x="548640" y="566928"/>
            <a:ext cx="10424160" cy="822960"/>
          </a:xfrm>
          <a:prstGeom prst="rect">
            <a:avLst/>
          </a:prstGeom>
          <a:noFill/>
          <a:ln/>
        </p:spPr>
        <p:txBody>
          <a:bodyPr wrap="square" lIns="0" tIns="0" rIns="0" bIns="0" rtlCol="0" anchor="t"/>
          <a:lstStyle/>
          <a:p>
            <a:pPr marL="0" indent="0">
              <a:buNone/>
            </a:pPr>
            <a:r>
              <a:rPr lang="en-US" sz="3000" b="1" dirty="0">
                <a:solidFill>
                  <a:srgbClr val="13315C"/>
                </a:solidFill>
                <a:latin typeface="Bookman Old Style" pitchFamily="34" charset="0"/>
                <a:ea typeface="Bookman Old Style" pitchFamily="34" charset="-122"/>
                <a:cs typeface="Bookman Old Style" pitchFamily="34" charset="-120"/>
              </a:rPr>
              <a:t>Worked Example: Two Protocols Over HHP</a:t>
            </a:r>
            <a:endParaRPr lang="en-US" sz="3000" dirty="0"/>
          </a:p>
        </p:txBody>
      </p:sp>
      <p:sp>
        <p:nvSpPr>
          <p:cNvPr id="6" name="Text 3"/>
          <p:cNvSpPr/>
          <p:nvPr/>
        </p:nvSpPr>
        <p:spPr>
          <a:xfrm>
            <a:off x="548640" y="1691640"/>
            <a:ext cx="11064240" cy="4389120"/>
          </a:xfrm>
          <a:prstGeom prst="rect">
            <a:avLst/>
          </a:prstGeom>
          <a:noFill/>
          <a:ln/>
        </p:spPr>
        <p:txBody>
          <a:bodyPr wrap="square" lIns="0" tIns="0" rIns="0" bIns="0" rtlCol="0" anchor="t"/>
          <a:lstStyle/>
          <a:p>
            <a:pPr marL="342900" indent="-342900">
              <a:lnSpc>
                <a:spcPct val="108000"/>
              </a:lnSpc>
              <a:spcAft>
                <a:spcPts val="1200"/>
              </a:spcAft>
              <a:buSzPct val="100000"/>
              <a:buChar char="●"/>
            </a:pPr>
            <a:r>
              <a:rPr lang="en-US" sz="2400" dirty="0">
                <a:solidFill>
                  <a:srgbClr val="13315C"/>
                </a:solidFill>
                <a:latin typeface="Calibri" pitchFamily="34" charset="0"/>
                <a:ea typeface="Calibri" pitchFamily="34" charset="-122"/>
                <a:cs typeface="Calibri" pitchFamily="34" charset="-120"/>
              </a:rPr>
              <a:t>HHP carries traffic for two higher-level protocols: RRP and MSP.</a:t>
            </a:r>
            <a:endParaRPr lang="en-US" sz="2400" dirty="0"/>
          </a:p>
          <a:p>
            <a:pPr marL="342900" indent="-342900">
              <a:lnSpc>
                <a:spcPct val="108000"/>
              </a:lnSpc>
              <a:spcAft>
                <a:spcPts val="1200"/>
              </a:spcAft>
              <a:buSzPct val="100000"/>
              <a:buChar char="●"/>
            </a:pPr>
            <a:r>
              <a:rPr lang="en-US" sz="2400" dirty="0">
                <a:solidFill>
                  <a:srgbClr val="13315C"/>
                </a:solidFill>
                <a:latin typeface="Calibri" pitchFamily="34" charset="0"/>
                <a:ea typeface="Calibri" pitchFamily="34" charset="-122"/>
                <a:cs typeface="Calibri" pitchFamily="34" charset="-120"/>
              </a:rPr>
              <a:t>Every message HHP delivers includes a demux key identifying whether it belongs to RRP or MSP.</a:t>
            </a:r>
            <a:endParaRPr lang="en-US" sz="2400" dirty="0"/>
          </a:p>
          <a:p>
            <a:pPr marL="342900" indent="-342900">
              <a:lnSpc>
                <a:spcPct val="108000"/>
              </a:lnSpc>
              <a:spcAft>
                <a:spcPts val="1200"/>
              </a:spcAft>
              <a:buSzPct val="100000"/>
              <a:buChar char="●"/>
            </a:pPr>
            <a:r>
              <a:rPr lang="en-US" sz="2400" dirty="0">
                <a:solidFill>
                  <a:srgbClr val="13315C"/>
                </a:solidFill>
                <a:latin typeface="Calibri" pitchFamily="34" charset="0"/>
                <a:ea typeface="Calibri" pitchFamily="34" charset="-122"/>
                <a:cs typeface="Calibri" pitchFamily="34" charset="-120"/>
              </a:rPr>
              <a:t>On arrival, HHP strips its own header, reads the demux key, and hands the message to the correct protocol module (RRP or MSP).</a:t>
            </a:r>
            <a:endParaRPr lang="en-US" sz="2400" dirty="0"/>
          </a:p>
          <a:p>
            <a:pPr marL="342900" indent="-342900">
              <a:lnSpc>
                <a:spcPct val="108000"/>
              </a:lnSpc>
              <a:spcAft>
                <a:spcPts val="1200"/>
              </a:spcAft>
              <a:buSzPct val="100000"/>
              <a:buChar char="●"/>
            </a:pPr>
            <a:r>
              <a:rPr lang="en-US" sz="2400" dirty="0">
                <a:solidFill>
                  <a:srgbClr val="13315C"/>
                </a:solidFill>
                <a:latin typeface="Calibri" pitchFamily="34" charset="0"/>
                <a:ea typeface="Calibri" pitchFamily="34" charset="-122"/>
                <a:cs typeface="Calibri" pitchFamily="34" charset="-120"/>
              </a:rPr>
              <a:t>That protocol then repeats the process one level up, using its own demux key to choose the correct destination application.</a:t>
            </a:r>
            <a:endParaRPr lang="en-US" sz="2400" dirty="0"/>
          </a:p>
          <a:p>
            <a:pPr marL="342900" indent="-342900">
              <a:lnSpc>
                <a:spcPct val="108000"/>
              </a:lnSpc>
              <a:spcAft>
                <a:spcPts val="1200"/>
              </a:spcAft>
              <a:buSzPct val="100000"/>
              <a:buChar char="●"/>
            </a:pPr>
            <a:r>
              <a:rPr lang="en-US" sz="2400" b="1" dirty="0">
                <a:solidFill>
                  <a:srgbClr val="13315C"/>
                </a:solidFill>
                <a:latin typeface="Calibri" pitchFamily="34" charset="0"/>
                <a:ea typeface="Calibri" pitchFamily="34" charset="-122"/>
                <a:cs typeface="Calibri" pitchFamily="34" charset="-120"/>
              </a:rPr>
              <a:t>This is exactly how a modern host uses a single network card to serve many simultaneous applications at once.</a:t>
            </a:r>
            <a:endParaRPr lang="en-US" sz="2400" dirty="0"/>
          </a:p>
        </p:txBody>
      </p:sp>
      <p:sp>
        <p:nvSpPr>
          <p:cNvPr id="7" name="Text 4"/>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TOPIC 4 · MULTIPLEXING &amp; DEMULTIPLEXING</a:t>
            </a:r>
            <a:endParaRPr lang="en-US" sz="1000" dirty="0"/>
          </a:p>
        </p:txBody>
      </p:sp>
      <p:sp>
        <p:nvSpPr>
          <p:cNvPr id="8" name="TextBox 7"/>
          <p:cNvSpPr txBox="1"/>
          <p:nvPr/>
        </p:nvSpPr>
        <p:spPr>
          <a:xfrm>
            <a:off x="11792000" y="6638000"/>
            <a:ext cx="200000" cy="100000"/>
          </a:xfrm>
          <a:prstGeom prst="rect">
            <a:avLst/>
          </a:prstGeom>
          <a:noFill/>
        </p:spPr>
        <p:txBody>
          <a:bodyPr wrap="none">
            <a:spAutoFit/>
          </a:bodyPr>
          <a:lstStyle/>
          <a:p>
            <a:pPr>
              <a:defRPr sz="1000"/>
            </a:pPr>
            <a:r>
              <a:t>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4" name="Text 1"/>
          <p:cNvSpPr/>
          <p:nvPr/>
        </p:nvSpPr>
        <p:spPr>
          <a:xfrm>
            <a:off x="1371600" y="457200"/>
            <a:ext cx="8229600" cy="320040"/>
          </a:xfrm>
          <a:prstGeom prst="rect">
            <a:avLst/>
          </a:prstGeom>
          <a:noFill/>
          <a:ln/>
        </p:spPr>
        <p:txBody>
          <a:bodyPr wrap="square" lIns="0" tIns="0" rIns="0" bIns="0" rtlCol="0" anchor="ctr"/>
          <a:lstStyle/>
          <a:p>
            <a:pPr marL="0" indent="0">
              <a:buNone/>
              <a:tabLst>
                <a:tab pos="268288" algn="l"/>
              </a:tabLst>
            </a:pPr>
            <a:r>
              <a:rPr lang="en-US" sz="2000" b="1" kern="0" spc="150" dirty="0">
                <a:solidFill>
                  <a:srgbClr val="E07A2C"/>
                </a:solidFill>
                <a:latin typeface="Calibri" pitchFamily="34" charset="0"/>
                <a:ea typeface="Calibri" pitchFamily="34" charset="-122"/>
                <a:cs typeface="Calibri" pitchFamily="34" charset="-120"/>
              </a:rPr>
              <a:t>BRAINSTORMING ACTIVITY</a:t>
            </a:r>
            <a:endParaRPr lang="en-US" sz="2000" dirty="0"/>
          </a:p>
        </p:txBody>
      </p:sp>
      <p:sp>
        <p:nvSpPr>
          <p:cNvPr id="5" name="Text 2"/>
          <p:cNvSpPr/>
          <p:nvPr/>
        </p:nvSpPr>
        <p:spPr>
          <a:xfrm>
            <a:off x="548640" y="868680"/>
            <a:ext cx="10789920" cy="777240"/>
          </a:xfrm>
          <a:prstGeom prst="rect">
            <a:avLst/>
          </a:prstGeom>
          <a:noFill/>
          <a:ln/>
        </p:spPr>
        <p:txBody>
          <a:bodyPr wrap="square" lIns="0" tIns="0" rIns="0" bIns="0" rtlCol="0" anchor="ctr"/>
          <a:lstStyle/>
          <a:p>
            <a:pPr marL="0" indent="0">
              <a:buNone/>
            </a:pPr>
            <a:r>
              <a:rPr lang="en-US" sz="2700" b="1" dirty="0">
                <a:solidFill>
                  <a:srgbClr val="13315C"/>
                </a:solidFill>
                <a:latin typeface="Bookman Old Style" pitchFamily="34" charset="0"/>
                <a:ea typeface="Bookman Old Style" pitchFamily="34" charset="-122"/>
                <a:cs typeface="Bookman Old Style" pitchFamily="34" charset="-120"/>
              </a:rPr>
              <a:t>Demux Key Detective</a:t>
            </a:r>
            <a:endParaRPr lang="en-US" sz="2700" dirty="0"/>
          </a:p>
        </p:txBody>
      </p:sp>
      <p:sp>
        <p:nvSpPr>
          <p:cNvPr id="6" name="Shape 3"/>
          <p:cNvSpPr/>
          <p:nvPr/>
        </p:nvSpPr>
        <p:spPr>
          <a:xfrm>
            <a:off x="548640" y="1783080"/>
            <a:ext cx="11064240" cy="4434840"/>
          </a:xfrm>
          <a:prstGeom prst="roundRect">
            <a:avLst>
              <a:gd name="adj" fmla="val 1649"/>
            </a:avLst>
          </a:prstGeom>
          <a:solidFill>
            <a:srgbClr val="FFFFFF"/>
          </a:solidFill>
          <a:ln/>
          <a:effectLst>
            <a:outerShdw blurRad="88900" dist="25400" dir="5400000" algn="bl" rotWithShape="0">
              <a:srgbClr val="0B2545">
                <a:alpha val="10000"/>
              </a:srgbClr>
            </a:outerShdw>
          </a:effectLst>
        </p:spPr>
        <p:txBody>
          <a:bodyPr/>
          <a:lstStyle/>
          <a:p>
            <a:endParaRPr/>
          </a:p>
        </p:txBody>
      </p:sp>
      <p:sp>
        <p:nvSpPr>
          <p:cNvPr id="7" name="Text 4"/>
          <p:cNvSpPr/>
          <p:nvPr/>
        </p:nvSpPr>
        <p:spPr>
          <a:xfrm>
            <a:off x="914400" y="1796796"/>
            <a:ext cx="10332720" cy="3931920"/>
          </a:xfrm>
          <a:prstGeom prst="rect">
            <a:avLst/>
          </a:prstGeom>
          <a:noFill/>
          <a:ln/>
        </p:spPr>
        <p:txBody>
          <a:bodyPr wrap="square" lIns="0" tIns="0" rIns="0" bIns="0" rtlCol="0" anchor="t"/>
          <a:lstStyle/>
          <a:p>
            <a:pPr marL="342900" indent="-342900">
              <a:lnSpc>
                <a:spcPct val="110000"/>
              </a:lnSpc>
              <a:spcAft>
                <a:spcPts val="1300"/>
              </a:spcAft>
              <a:buSzPct val="100000"/>
              <a:buChar char="▸"/>
            </a:pPr>
            <a:r>
              <a:rPr lang="en-US" sz="2400" dirty="0">
                <a:solidFill>
                  <a:srgbClr val="13315C"/>
                </a:solidFill>
                <a:latin typeface="Calibri" pitchFamily="34" charset="0"/>
                <a:ea typeface="Calibri" pitchFamily="34" charset="-122"/>
                <a:cs typeface="Calibri" pitchFamily="34" charset="-120"/>
              </a:rPr>
              <a:t>In small groups, imagine HHP uses an 8-bit demux key field (supporting 256 possible higher-level protocols).</a:t>
            </a:r>
            <a:endParaRPr lang="en-US" sz="2400" dirty="0"/>
          </a:p>
          <a:p>
            <a:pPr marL="342900" indent="-342900">
              <a:lnSpc>
                <a:spcPct val="110000"/>
              </a:lnSpc>
              <a:spcAft>
                <a:spcPts val="1300"/>
              </a:spcAft>
              <a:buSzPct val="100000"/>
              <a:buChar char="▸"/>
            </a:pPr>
            <a:r>
              <a:rPr lang="en-US" sz="2400" dirty="0">
                <a:solidFill>
                  <a:srgbClr val="13315C"/>
                </a:solidFill>
                <a:latin typeface="Calibri" pitchFamily="34" charset="0"/>
                <a:ea typeface="Calibri" pitchFamily="34" charset="-122"/>
                <a:cs typeface="Calibri" pitchFamily="34" charset="-120"/>
              </a:rPr>
              <a:t>Discuss: what problem would arise if two different protocol designers, working independently, each picked the same demux key value for their own protocol?</a:t>
            </a:r>
            <a:endParaRPr lang="en-US" sz="2400" dirty="0"/>
          </a:p>
          <a:p>
            <a:pPr marL="342900" indent="-342900">
              <a:lnSpc>
                <a:spcPct val="110000"/>
              </a:lnSpc>
              <a:spcAft>
                <a:spcPts val="1300"/>
              </a:spcAft>
              <a:buSzPct val="100000"/>
              <a:buChar char="▸"/>
            </a:pPr>
            <a:r>
              <a:rPr lang="en-US" sz="2400" dirty="0">
                <a:solidFill>
                  <a:srgbClr val="13315C"/>
                </a:solidFill>
                <a:latin typeface="Calibri" pitchFamily="34" charset="0"/>
                <a:ea typeface="Calibri" pitchFamily="34" charset="-122"/>
                <a:cs typeface="Calibri" pitchFamily="34" charset="-120"/>
              </a:rPr>
              <a:t>Propose a real-world analogy for a demux key from daily life (e.g., an apartment number on a shared building address, a TV channel number, a radio frequency).</a:t>
            </a:r>
            <a:endParaRPr lang="en-US" sz="2400" dirty="0"/>
          </a:p>
          <a:p>
            <a:pPr marL="342900" indent="-342900">
              <a:lnSpc>
                <a:spcPct val="110000"/>
              </a:lnSpc>
              <a:spcAft>
                <a:spcPts val="1300"/>
              </a:spcAft>
              <a:buSzPct val="100000"/>
              <a:buChar char="▸"/>
            </a:pPr>
            <a:r>
              <a:rPr lang="en-US" sz="2400" dirty="0">
                <a:solidFill>
                  <a:srgbClr val="13315C"/>
                </a:solidFill>
                <a:latin typeface="Calibri" pitchFamily="34" charset="0"/>
                <a:ea typeface="Calibri" pitchFamily="34" charset="-122"/>
                <a:cs typeface="Calibri" pitchFamily="34" charset="-120"/>
              </a:rPr>
              <a:t>Discuss why a protocol might need a PAIR of demux keys (one for each direction) rather than a single shared key — think about how a source and destination might each track many independent connections.</a:t>
            </a:r>
            <a:endParaRPr lang="en-US" sz="2400" dirty="0"/>
          </a:p>
          <a:p>
            <a:pPr marL="342900" indent="-342900">
              <a:lnSpc>
                <a:spcPct val="110000"/>
              </a:lnSpc>
              <a:spcAft>
                <a:spcPts val="1300"/>
              </a:spcAft>
              <a:buSzPct val="100000"/>
              <a:buChar char="▸"/>
            </a:pPr>
            <a:r>
              <a:rPr lang="en-US" sz="2400" dirty="0">
                <a:solidFill>
                  <a:srgbClr val="13315C"/>
                </a:solidFill>
                <a:latin typeface="Calibri" pitchFamily="34" charset="0"/>
                <a:ea typeface="Calibri" pitchFamily="34" charset="-122"/>
                <a:cs typeface="Calibri" pitchFamily="34" charset="-120"/>
              </a:rPr>
              <a:t>Share your best analogy with the class.</a:t>
            </a:r>
            <a:endParaRPr lang="en-US" sz="2400" dirty="0"/>
          </a:p>
        </p:txBody>
      </p:sp>
      <p:sp>
        <p:nvSpPr>
          <p:cNvPr id="8" name="Text 5"/>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TOPIC 4 · ACTIVITY</a:t>
            </a:r>
            <a:endParaRPr lang="en-US" sz="1000" dirty="0"/>
          </a:p>
        </p:txBody>
      </p:sp>
      <p:sp>
        <p:nvSpPr>
          <p:cNvPr id="9" name="TextBox 8"/>
          <p:cNvSpPr txBox="1"/>
          <p:nvPr/>
        </p:nvSpPr>
        <p:spPr>
          <a:xfrm>
            <a:off x="11792000" y="6638000"/>
            <a:ext cx="200000" cy="100000"/>
          </a:xfrm>
          <a:prstGeom prst="rect">
            <a:avLst/>
          </a:prstGeom>
          <a:noFill/>
        </p:spPr>
        <p:txBody>
          <a:bodyPr wrap="none">
            <a:spAutoFit/>
          </a:bodyPr>
          <a:lstStyle/>
          <a:p>
            <a:pPr>
              <a:defRPr sz="1000"/>
            </a:pPr>
            <a:r>
              <a:t>32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5">
    <p:bg>
      <p:bgPr>
        <a:solidFill>
          <a:srgbClr val="002060"/>
        </a:solidFill>
        <a:effectLst/>
      </p:bgPr>
    </p:bg>
    <p:spTree>
      <p:nvGrpSpPr>
        <p:cNvPr id="1" name=""/>
        <p:cNvGrpSpPr/>
        <p:nvPr/>
      </p:nvGrpSpPr>
      <p:grpSpPr>
        <a:xfrm>
          <a:off x="0" y="0"/>
          <a:ext cx="0" cy="0"/>
          <a:chOff x="0" y="0"/>
          <a:chExt cx="0" cy="0"/>
        </a:xfrm>
      </p:grpSpPr>
      <p:sp>
        <p:nvSpPr>
          <p:cNvPr id="2" name="Shape 0"/>
          <p:cNvSpPr/>
          <p:nvPr/>
        </p:nvSpPr>
        <p:spPr>
          <a:xfrm>
            <a:off x="9692640" y="914400"/>
            <a:ext cx="914400" cy="548640"/>
          </a:xfrm>
          <a:prstGeom prst="line">
            <a:avLst/>
          </a:prstGeom>
          <a:noFill/>
          <a:ln w="12700">
            <a:solidFill>
              <a:srgbClr val="1E3A66"/>
            </a:solidFill>
            <a:prstDash val="solid"/>
          </a:ln>
        </p:spPr>
        <p:txBody>
          <a:bodyPr/>
          <a:lstStyle/>
          <a:p>
            <a:endParaRPr/>
          </a:p>
        </p:txBody>
      </p:sp>
      <p:sp>
        <p:nvSpPr>
          <p:cNvPr id="3" name="Shape 1"/>
          <p:cNvSpPr/>
          <p:nvPr/>
        </p:nvSpPr>
        <p:spPr>
          <a:xfrm>
            <a:off x="9692640" y="914400"/>
            <a:ext cx="1645920" cy="0"/>
          </a:xfrm>
          <a:prstGeom prst="line">
            <a:avLst/>
          </a:prstGeom>
          <a:noFill/>
          <a:ln w="12700">
            <a:solidFill>
              <a:srgbClr val="1E3A66"/>
            </a:solidFill>
            <a:prstDash val="solid"/>
          </a:ln>
        </p:spPr>
        <p:txBody>
          <a:bodyPr/>
          <a:lstStyle/>
          <a:p>
            <a:endParaRPr/>
          </a:p>
        </p:txBody>
      </p:sp>
      <p:sp>
        <p:nvSpPr>
          <p:cNvPr id="4" name="Shape 2"/>
          <p:cNvSpPr/>
          <p:nvPr/>
        </p:nvSpPr>
        <p:spPr>
          <a:xfrm>
            <a:off x="9692640" y="914400"/>
            <a:ext cx="548640" cy="1371600"/>
          </a:xfrm>
          <a:prstGeom prst="line">
            <a:avLst/>
          </a:prstGeom>
          <a:noFill/>
          <a:ln w="12700">
            <a:solidFill>
              <a:srgbClr val="1E3A66"/>
            </a:solidFill>
            <a:prstDash val="solid"/>
          </a:ln>
        </p:spPr>
        <p:txBody>
          <a:bodyPr/>
          <a:lstStyle/>
          <a:p>
            <a:endParaRPr/>
          </a:p>
        </p:txBody>
      </p:sp>
      <p:sp>
        <p:nvSpPr>
          <p:cNvPr id="5" name="Shape 3"/>
          <p:cNvSpPr/>
          <p:nvPr/>
        </p:nvSpPr>
        <p:spPr>
          <a:xfrm>
            <a:off x="9692640" y="914400"/>
            <a:ext cx="1828800" cy="1463040"/>
          </a:xfrm>
          <a:prstGeom prst="line">
            <a:avLst/>
          </a:prstGeom>
          <a:noFill/>
          <a:ln w="12700">
            <a:solidFill>
              <a:srgbClr val="1E3A66"/>
            </a:solidFill>
            <a:prstDash val="solid"/>
          </a:ln>
        </p:spPr>
        <p:txBody>
          <a:bodyPr/>
          <a:lstStyle/>
          <a:p>
            <a:endParaRPr/>
          </a:p>
        </p:txBody>
      </p:sp>
      <p:sp>
        <p:nvSpPr>
          <p:cNvPr id="6" name="Shape 4"/>
          <p:cNvSpPr/>
          <p:nvPr/>
        </p:nvSpPr>
        <p:spPr>
          <a:xfrm>
            <a:off x="9692640" y="914400"/>
            <a:ext cx="0" cy="1097280"/>
          </a:xfrm>
          <a:prstGeom prst="line">
            <a:avLst/>
          </a:prstGeom>
          <a:noFill/>
          <a:ln w="12700">
            <a:solidFill>
              <a:srgbClr val="1E3A66"/>
            </a:solidFill>
            <a:prstDash val="solid"/>
          </a:ln>
        </p:spPr>
        <p:txBody>
          <a:bodyPr/>
          <a:lstStyle/>
          <a:p>
            <a:endParaRPr/>
          </a:p>
        </p:txBody>
      </p:sp>
      <p:sp>
        <p:nvSpPr>
          <p:cNvPr id="7" name="Shape 5"/>
          <p:cNvSpPr/>
          <p:nvPr/>
        </p:nvSpPr>
        <p:spPr>
          <a:xfrm>
            <a:off x="10607040" y="1463040"/>
            <a:ext cx="731520" cy="0"/>
          </a:xfrm>
          <a:prstGeom prst="line">
            <a:avLst/>
          </a:prstGeom>
          <a:noFill/>
          <a:ln w="12700">
            <a:solidFill>
              <a:srgbClr val="1E3A66"/>
            </a:solidFill>
            <a:prstDash val="solid"/>
          </a:ln>
        </p:spPr>
        <p:txBody>
          <a:bodyPr/>
          <a:lstStyle/>
          <a:p>
            <a:endParaRPr/>
          </a:p>
        </p:txBody>
      </p:sp>
      <p:sp>
        <p:nvSpPr>
          <p:cNvPr id="8" name="Shape 6"/>
          <p:cNvSpPr/>
          <p:nvPr/>
        </p:nvSpPr>
        <p:spPr>
          <a:xfrm>
            <a:off x="10607040" y="1463040"/>
            <a:ext cx="0" cy="822960"/>
          </a:xfrm>
          <a:prstGeom prst="line">
            <a:avLst/>
          </a:prstGeom>
          <a:noFill/>
          <a:ln w="12700">
            <a:solidFill>
              <a:srgbClr val="1E3A66"/>
            </a:solidFill>
            <a:prstDash val="solid"/>
          </a:ln>
        </p:spPr>
        <p:txBody>
          <a:bodyPr/>
          <a:lstStyle/>
          <a:p>
            <a:endParaRPr/>
          </a:p>
        </p:txBody>
      </p:sp>
      <p:sp>
        <p:nvSpPr>
          <p:cNvPr id="9" name="Shape 7"/>
          <p:cNvSpPr/>
          <p:nvPr/>
        </p:nvSpPr>
        <p:spPr>
          <a:xfrm>
            <a:off x="10607040" y="1463040"/>
            <a:ext cx="914400" cy="914400"/>
          </a:xfrm>
          <a:prstGeom prst="line">
            <a:avLst/>
          </a:prstGeom>
          <a:noFill/>
          <a:ln w="12700">
            <a:solidFill>
              <a:srgbClr val="1E3A66"/>
            </a:solidFill>
            <a:prstDash val="solid"/>
          </a:ln>
        </p:spPr>
        <p:txBody>
          <a:bodyPr/>
          <a:lstStyle/>
          <a:p>
            <a:endParaRPr/>
          </a:p>
        </p:txBody>
      </p:sp>
      <p:sp>
        <p:nvSpPr>
          <p:cNvPr id="10" name="Shape 8"/>
          <p:cNvSpPr/>
          <p:nvPr/>
        </p:nvSpPr>
        <p:spPr>
          <a:xfrm>
            <a:off x="10607040" y="1463040"/>
            <a:ext cx="0" cy="548640"/>
          </a:xfrm>
          <a:prstGeom prst="line">
            <a:avLst/>
          </a:prstGeom>
          <a:noFill/>
          <a:ln w="12700">
            <a:solidFill>
              <a:srgbClr val="1E3A66"/>
            </a:solidFill>
            <a:prstDash val="solid"/>
          </a:ln>
        </p:spPr>
        <p:txBody>
          <a:bodyPr/>
          <a:lstStyle/>
          <a:p>
            <a:endParaRPr/>
          </a:p>
        </p:txBody>
      </p:sp>
      <p:sp>
        <p:nvSpPr>
          <p:cNvPr id="11" name="Shape 9"/>
          <p:cNvSpPr/>
          <p:nvPr/>
        </p:nvSpPr>
        <p:spPr>
          <a:xfrm>
            <a:off x="11338560" y="822960"/>
            <a:ext cx="0" cy="1463040"/>
          </a:xfrm>
          <a:prstGeom prst="line">
            <a:avLst/>
          </a:prstGeom>
          <a:noFill/>
          <a:ln w="12700">
            <a:solidFill>
              <a:srgbClr val="1E3A66"/>
            </a:solidFill>
            <a:prstDash val="solid"/>
          </a:ln>
        </p:spPr>
        <p:txBody>
          <a:bodyPr/>
          <a:lstStyle/>
          <a:p>
            <a:endParaRPr/>
          </a:p>
        </p:txBody>
      </p:sp>
      <p:sp>
        <p:nvSpPr>
          <p:cNvPr id="12" name="Shape 10"/>
          <p:cNvSpPr/>
          <p:nvPr/>
        </p:nvSpPr>
        <p:spPr>
          <a:xfrm>
            <a:off x="11338560" y="822960"/>
            <a:ext cx="182880" cy="1554480"/>
          </a:xfrm>
          <a:prstGeom prst="line">
            <a:avLst/>
          </a:prstGeom>
          <a:noFill/>
          <a:ln w="12700">
            <a:solidFill>
              <a:srgbClr val="1E3A66"/>
            </a:solidFill>
            <a:prstDash val="solid"/>
          </a:ln>
        </p:spPr>
        <p:txBody>
          <a:bodyPr/>
          <a:lstStyle/>
          <a:p>
            <a:endParaRPr/>
          </a:p>
        </p:txBody>
      </p:sp>
      <p:sp>
        <p:nvSpPr>
          <p:cNvPr id="13" name="Shape 11"/>
          <p:cNvSpPr/>
          <p:nvPr/>
        </p:nvSpPr>
        <p:spPr>
          <a:xfrm>
            <a:off x="11338560" y="822960"/>
            <a:ext cx="0" cy="1188720"/>
          </a:xfrm>
          <a:prstGeom prst="line">
            <a:avLst/>
          </a:prstGeom>
          <a:noFill/>
          <a:ln w="12700">
            <a:solidFill>
              <a:srgbClr val="1E3A66"/>
            </a:solidFill>
            <a:prstDash val="solid"/>
          </a:ln>
        </p:spPr>
        <p:txBody>
          <a:bodyPr/>
          <a:lstStyle/>
          <a:p>
            <a:endParaRPr/>
          </a:p>
        </p:txBody>
      </p:sp>
      <p:sp>
        <p:nvSpPr>
          <p:cNvPr id="14" name="Shape 12"/>
          <p:cNvSpPr/>
          <p:nvPr/>
        </p:nvSpPr>
        <p:spPr>
          <a:xfrm>
            <a:off x="10241280" y="2286000"/>
            <a:ext cx="1280160" cy="91440"/>
          </a:xfrm>
          <a:prstGeom prst="line">
            <a:avLst/>
          </a:prstGeom>
          <a:noFill/>
          <a:ln w="12700">
            <a:solidFill>
              <a:srgbClr val="1E3A66"/>
            </a:solidFill>
            <a:prstDash val="solid"/>
          </a:ln>
        </p:spPr>
        <p:txBody>
          <a:bodyPr/>
          <a:lstStyle/>
          <a:p>
            <a:endParaRPr/>
          </a:p>
        </p:txBody>
      </p:sp>
      <p:sp>
        <p:nvSpPr>
          <p:cNvPr id="15" name="Shape 13"/>
          <p:cNvSpPr/>
          <p:nvPr/>
        </p:nvSpPr>
        <p:spPr>
          <a:xfrm>
            <a:off x="10241280" y="2286000"/>
            <a:ext cx="0" cy="0"/>
          </a:xfrm>
          <a:prstGeom prst="line">
            <a:avLst/>
          </a:prstGeom>
          <a:noFill/>
          <a:ln w="12700">
            <a:solidFill>
              <a:srgbClr val="1E3A66"/>
            </a:solidFill>
            <a:prstDash val="solid"/>
          </a:ln>
        </p:spPr>
        <p:txBody>
          <a:bodyPr/>
          <a:lstStyle/>
          <a:p>
            <a:endParaRPr/>
          </a:p>
        </p:txBody>
      </p:sp>
      <p:sp>
        <p:nvSpPr>
          <p:cNvPr id="16" name="Shape 14"/>
          <p:cNvSpPr/>
          <p:nvPr/>
        </p:nvSpPr>
        <p:spPr>
          <a:xfrm>
            <a:off x="11521440" y="2377440"/>
            <a:ext cx="0" cy="0"/>
          </a:xfrm>
          <a:prstGeom prst="line">
            <a:avLst/>
          </a:prstGeom>
          <a:noFill/>
          <a:ln w="12700">
            <a:solidFill>
              <a:srgbClr val="1E3A66"/>
            </a:solidFill>
            <a:prstDash val="solid"/>
          </a:ln>
        </p:spPr>
        <p:txBody>
          <a:bodyPr/>
          <a:lstStyle/>
          <a:p>
            <a:endParaRPr/>
          </a:p>
        </p:txBody>
      </p:sp>
      <p:sp>
        <p:nvSpPr>
          <p:cNvPr id="17" name="Shape 15"/>
          <p:cNvSpPr/>
          <p:nvPr/>
        </p:nvSpPr>
        <p:spPr>
          <a:xfrm>
            <a:off x="9637776" y="859536"/>
            <a:ext cx="109728" cy="109728"/>
          </a:xfrm>
          <a:prstGeom prst="ellipse">
            <a:avLst/>
          </a:prstGeom>
          <a:solidFill>
            <a:srgbClr val="00B4D8"/>
          </a:solidFill>
          <a:ln/>
        </p:spPr>
        <p:txBody>
          <a:bodyPr/>
          <a:lstStyle/>
          <a:p>
            <a:endParaRPr/>
          </a:p>
        </p:txBody>
      </p:sp>
      <p:sp>
        <p:nvSpPr>
          <p:cNvPr id="18" name="Shape 16"/>
          <p:cNvSpPr/>
          <p:nvPr/>
        </p:nvSpPr>
        <p:spPr>
          <a:xfrm>
            <a:off x="10552176" y="1408176"/>
            <a:ext cx="109728" cy="109728"/>
          </a:xfrm>
          <a:prstGeom prst="ellipse">
            <a:avLst/>
          </a:prstGeom>
          <a:solidFill>
            <a:srgbClr val="00B4D8"/>
          </a:solidFill>
          <a:ln/>
        </p:spPr>
        <p:txBody>
          <a:bodyPr/>
          <a:lstStyle/>
          <a:p>
            <a:endParaRPr/>
          </a:p>
        </p:txBody>
      </p:sp>
      <p:sp>
        <p:nvSpPr>
          <p:cNvPr id="19" name="Shape 17"/>
          <p:cNvSpPr/>
          <p:nvPr/>
        </p:nvSpPr>
        <p:spPr>
          <a:xfrm>
            <a:off x="11283696" y="768096"/>
            <a:ext cx="109728" cy="109728"/>
          </a:xfrm>
          <a:prstGeom prst="ellipse">
            <a:avLst/>
          </a:prstGeom>
          <a:solidFill>
            <a:srgbClr val="00B4D8"/>
          </a:solidFill>
          <a:ln/>
        </p:spPr>
        <p:txBody>
          <a:bodyPr/>
          <a:lstStyle/>
          <a:p>
            <a:endParaRPr/>
          </a:p>
        </p:txBody>
      </p:sp>
      <p:sp>
        <p:nvSpPr>
          <p:cNvPr id="20" name="Shape 18"/>
          <p:cNvSpPr/>
          <p:nvPr/>
        </p:nvSpPr>
        <p:spPr>
          <a:xfrm>
            <a:off x="10186416" y="2231136"/>
            <a:ext cx="109728" cy="109728"/>
          </a:xfrm>
          <a:prstGeom prst="ellipse">
            <a:avLst/>
          </a:prstGeom>
          <a:solidFill>
            <a:srgbClr val="00B4D8"/>
          </a:solidFill>
          <a:ln/>
        </p:spPr>
        <p:txBody>
          <a:bodyPr/>
          <a:lstStyle/>
          <a:p>
            <a:endParaRPr/>
          </a:p>
        </p:txBody>
      </p:sp>
      <p:sp>
        <p:nvSpPr>
          <p:cNvPr id="21" name="Shape 19"/>
          <p:cNvSpPr/>
          <p:nvPr/>
        </p:nvSpPr>
        <p:spPr>
          <a:xfrm>
            <a:off x="11466576" y="2322576"/>
            <a:ext cx="109728" cy="109728"/>
          </a:xfrm>
          <a:prstGeom prst="ellipse">
            <a:avLst/>
          </a:prstGeom>
          <a:solidFill>
            <a:srgbClr val="00B4D8"/>
          </a:solidFill>
          <a:ln/>
        </p:spPr>
        <p:txBody>
          <a:bodyPr/>
          <a:lstStyle/>
          <a:p>
            <a:endParaRPr/>
          </a:p>
        </p:txBody>
      </p:sp>
      <p:sp>
        <p:nvSpPr>
          <p:cNvPr id="22" name="Shape 20"/>
          <p:cNvSpPr/>
          <p:nvPr/>
        </p:nvSpPr>
        <p:spPr>
          <a:xfrm>
            <a:off x="9272016" y="1956816"/>
            <a:ext cx="109728" cy="109728"/>
          </a:xfrm>
          <a:prstGeom prst="ellipse">
            <a:avLst/>
          </a:prstGeom>
          <a:solidFill>
            <a:srgbClr val="00B4D8"/>
          </a:solidFill>
          <a:ln/>
        </p:spPr>
        <p:txBody>
          <a:bodyPr/>
          <a:lstStyle/>
          <a:p>
            <a:endParaRPr/>
          </a:p>
        </p:txBody>
      </p:sp>
      <p:sp>
        <p:nvSpPr>
          <p:cNvPr id="23" name="Text 21"/>
          <p:cNvSpPr/>
          <p:nvPr/>
        </p:nvSpPr>
        <p:spPr>
          <a:xfrm>
            <a:off x="822960" y="2148840"/>
            <a:ext cx="5486400" cy="365760"/>
          </a:xfrm>
          <a:prstGeom prst="rect">
            <a:avLst/>
          </a:prstGeom>
          <a:noFill/>
          <a:ln/>
        </p:spPr>
        <p:txBody>
          <a:bodyPr wrap="square" lIns="0" tIns="0" rIns="0" bIns="0" rtlCol="0" anchor="ctr"/>
          <a:lstStyle/>
          <a:p>
            <a:pPr marL="0" indent="0">
              <a:buNone/>
            </a:pPr>
            <a:r>
              <a:rPr lang="en-US" sz="1600" b="1" kern="0" spc="300" dirty="0">
                <a:solidFill>
                  <a:srgbClr val="00B4D8"/>
                </a:solidFill>
                <a:latin typeface="Calibri" pitchFamily="34" charset="0"/>
                <a:ea typeface="Calibri" pitchFamily="34" charset="-122"/>
                <a:cs typeface="Calibri" pitchFamily="34" charset="-120"/>
              </a:rPr>
              <a:t>TOPIC 5</a:t>
            </a:r>
            <a:endParaRPr lang="en-US" sz="1600" dirty="0"/>
          </a:p>
        </p:txBody>
      </p:sp>
      <p:sp>
        <p:nvSpPr>
          <p:cNvPr id="24" name="Text 22"/>
          <p:cNvSpPr/>
          <p:nvPr/>
        </p:nvSpPr>
        <p:spPr>
          <a:xfrm>
            <a:off x="777240" y="2514600"/>
            <a:ext cx="9601200" cy="1463040"/>
          </a:xfrm>
          <a:prstGeom prst="rect">
            <a:avLst/>
          </a:prstGeom>
          <a:noFill/>
          <a:ln/>
        </p:spPr>
        <p:txBody>
          <a:bodyPr wrap="square" lIns="0" tIns="0" rIns="0" bIns="0" rtlCol="0" anchor="t"/>
          <a:lstStyle/>
          <a:p>
            <a:pPr marL="0" indent="0">
              <a:buNone/>
            </a:pPr>
            <a:r>
              <a:rPr lang="en-US" sz="5400" b="1" dirty="0">
                <a:solidFill>
                  <a:srgbClr val="FFFFFF"/>
                </a:solidFill>
                <a:latin typeface="Bookman Old Style" pitchFamily="34" charset="0"/>
                <a:ea typeface="Bookman Old Style" pitchFamily="34" charset="-122"/>
                <a:cs typeface="Bookman Old Style" pitchFamily="34" charset="-120"/>
              </a:rPr>
              <a:t>OSI Reference Model</a:t>
            </a:r>
            <a:endParaRPr lang="en-US" sz="5400" dirty="0"/>
          </a:p>
        </p:txBody>
      </p:sp>
      <p:sp>
        <p:nvSpPr>
          <p:cNvPr id="25" name="Text 23"/>
          <p:cNvSpPr/>
          <p:nvPr/>
        </p:nvSpPr>
        <p:spPr>
          <a:xfrm>
            <a:off x="243840" y="4315968"/>
            <a:ext cx="11460480" cy="1737360"/>
          </a:xfrm>
          <a:prstGeom prst="rect">
            <a:avLst/>
          </a:prstGeom>
          <a:solidFill>
            <a:schemeClr val="bg2">
              <a:lumMod val="50000"/>
            </a:schemeClr>
          </a:solidFill>
          <a:ln/>
        </p:spPr>
        <p:txBody>
          <a:bodyPr wrap="square" lIns="0" tIns="0" rIns="0" bIns="0" rtlCol="0" anchor="t"/>
          <a:lstStyle/>
          <a:p>
            <a:r>
              <a:rPr lang="en-IN" sz="2800" dirty="0">
                <a:solidFill>
                  <a:schemeClr val="bg1"/>
                </a:solidFill>
                <a:latin typeface="Calibri" pitchFamily="34" charset="0"/>
                <a:ea typeface="Calibri" pitchFamily="34" charset="-122"/>
                <a:cs typeface="Calibri" pitchFamily="34" charset="-120"/>
              </a:rPr>
              <a:t>The OSI Reference Model is a seven-layer framework that describes how an application on one computer communicates with an application on another computer by dividing the communication process into seven functional layers, each performing a specific task.</a:t>
            </a:r>
            <a:r>
              <a:rPr lang="en-US" sz="2800" dirty="0">
                <a:solidFill>
                  <a:schemeClr val="bg1"/>
                </a:solidFill>
                <a:latin typeface="Calibri" pitchFamily="34" charset="0"/>
                <a:ea typeface="Calibri" pitchFamily="34" charset="-122"/>
                <a:cs typeface="Calibri" pitchFamily="34" charset="-120"/>
              </a:rPr>
              <a:t>.</a:t>
            </a:r>
          </a:p>
        </p:txBody>
      </p:sp>
      <p:sp>
        <p:nvSpPr>
          <p:cNvPr id="31" name="Text 27"/>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9FB3CC"/>
                </a:solidFill>
                <a:latin typeface="Calibri" pitchFamily="34" charset="0"/>
                <a:ea typeface="Calibri" pitchFamily="34" charset="-122"/>
                <a:cs typeface="Calibri" pitchFamily="34" charset="-120"/>
              </a:rPr>
              <a:t>TOPIC 5</a:t>
            </a:r>
            <a:endParaRPr lang="en-US" sz="1000" dirty="0"/>
          </a:p>
        </p:txBody>
      </p:sp>
      <p:sp>
        <p:nvSpPr>
          <p:cNvPr id="32" name="TextBox 31"/>
          <p:cNvSpPr txBox="1"/>
          <p:nvPr/>
        </p:nvSpPr>
        <p:spPr>
          <a:xfrm>
            <a:off x="11792000" y="6638000"/>
            <a:ext cx="200000" cy="100000"/>
          </a:xfrm>
          <a:prstGeom prst="rect">
            <a:avLst/>
          </a:prstGeom>
          <a:noFill/>
        </p:spPr>
        <p:txBody>
          <a:bodyPr wrap="none">
            <a:spAutoFit/>
          </a:bodyPr>
          <a:lstStyle/>
          <a:p>
            <a:pPr>
              <a:defRPr sz="1000"/>
            </a:pPr>
            <a:r>
              <a:t>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48640" y="82296"/>
            <a:ext cx="9144000" cy="274320"/>
          </a:xfrm>
          <a:prstGeom prst="rect">
            <a:avLst/>
          </a:prstGeom>
          <a:noFill/>
          <a:ln/>
        </p:spPr>
        <p:txBody>
          <a:bodyPr wrap="square" lIns="0" tIns="0" rIns="0" bIns="0" rtlCol="0" anchor="ctr"/>
          <a:lstStyle/>
          <a:p>
            <a:pPr marL="0" indent="0">
              <a:buNone/>
            </a:pPr>
            <a:r>
              <a:rPr lang="en-US" sz="1200" b="1" kern="0" spc="200" dirty="0">
                <a:solidFill>
                  <a:srgbClr val="0091AD"/>
                </a:solidFill>
                <a:latin typeface="Calibri" pitchFamily="34" charset="0"/>
                <a:ea typeface="Calibri" pitchFamily="34" charset="-122"/>
                <a:cs typeface="Calibri" pitchFamily="34" charset="-120"/>
              </a:rPr>
              <a:t>TOPIC 5 · OSI MODEL</a:t>
            </a:r>
            <a:endParaRPr lang="en-US" sz="1200" dirty="0"/>
          </a:p>
        </p:txBody>
      </p:sp>
      <p:sp>
        <p:nvSpPr>
          <p:cNvPr id="3" name="Text 1"/>
          <p:cNvSpPr/>
          <p:nvPr/>
        </p:nvSpPr>
        <p:spPr>
          <a:xfrm>
            <a:off x="548640" y="411480"/>
            <a:ext cx="10424160" cy="822960"/>
          </a:xfrm>
          <a:prstGeom prst="rect">
            <a:avLst/>
          </a:prstGeom>
          <a:noFill/>
          <a:ln/>
        </p:spPr>
        <p:txBody>
          <a:bodyPr wrap="square" lIns="0" tIns="0" rIns="0" bIns="0" rtlCol="0" anchor="t"/>
          <a:lstStyle/>
          <a:p>
            <a:pPr marL="0" indent="0">
              <a:buNone/>
            </a:pPr>
            <a:r>
              <a:rPr lang="en-US" sz="3000" b="1" dirty="0">
                <a:solidFill>
                  <a:srgbClr val="13315C"/>
                </a:solidFill>
                <a:latin typeface="Bookman Old Style" pitchFamily="34" charset="0"/>
                <a:ea typeface="Bookman Old Style" pitchFamily="34" charset="-122"/>
                <a:cs typeface="Bookman Old Style" pitchFamily="34" charset="-120"/>
              </a:rPr>
              <a:t>The OSI 7-Layer Model — Overview</a:t>
            </a:r>
            <a:endParaRPr lang="en-US" sz="3000" dirty="0"/>
          </a:p>
        </p:txBody>
      </p:sp>
      <p:sp>
        <p:nvSpPr>
          <p:cNvPr id="6" name="Text 3"/>
          <p:cNvSpPr/>
          <p:nvPr/>
        </p:nvSpPr>
        <p:spPr>
          <a:xfrm>
            <a:off x="204285" y="1197864"/>
            <a:ext cx="5769796" cy="4480560"/>
          </a:xfrm>
          <a:prstGeom prst="rect">
            <a:avLst/>
          </a:prstGeom>
          <a:noFill/>
          <a:ln/>
        </p:spPr>
        <p:txBody>
          <a:bodyPr wrap="square" lIns="0" tIns="0" rIns="0" bIns="0" rtlCol="0" anchor="t"/>
          <a:lstStyle/>
          <a:p>
            <a:pPr marL="342900" indent="-342900">
              <a:lnSpc>
                <a:spcPct val="108000"/>
              </a:lnSpc>
              <a:spcAft>
                <a:spcPts val="1200"/>
              </a:spcAft>
              <a:buSzPct val="100000"/>
              <a:buChar char="●"/>
            </a:pPr>
            <a:r>
              <a:rPr lang="en-US" sz="2400" dirty="0">
                <a:solidFill>
                  <a:srgbClr val="13315C"/>
                </a:solidFill>
                <a:latin typeface="Calibri" pitchFamily="34" charset="0"/>
                <a:ea typeface="Calibri" pitchFamily="34" charset="-122"/>
                <a:cs typeface="Calibri" pitchFamily="34" charset="-120"/>
              </a:rPr>
              <a:t>ISO's Open Systems Interconnection (OSI) architecture partitions network functionality into 7 layers.</a:t>
            </a:r>
            <a:endParaRPr lang="en-US" sz="2400" dirty="0"/>
          </a:p>
          <a:p>
            <a:pPr marL="342900" indent="-342900">
              <a:lnSpc>
                <a:spcPct val="108000"/>
              </a:lnSpc>
              <a:spcAft>
                <a:spcPts val="1200"/>
              </a:spcAft>
              <a:buSzPct val="100000"/>
              <a:buChar char="●"/>
            </a:pPr>
            <a:r>
              <a:rPr lang="en-US" sz="2400" dirty="0">
                <a:solidFill>
                  <a:srgbClr val="13315C"/>
                </a:solidFill>
                <a:latin typeface="Calibri" pitchFamily="34" charset="0"/>
                <a:ea typeface="Calibri" pitchFamily="34" charset="-122"/>
                <a:cs typeface="Calibri" pitchFamily="34" charset="-120"/>
              </a:rPr>
              <a:t>One or more protocols implement the functionality assigned to each layer.</a:t>
            </a:r>
            <a:endParaRPr lang="en-US" sz="2400" dirty="0"/>
          </a:p>
          <a:p>
            <a:pPr marL="342900" indent="-342900">
              <a:lnSpc>
                <a:spcPct val="108000"/>
              </a:lnSpc>
              <a:spcAft>
                <a:spcPts val="1200"/>
              </a:spcAft>
              <a:buSzPct val="100000"/>
              <a:buChar char="●"/>
            </a:pPr>
            <a:r>
              <a:rPr lang="en-US" sz="2400" dirty="0">
                <a:solidFill>
                  <a:srgbClr val="13315C"/>
                </a:solidFill>
                <a:latin typeface="Calibri" pitchFamily="34" charset="0"/>
                <a:ea typeface="Calibri" pitchFamily="34" charset="-122"/>
                <a:cs typeface="Calibri" pitchFamily="34" charset="-120"/>
              </a:rPr>
              <a:t>It is a reference model for a protocol graph, not a protocol graph itself — no OSI-based network runs today, but its terminology is still widely used.</a:t>
            </a:r>
            <a:endParaRPr lang="en-US" sz="2400" dirty="0"/>
          </a:p>
          <a:p>
            <a:pPr marL="342900" indent="-342900">
              <a:lnSpc>
                <a:spcPct val="108000"/>
              </a:lnSpc>
              <a:spcAft>
                <a:spcPts val="1200"/>
              </a:spcAft>
              <a:buSzPct val="100000"/>
              <a:buChar char="●"/>
            </a:pPr>
            <a:r>
              <a:rPr lang="en-US" sz="2400" dirty="0">
                <a:solidFill>
                  <a:srgbClr val="13315C"/>
                </a:solidFill>
                <a:latin typeface="Calibri" pitchFamily="34" charset="0"/>
                <a:ea typeface="Calibri" pitchFamily="34" charset="-122"/>
                <a:cs typeface="Calibri" pitchFamily="34" charset="-120"/>
              </a:rPr>
              <a:t>The lower 3 layers run on every node (hosts AND switches/routers); the top 4 layers run only on end hosts.</a:t>
            </a:r>
            <a:endParaRPr lang="en-US" sz="2400" dirty="0"/>
          </a:p>
        </p:txBody>
      </p:sp>
      <p:sp>
        <p:nvSpPr>
          <p:cNvPr id="27" name="Text 24"/>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TOPIC 5 · OSI MODEL</a:t>
            </a:r>
            <a:endParaRPr lang="en-US" sz="1000" dirty="0"/>
          </a:p>
        </p:txBody>
      </p:sp>
      <p:pic>
        <p:nvPicPr>
          <p:cNvPr id="5" name="Picture 4">
            <a:extLst>
              <a:ext uri="{FF2B5EF4-FFF2-40B4-BE49-F238E27FC236}">
                <a16:creationId xmlns:a16="http://schemas.microsoft.com/office/drawing/2014/main" id="{33F3331B-A775-4C09-91E8-909FF0518BE8}"/>
              </a:ext>
            </a:extLst>
          </p:cNvPr>
          <p:cNvPicPr>
            <a:picLocks noChangeAspect="1"/>
          </p:cNvPicPr>
          <p:nvPr/>
        </p:nvPicPr>
        <p:blipFill>
          <a:blip r:embed="rId3"/>
          <a:stretch>
            <a:fillRect/>
          </a:stretch>
        </p:blipFill>
        <p:spPr>
          <a:xfrm>
            <a:off x="5943600" y="1072896"/>
            <a:ext cx="6157494" cy="5401056"/>
          </a:xfrm>
          <a:prstGeom prst="rect">
            <a:avLst/>
          </a:prstGeom>
        </p:spPr>
      </p:pic>
      <p:sp>
        <p:nvSpPr>
          <p:cNvPr id="28" name="TextBox 27"/>
          <p:cNvSpPr txBox="1"/>
          <p:nvPr/>
        </p:nvSpPr>
        <p:spPr>
          <a:xfrm>
            <a:off x="11792000" y="6638000"/>
            <a:ext cx="200000" cy="100000"/>
          </a:xfrm>
          <a:prstGeom prst="rect">
            <a:avLst/>
          </a:prstGeom>
          <a:noFill/>
        </p:spPr>
        <p:txBody>
          <a:bodyPr wrap="none">
            <a:spAutoFit/>
          </a:bodyPr>
          <a:lstStyle/>
          <a:p>
            <a:pPr>
              <a:defRPr sz="1000"/>
            </a:pPr>
            <a:r>
              <a:t>34</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48640" y="109728"/>
            <a:ext cx="9144000" cy="274320"/>
          </a:xfrm>
          <a:prstGeom prst="rect">
            <a:avLst/>
          </a:prstGeom>
          <a:noFill/>
          <a:ln/>
        </p:spPr>
        <p:txBody>
          <a:bodyPr wrap="square" lIns="0" tIns="0" rIns="0" bIns="0" rtlCol="0" anchor="ctr"/>
          <a:lstStyle/>
          <a:p>
            <a:pPr marL="0" indent="0">
              <a:buNone/>
            </a:pPr>
            <a:r>
              <a:rPr lang="en-US" sz="1200" b="1" kern="0" spc="200" dirty="0">
                <a:solidFill>
                  <a:srgbClr val="0091AD"/>
                </a:solidFill>
                <a:latin typeface="Calibri" pitchFamily="34" charset="0"/>
                <a:ea typeface="Calibri" pitchFamily="34" charset="-122"/>
                <a:cs typeface="Calibri" pitchFamily="34" charset="-120"/>
              </a:rPr>
              <a:t>TOPIC 5 · OSI MODEL</a:t>
            </a:r>
            <a:endParaRPr lang="en-US" sz="1200" dirty="0"/>
          </a:p>
        </p:txBody>
      </p:sp>
      <p:sp>
        <p:nvSpPr>
          <p:cNvPr id="3" name="Text 1"/>
          <p:cNvSpPr/>
          <p:nvPr/>
        </p:nvSpPr>
        <p:spPr>
          <a:xfrm>
            <a:off x="548640" y="566928"/>
            <a:ext cx="10424160" cy="822960"/>
          </a:xfrm>
          <a:prstGeom prst="rect">
            <a:avLst/>
          </a:prstGeom>
          <a:noFill/>
          <a:ln/>
        </p:spPr>
        <p:txBody>
          <a:bodyPr wrap="square" lIns="0" tIns="0" rIns="0" bIns="0" rtlCol="0" anchor="t"/>
          <a:lstStyle/>
          <a:p>
            <a:pPr marL="0" indent="0">
              <a:buNone/>
            </a:pPr>
            <a:r>
              <a:rPr lang="en-US" sz="3000" b="1" dirty="0">
                <a:solidFill>
                  <a:srgbClr val="13315C"/>
                </a:solidFill>
                <a:latin typeface="Bookman Old Style" pitchFamily="34" charset="0"/>
                <a:ea typeface="Bookman Old Style" pitchFamily="34" charset="-122"/>
                <a:cs typeface="Bookman Old Style" pitchFamily="34" charset="-120"/>
              </a:rPr>
              <a:t>Layers 1-3: Physical, Data Link, Network</a:t>
            </a:r>
            <a:endParaRPr lang="en-US" sz="3000" dirty="0"/>
          </a:p>
        </p:txBody>
      </p:sp>
      <p:sp>
        <p:nvSpPr>
          <p:cNvPr id="6" name="Text 3"/>
          <p:cNvSpPr/>
          <p:nvPr/>
        </p:nvSpPr>
        <p:spPr>
          <a:xfrm>
            <a:off x="548640" y="1411289"/>
            <a:ext cx="11064240" cy="4572000"/>
          </a:xfrm>
          <a:prstGeom prst="rect">
            <a:avLst/>
          </a:prstGeom>
          <a:noFill/>
          <a:ln/>
        </p:spPr>
        <p:txBody>
          <a:bodyPr wrap="square" lIns="0" tIns="0" rIns="0" bIns="0" rtlCol="0" anchor="t"/>
          <a:lstStyle/>
          <a:p>
            <a:pPr marL="342900" indent="-342900">
              <a:lnSpc>
                <a:spcPct val="108000"/>
              </a:lnSpc>
              <a:spcAft>
                <a:spcPts val="1200"/>
              </a:spcAft>
              <a:buSzPct val="100000"/>
              <a:buChar char="●"/>
            </a:pPr>
            <a:r>
              <a:rPr lang="en-US" sz="2400" b="1" dirty="0">
                <a:solidFill>
                  <a:srgbClr val="13315C"/>
                </a:solidFill>
                <a:latin typeface="Calibri" pitchFamily="34" charset="0"/>
                <a:ea typeface="Calibri" pitchFamily="34" charset="-122"/>
                <a:cs typeface="Calibri" pitchFamily="34" charset="-120"/>
              </a:rPr>
              <a:t>Layer 1 — Physical:</a:t>
            </a:r>
            <a:endParaRPr lang="en-US" sz="2400" dirty="0"/>
          </a:p>
          <a:p>
            <a:pPr marL="685800" lvl="1" indent="-342900">
              <a:lnSpc>
                <a:spcPct val="108000"/>
              </a:lnSpc>
              <a:spcAft>
                <a:spcPts val="600"/>
              </a:spcAft>
              <a:buSzPct val="100000"/>
              <a:buChar char="–"/>
            </a:pPr>
            <a:r>
              <a:rPr lang="en-US" sz="2400" dirty="0">
                <a:solidFill>
                  <a:srgbClr val="13315C"/>
                </a:solidFill>
                <a:latin typeface="Calibri" pitchFamily="34" charset="0"/>
                <a:ea typeface="Calibri" pitchFamily="34" charset="-122"/>
                <a:cs typeface="Calibri" pitchFamily="34" charset="-120"/>
              </a:rPr>
              <a:t>Handles transmission of raw bits over a communication link.</a:t>
            </a:r>
            <a:endParaRPr lang="en-US" sz="2400" dirty="0"/>
          </a:p>
          <a:p>
            <a:pPr marL="342900" indent="-342900">
              <a:lnSpc>
                <a:spcPct val="108000"/>
              </a:lnSpc>
              <a:spcAft>
                <a:spcPts val="1200"/>
              </a:spcAft>
              <a:buSzPct val="100000"/>
              <a:buChar char="●"/>
            </a:pPr>
            <a:r>
              <a:rPr lang="en-US" sz="2400" b="1" dirty="0">
                <a:solidFill>
                  <a:srgbClr val="13315C"/>
                </a:solidFill>
                <a:latin typeface="Calibri" pitchFamily="34" charset="0"/>
                <a:ea typeface="Calibri" pitchFamily="34" charset="-122"/>
                <a:cs typeface="Calibri" pitchFamily="34" charset="-120"/>
              </a:rPr>
              <a:t>Layer 2 — Data Link:</a:t>
            </a:r>
            <a:endParaRPr lang="en-US" sz="2400" dirty="0"/>
          </a:p>
          <a:p>
            <a:pPr marL="685800" lvl="1" indent="-342900">
              <a:lnSpc>
                <a:spcPct val="108000"/>
              </a:lnSpc>
              <a:spcAft>
                <a:spcPts val="600"/>
              </a:spcAft>
              <a:buSzPct val="100000"/>
              <a:buChar char="–"/>
            </a:pPr>
            <a:r>
              <a:rPr lang="en-US" sz="2400" dirty="0">
                <a:solidFill>
                  <a:srgbClr val="13315C"/>
                </a:solidFill>
                <a:latin typeface="Calibri" pitchFamily="34" charset="0"/>
                <a:ea typeface="Calibri" pitchFamily="34" charset="-122"/>
                <a:cs typeface="Calibri" pitchFamily="34" charset="-120"/>
              </a:rPr>
              <a:t>Collects a stream of bits into a larger aggregate called a frame; implemented by network adaptors and device drivers.</a:t>
            </a:r>
            <a:endParaRPr lang="en-US" sz="2400" dirty="0"/>
          </a:p>
          <a:p>
            <a:pPr marL="342900" indent="-342900">
              <a:lnSpc>
                <a:spcPct val="108000"/>
              </a:lnSpc>
              <a:spcAft>
                <a:spcPts val="1200"/>
              </a:spcAft>
              <a:buSzPct val="100000"/>
              <a:buChar char="●"/>
            </a:pPr>
            <a:r>
              <a:rPr lang="en-US" sz="2400" b="1" dirty="0">
                <a:solidFill>
                  <a:srgbClr val="13315C"/>
                </a:solidFill>
                <a:latin typeface="Calibri" pitchFamily="34" charset="0"/>
                <a:ea typeface="Calibri" pitchFamily="34" charset="-122"/>
                <a:cs typeface="Calibri" pitchFamily="34" charset="-120"/>
              </a:rPr>
              <a:t>Layer 3 — Network:</a:t>
            </a:r>
            <a:endParaRPr lang="en-US" sz="2400" dirty="0"/>
          </a:p>
          <a:p>
            <a:pPr marL="685800" lvl="1" indent="-342900">
              <a:lnSpc>
                <a:spcPct val="108000"/>
              </a:lnSpc>
              <a:spcAft>
                <a:spcPts val="600"/>
              </a:spcAft>
              <a:buSzPct val="100000"/>
              <a:buChar char="–"/>
            </a:pPr>
            <a:r>
              <a:rPr lang="en-US" sz="2400" dirty="0">
                <a:solidFill>
                  <a:srgbClr val="13315C"/>
                </a:solidFill>
                <a:latin typeface="Calibri" pitchFamily="34" charset="0"/>
                <a:ea typeface="Calibri" pitchFamily="34" charset="-122"/>
                <a:cs typeface="Calibri" pitchFamily="34" charset="-120"/>
              </a:rPr>
              <a:t>Handles routing among nodes within a packet-switched network; the unit of data here is a packet.</a:t>
            </a:r>
            <a:endParaRPr lang="en-US" sz="2400" dirty="0"/>
          </a:p>
          <a:p>
            <a:pPr marL="342900" indent="-342900">
              <a:lnSpc>
                <a:spcPct val="108000"/>
              </a:lnSpc>
              <a:spcAft>
                <a:spcPts val="1200"/>
              </a:spcAft>
              <a:buSzPct val="100000"/>
              <a:buChar char="●"/>
            </a:pPr>
            <a:r>
              <a:rPr lang="en-US" sz="2400" b="1" dirty="0">
                <a:solidFill>
                  <a:srgbClr val="13315C"/>
                </a:solidFill>
                <a:latin typeface="Calibri" pitchFamily="34" charset="0"/>
                <a:ea typeface="Calibri" pitchFamily="34" charset="-122"/>
                <a:cs typeface="Calibri" pitchFamily="34" charset="-120"/>
              </a:rPr>
              <a:t>All three of these layers are implemented on every network node — including switches and routers, not just end hosts.</a:t>
            </a:r>
            <a:endParaRPr lang="en-US" sz="2400" dirty="0"/>
          </a:p>
        </p:txBody>
      </p:sp>
      <p:sp>
        <p:nvSpPr>
          <p:cNvPr id="7" name="Text 4"/>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TOPIC 5 · OSI MODEL</a:t>
            </a:r>
            <a:endParaRPr lang="en-US" sz="1000" dirty="0"/>
          </a:p>
        </p:txBody>
      </p:sp>
      <p:sp>
        <p:nvSpPr>
          <p:cNvPr id="8" name="TextBox 7"/>
          <p:cNvSpPr txBox="1"/>
          <p:nvPr/>
        </p:nvSpPr>
        <p:spPr>
          <a:xfrm>
            <a:off x="11792000" y="6638000"/>
            <a:ext cx="200000" cy="100000"/>
          </a:xfrm>
          <a:prstGeom prst="rect">
            <a:avLst/>
          </a:prstGeom>
          <a:noFill/>
        </p:spPr>
        <p:txBody>
          <a:bodyPr wrap="none">
            <a:spAutoFit/>
          </a:bodyPr>
          <a:lstStyle/>
          <a:p>
            <a:pPr>
              <a:defRPr sz="1000"/>
            </a:pPr>
            <a:r>
              <a:t>35</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0091AD"/>
                </a:solidFill>
                <a:latin typeface="Calibri" pitchFamily="34" charset="0"/>
                <a:ea typeface="Calibri" pitchFamily="34" charset="-122"/>
                <a:cs typeface="Calibri" pitchFamily="34" charset="-120"/>
              </a:rPr>
              <a:t>TOPIC 5 · OSI MODEL</a:t>
            </a:r>
            <a:endParaRPr lang="en-US" sz="1200" dirty="0"/>
          </a:p>
        </p:txBody>
      </p:sp>
      <p:sp>
        <p:nvSpPr>
          <p:cNvPr id="3" name="Text 1"/>
          <p:cNvSpPr/>
          <p:nvPr/>
        </p:nvSpPr>
        <p:spPr>
          <a:xfrm>
            <a:off x="548640" y="566928"/>
            <a:ext cx="10424160" cy="822960"/>
          </a:xfrm>
          <a:prstGeom prst="rect">
            <a:avLst/>
          </a:prstGeom>
          <a:noFill/>
          <a:ln/>
        </p:spPr>
        <p:txBody>
          <a:bodyPr wrap="square" lIns="0" tIns="0" rIns="0" bIns="0" rtlCol="0" anchor="t"/>
          <a:lstStyle/>
          <a:p>
            <a:pPr marL="0" indent="0">
              <a:buNone/>
            </a:pPr>
            <a:r>
              <a:rPr lang="en-US" sz="3000" b="1" dirty="0">
                <a:solidFill>
                  <a:srgbClr val="13315C"/>
                </a:solidFill>
                <a:latin typeface="Bookman Old Style" pitchFamily="34" charset="0"/>
                <a:ea typeface="Bookman Old Style" pitchFamily="34" charset="-122"/>
                <a:cs typeface="Bookman Old Style" pitchFamily="34" charset="-120"/>
              </a:rPr>
              <a:t>Layer 4: Transport</a:t>
            </a:r>
            <a:endParaRPr lang="en-US" sz="3000" dirty="0"/>
          </a:p>
        </p:txBody>
      </p:sp>
      <p:sp>
        <p:nvSpPr>
          <p:cNvPr id="6" name="Text 3"/>
          <p:cNvSpPr/>
          <p:nvPr/>
        </p:nvSpPr>
        <p:spPr>
          <a:xfrm>
            <a:off x="548640" y="1339596"/>
            <a:ext cx="11064240" cy="4389120"/>
          </a:xfrm>
          <a:prstGeom prst="rect">
            <a:avLst/>
          </a:prstGeom>
          <a:noFill/>
          <a:ln/>
        </p:spPr>
        <p:txBody>
          <a:bodyPr wrap="square" lIns="0" tIns="0" rIns="0" bIns="0" rtlCol="0" anchor="t"/>
          <a:lstStyle/>
          <a:p>
            <a:pPr marL="342900" indent="-342900">
              <a:lnSpc>
                <a:spcPct val="108000"/>
              </a:lnSpc>
              <a:spcAft>
                <a:spcPts val="1200"/>
              </a:spcAft>
              <a:buSzPct val="100000"/>
              <a:buChar char="●"/>
            </a:pPr>
            <a:r>
              <a:rPr lang="en-US" sz="3200" dirty="0">
                <a:solidFill>
                  <a:srgbClr val="13315C"/>
                </a:solidFill>
                <a:latin typeface="Calibri" pitchFamily="34" charset="0"/>
                <a:ea typeface="Calibri" pitchFamily="34" charset="-122"/>
                <a:cs typeface="Calibri" pitchFamily="34" charset="-120"/>
              </a:rPr>
              <a:t>The transport layer implements what we've been calling a process-to-process channel.</a:t>
            </a:r>
            <a:endParaRPr lang="en-US" sz="3200" dirty="0"/>
          </a:p>
          <a:p>
            <a:pPr marL="342900" indent="-342900">
              <a:lnSpc>
                <a:spcPct val="108000"/>
              </a:lnSpc>
              <a:spcAft>
                <a:spcPts val="1200"/>
              </a:spcAft>
              <a:buSzPct val="100000"/>
              <a:buChar char="●"/>
            </a:pPr>
            <a:r>
              <a:rPr lang="en-US" sz="3200" dirty="0">
                <a:solidFill>
                  <a:srgbClr val="13315C"/>
                </a:solidFill>
                <a:latin typeface="Calibri" pitchFamily="34" charset="0"/>
                <a:ea typeface="Calibri" pitchFamily="34" charset="-122"/>
                <a:cs typeface="Calibri" pitchFamily="34" charset="-120"/>
              </a:rPr>
              <a:t>The unit of data exchanged here is commonly called a message, rather than a packet or frame.</a:t>
            </a:r>
            <a:endParaRPr lang="en-US" sz="3200" dirty="0"/>
          </a:p>
          <a:p>
            <a:pPr marL="342900" indent="-342900">
              <a:lnSpc>
                <a:spcPct val="108000"/>
              </a:lnSpc>
              <a:spcAft>
                <a:spcPts val="1200"/>
              </a:spcAft>
              <a:buSzPct val="100000"/>
              <a:buChar char="●"/>
            </a:pPr>
            <a:r>
              <a:rPr lang="en-US" sz="3200" dirty="0">
                <a:solidFill>
                  <a:srgbClr val="13315C"/>
                </a:solidFill>
                <a:latin typeface="Calibri" pitchFamily="34" charset="0"/>
                <a:ea typeface="Calibri" pitchFamily="34" charset="-122"/>
                <a:cs typeface="Calibri" pitchFamily="34" charset="-120"/>
              </a:rPr>
              <a:t>The transport layer — and every layer above it — typically runs only on end hosts, not on intermediate switches or routers.</a:t>
            </a:r>
            <a:endParaRPr lang="en-US" sz="3200" dirty="0"/>
          </a:p>
          <a:p>
            <a:pPr marL="342900" indent="-342900">
              <a:lnSpc>
                <a:spcPct val="108000"/>
              </a:lnSpc>
              <a:spcAft>
                <a:spcPts val="1200"/>
              </a:spcAft>
              <a:buSzPct val="100000"/>
              <a:buChar char="●"/>
            </a:pPr>
            <a:r>
              <a:rPr lang="en-US" sz="3200" dirty="0">
                <a:solidFill>
                  <a:srgbClr val="13315C"/>
                </a:solidFill>
                <a:latin typeface="Calibri" pitchFamily="34" charset="0"/>
                <a:ea typeface="Calibri" pitchFamily="34" charset="-122"/>
                <a:cs typeface="Calibri" pitchFamily="34" charset="-120"/>
              </a:rPr>
              <a:t>This is the layer where reliability, ordering, and flow control between two communicating processes are usually handled.</a:t>
            </a:r>
            <a:endParaRPr lang="en-US" sz="3200" dirty="0"/>
          </a:p>
        </p:txBody>
      </p:sp>
      <p:sp>
        <p:nvSpPr>
          <p:cNvPr id="7" name="Text 4"/>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TOPIC 5 · OSI MODEL</a:t>
            </a:r>
            <a:endParaRPr lang="en-US" sz="1000" dirty="0"/>
          </a:p>
        </p:txBody>
      </p:sp>
      <p:sp>
        <p:nvSpPr>
          <p:cNvPr id="8" name="TextBox 7"/>
          <p:cNvSpPr txBox="1"/>
          <p:nvPr/>
        </p:nvSpPr>
        <p:spPr>
          <a:xfrm>
            <a:off x="11792000" y="6638000"/>
            <a:ext cx="200000" cy="100000"/>
          </a:xfrm>
          <a:prstGeom prst="rect">
            <a:avLst/>
          </a:prstGeom>
          <a:noFill/>
        </p:spPr>
        <p:txBody>
          <a:bodyPr wrap="none">
            <a:spAutoFit/>
          </a:bodyPr>
          <a:lstStyle/>
          <a:p>
            <a:pPr>
              <a:defRPr sz="1000"/>
            </a:pPr>
            <a:r>
              <a:t>36</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0091AD"/>
                </a:solidFill>
                <a:latin typeface="Calibri" pitchFamily="34" charset="0"/>
                <a:ea typeface="Calibri" pitchFamily="34" charset="-122"/>
                <a:cs typeface="Calibri" pitchFamily="34" charset="-120"/>
              </a:rPr>
              <a:t>TOPIC 5 · OSI MODEL</a:t>
            </a:r>
            <a:endParaRPr lang="en-US" sz="1200" dirty="0"/>
          </a:p>
        </p:txBody>
      </p:sp>
      <p:sp>
        <p:nvSpPr>
          <p:cNvPr id="3" name="Text 1"/>
          <p:cNvSpPr/>
          <p:nvPr/>
        </p:nvSpPr>
        <p:spPr>
          <a:xfrm>
            <a:off x="548640" y="566928"/>
            <a:ext cx="10424160" cy="822960"/>
          </a:xfrm>
          <a:prstGeom prst="rect">
            <a:avLst/>
          </a:prstGeom>
          <a:noFill/>
          <a:ln/>
        </p:spPr>
        <p:txBody>
          <a:bodyPr wrap="square" lIns="0" tIns="0" rIns="0" bIns="0" rtlCol="0" anchor="t"/>
          <a:lstStyle/>
          <a:p>
            <a:pPr marL="0" indent="0">
              <a:buNone/>
            </a:pPr>
            <a:r>
              <a:rPr lang="en-US" sz="3000" b="1" dirty="0">
                <a:solidFill>
                  <a:srgbClr val="13315C"/>
                </a:solidFill>
                <a:latin typeface="Bookman Old Style" pitchFamily="34" charset="0"/>
                <a:ea typeface="Bookman Old Style" pitchFamily="34" charset="-122"/>
                <a:cs typeface="Bookman Old Style" pitchFamily="34" charset="-120"/>
              </a:rPr>
              <a:t>Layers 5-7: Session, Presentation, Application</a:t>
            </a:r>
            <a:endParaRPr lang="en-US" sz="3000" dirty="0"/>
          </a:p>
        </p:txBody>
      </p:sp>
      <p:sp>
        <p:nvSpPr>
          <p:cNvPr id="6" name="Text 3"/>
          <p:cNvSpPr/>
          <p:nvPr/>
        </p:nvSpPr>
        <p:spPr>
          <a:xfrm>
            <a:off x="548640" y="1389888"/>
            <a:ext cx="11064240" cy="4572000"/>
          </a:xfrm>
          <a:prstGeom prst="rect">
            <a:avLst/>
          </a:prstGeom>
          <a:noFill/>
          <a:ln/>
        </p:spPr>
        <p:txBody>
          <a:bodyPr wrap="square" lIns="0" tIns="0" rIns="0" bIns="0" rtlCol="0" anchor="t"/>
          <a:lstStyle/>
          <a:p>
            <a:pPr marL="342900" indent="-342900">
              <a:lnSpc>
                <a:spcPct val="108000"/>
              </a:lnSpc>
              <a:spcAft>
                <a:spcPts val="1200"/>
              </a:spcAft>
              <a:buSzPct val="100000"/>
              <a:buChar char="●"/>
            </a:pPr>
            <a:r>
              <a:rPr lang="en-US" sz="2800" b="1" dirty="0">
                <a:solidFill>
                  <a:srgbClr val="13315C"/>
                </a:solidFill>
                <a:latin typeface="Calibri" pitchFamily="34" charset="0"/>
                <a:ea typeface="Calibri" pitchFamily="34" charset="-122"/>
                <a:cs typeface="Calibri" pitchFamily="34" charset="-120"/>
              </a:rPr>
              <a:t>Layer 5 — Session:</a:t>
            </a:r>
            <a:endParaRPr lang="en-US" sz="2800" dirty="0"/>
          </a:p>
          <a:p>
            <a:pPr marL="685800" lvl="1" indent="-342900">
              <a:lnSpc>
                <a:spcPct val="108000"/>
              </a:lnSpc>
              <a:spcAft>
                <a:spcPts val="600"/>
              </a:spcAft>
              <a:buSzPct val="100000"/>
              <a:buChar char="–"/>
            </a:pPr>
            <a:r>
              <a:rPr lang="en-US" sz="2400" dirty="0">
                <a:solidFill>
                  <a:srgbClr val="13315C"/>
                </a:solidFill>
                <a:latin typeface="Calibri" pitchFamily="34" charset="0"/>
                <a:ea typeface="Calibri" pitchFamily="34" charset="-122"/>
                <a:cs typeface="Calibri" pitchFamily="34" charset="-120"/>
              </a:rPr>
              <a:t>Provides a name space tying together potentially different transport streams belonging to one application — e.g. managing an audio stream and a video stream together in a teleconferencing app.</a:t>
            </a:r>
            <a:endParaRPr lang="en-US" sz="2800" dirty="0"/>
          </a:p>
          <a:p>
            <a:pPr marL="342900" indent="-342900">
              <a:lnSpc>
                <a:spcPct val="108000"/>
              </a:lnSpc>
              <a:spcAft>
                <a:spcPts val="1200"/>
              </a:spcAft>
              <a:buSzPct val="100000"/>
              <a:buChar char="●"/>
            </a:pPr>
            <a:r>
              <a:rPr lang="en-US" sz="2800" b="1" dirty="0">
                <a:solidFill>
                  <a:srgbClr val="13315C"/>
                </a:solidFill>
                <a:latin typeface="Calibri" pitchFamily="34" charset="0"/>
                <a:ea typeface="Calibri" pitchFamily="34" charset="-122"/>
                <a:cs typeface="Calibri" pitchFamily="34" charset="-120"/>
              </a:rPr>
              <a:t>Layer 6 — Presentation:</a:t>
            </a:r>
            <a:endParaRPr lang="en-US" sz="2800" dirty="0"/>
          </a:p>
          <a:p>
            <a:pPr marL="685800" lvl="1" indent="-342900">
              <a:lnSpc>
                <a:spcPct val="108000"/>
              </a:lnSpc>
              <a:spcAft>
                <a:spcPts val="600"/>
              </a:spcAft>
              <a:buSzPct val="100000"/>
              <a:buChar char="–"/>
            </a:pPr>
            <a:r>
              <a:rPr lang="en-US" sz="2400" dirty="0">
                <a:solidFill>
                  <a:srgbClr val="13315C"/>
                </a:solidFill>
                <a:latin typeface="Calibri" pitchFamily="34" charset="0"/>
                <a:ea typeface="Calibri" pitchFamily="34" charset="-122"/>
                <a:cs typeface="Calibri" pitchFamily="34" charset="-120"/>
              </a:rPr>
              <a:t>Concerned with the format of exchanged data — e.g. integer size (16/32/64-bit), byte order, or video stream format.</a:t>
            </a:r>
            <a:endParaRPr lang="en-US" sz="2800" dirty="0"/>
          </a:p>
          <a:p>
            <a:pPr marL="342900" indent="-342900">
              <a:lnSpc>
                <a:spcPct val="108000"/>
              </a:lnSpc>
              <a:spcAft>
                <a:spcPts val="1200"/>
              </a:spcAft>
              <a:buSzPct val="100000"/>
              <a:buChar char="●"/>
            </a:pPr>
            <a:r>
              <a:rPr lang="en-US" sz="2800" b="1" dirty="0">
                <a:solidFill>
                  <a:srgbClr val="13315C"/>
                </a:solidFill>
                <a:latin typeface="Calibri" pitchFamily="34" charset="0"/>
                <a:ea typeface="Calibri" pitchFamily="34" charset="-122"/>
                <a:cs typeface="Calibri" pitchFamily="34" charset="-120"/>
              </a:rPr>
              <a:t>Layer 7 — Application:</a:t>
            </a:r>
            <a:endParaRPr lang="en-US" sz="2800" dirty="0"/>
          </a:p>
          <a:p>
            <a:pPr marL="685800" lvl="1" indent="-342900">
              <a:lnSpc>
                <a:spcPct val="108000"/>
              </a:lnSpc>
              <a:spcAft>
                <a:spcPts val="600"/>
              </a:spcAft>
              <a:buSzPct val="100000"/>
              <a:buChar char="–"/>
            </a:pPr>
            <a:r>
              <a:rPr lang="en-US" sz="2400" dirty="0">
                <a:solidFill>
                  <a:srgbClr val="13315C"/>
                </a:solidFill>
                <a:latin typeface="Calibri" pitchFamily="34" charset="0"/>
                <a:ea typeface="Calibri" pitchFamily="34" charset="-122"/>
                <a:cs typeface="Calibri" pitchFamily="34" charset="-120"/>
              </a:rPr>
              <a:t>Where application protocols like HTTP live — the basis of the Web, enabling browsers to request pages from servers.</a:t>
            </a:r>
            <a:endParaRPr lang="en-US" sz="2800" dirty="0"/>
          </a:p>
        </p:txBody>
      </p:sp>
      <p:sp>
        <p:nvSpPr>
          <p:cNvPr id="7" name="Text 4"/>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TOPIC 5 · OSI MODEL</a:t>
            </a:r>
            <a:endParaRPr lang="en-US" sz="1000" dirty="0"/>
          </a:p>
        </p:txBody>
      </p:sp>
      <p:sp>
        <p:nvSpPr>
          <p:cNvPr id="8" name="TextBox 7"/>
          <p:cNvSpPr txBox="1"/>
          <p:nvPr/>
        </p:nvSpPr>
        <p:spPr>
          <a:xfrm>
            <a:off x="11792000" y="6638000"/>
            <a:ext cx="200000" cy="100000"/>
          </a:xfrm>
          <a:prstGeom prst="rect">
            <a:avLst/>
          </a:prstGeom>
          <a:noFill/>
        </p:spPr>
        <p:txBody>
          <a:bodyPr wrap="none">
            <a:spAutoFit/>
          </a:bodyPr>
          <a:lstStyle/>
          <a:p>
            <a:pPr>
              <a:defRPr sz="1000"/>
            </a:pPr>
            <a:r>
              <a:t>37</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0091AD"/>
                </a:solidFill>
                <a:latin typeface="Calibri" pitchFamily="34" charset="0"/>
                <a:ea typeface="Calibri" pitchFamily="34" charset="-122"/>
                <a:cs typeface="Calibri" pitchFamily="34" charset="-120"/>
              </a:rPr>
              <a:t>TOPIC 5 · OSI MODEL</a:t>
            </a:r>
            <a:endParaRPr lang="en-US" sz="1200" dirty="0"/>
          </a:p>
        </p:txBody>
      </p:sp>
      <p:sp>
        <p:nvSpPr>
          <p:cNvPr id="3" name="Text 1"/>
          <p:cNvSpPr/>
          <p:nvPr/>
        </p:nvSpPr>
        <p:spPr>
          <a:xfrm>
            <a:off x="548640" y="566928"/>
            <a:ext cx="10424160" cy="822960"/>
          </a:xfrm>
          <a:prstGeom prst="rect">
            <a:avLst/>
          </a:prstGeom>
          <a:noFill/>
          <a:ln/>
        </p:spPr>
        <p:txBody>
          <a:bodyPr wrap="square" lIns="0" tIns="0" rIns="0" bIns="0" rtlCol="0" anchor="t"/>
          <a:lstStyle/>
          <a:p>
            <a:pPr marL="0" indent="0">
              <a:buNone/>
            </a:pPr>
            <a:r>
              <a:rPr lang="en-US" sz="3000" b="1" dirty="0">
                <a:solidFill>
                  <a:srgbClr val="13315C"/>
                </a:solidFill>
                <a:latin typeface="Bookman Old Style" pitchFamily="34" charset="0"/>
                <a:ea typeface="Bookman Old Style" pitchFamily="34" charset="-122"/>
                <a:cs typeface="Bookman Old Style" pitchFamily="34" charset="-120"/>
              </a:rPr>
              <a:t>How Data Flows Through the OSI Stack</a:t>
            </a:r>
            <a:endParaRPr lang="en-US" sz="3000" dirty="0"/>
          </a:p>
        </p:txBody>
      </p:sp>
      <p:sp>
        <p:nvSpPr>
          <p:cNvPr id="6" name="Text 3"/>
          <p:cNvSpPr/>
          <p:nvPr/>
        </p:nvSpPr>
        <p:spPr>
          <a:xfrm>
            <a:off x="579120" y="1197280"/>
            <a:ext cx="11064240" cy="1920240"/>
          </a:xfrm>
          <a:prstGeom prst="rect">
            <a:avLst/>
          </a:prstGeom>
          <a:noFill/>
          <a:ln/>
        </p:spPr>
        <p:txBody>
          <a:bodyPr wrap="square" lIns="0" tIns="0" rIns="0" bIns="0" rtlCol="0" anchor="t"/>
          <a:lstStyle/>
          <a:p>
            <a:pPr marL="342900" indent="-342900">
              <a:lnSpc>
                <a:spcPct val="108000"/>
              </a:lnSpc>
              <a:spcAft>
                <a:spcPts val="1200"/>
              </a:spcAft>
              <a:buSzPct val="100000"/>
              <a:buChar char="●"/>
            </a:pPr>
            <a:r>
              <a:rPr lang="en-US" dirty="0">
                <a:solidFill>
                  <a:srgbClr val="13315C"/>
                </a:solidFill>
                <a:latin typeface="Calibri" pitchFamily="34" charset="0"/>
                <a:ea typeface="Calibri" pitchFamily="34" charset="-122"/>
                <a:cs typeface="Calibri" pitchFamily="34" charset="-120"/>
              </a:rPr>
              <a:t>On the sending host, data flows DOWN through the 7 layers — each layer encapsulates the data with its own header (Application → ... → Physical).</a:t>
            </a:r>
            <a:endParaRPr lang="en-US" dirty="0"/>
          </a:p>
          <a:p>
            <a:pPr marL="342900" indent="-342900">
              <a:lnSpc>
                <a:spcPct val="108000"/>
              </a:lnSpc>
              <a:spcAft>
                <a:spcPts val="1200"/>
              </a:spcAft>
              <a:buSzPct val="100000"/>
              <a:buChar char="●"/>
            </a:pPr>
            <a:r>
              <a:rPr lang="en-US" dirty="0">
                <a:solidFill>
                  <a:srgbClr val="13315C"/>
                </a:solidFill>
                <a:latin typeface="Calibri" pitchFamily="34" charset="0"/>
                <a:ea typeface="Calibri" pitchFamily="34" charset="-122"/>
                <a:cs typeface="Calibri" pitchFamily="34" charset="-120"/>
              </a:rPr>
              <a:t>The Physical layer transmits raw bits across the link to the next node.</a:t>
            </a:r>
            <a:endParaRPr lang="en-US" dirty="0"/>
          </a:p>
          <a:p>
            <a:pPr marL="342900" indent="-342900">
              <a:lnSpc>
                <a:spcPct val="108000"/>
              </a:lnSpc>
              <a:spcAft>
                <a:spcPts val="1200"/>
              </a:spcAft>
              <a:buSzPct val="100000"/>
              <a:buChar char="●"/>
            </a:pPr>
            <a:r>
              <a:rPr lang="en-US" dirty="0">
                <a:solidFill>
                  <a:srgbClr val="13315C"/>
                </a:solidFill>
                <a:latin typeface="Calibri" pitchFamily="34" charset="0"/>
                <a:ea typeface="Calibri" pitchFamily="34" charset="-122"/>
                <a:cs typeface="Calibri" pitchFamily="34" charset="-120"/>
              </a:rPr>
              <a:t>On the receiving host, data flows UP through the layers — each layer strips its own header and passes the rest upward (Physical → ... → Application).</a:t>
            </a:r>
            <a:endParaRPr lang="en-US" dirty="0"/>
          </a:p>
          <a:p>
            <a:pPr marL="342900" indent="-342900">
              <a:lnSpc>
                <a:spcPct val="108000"/>
              </a:lnSpc>
              <a:spcAft>
                <a:spcPts val="1200"/>
              </a:spcAft>
              <a:buSzPct val="100000"/>
              <a:buChar char="●"/>
            </a:pPr>
            <a:r>
              <a:rPr lang="en-US" dirty="0">
                <a:solidFill>
                  <a:srgbClr val="13315C"/>
                </a:solidFill>
                <a:latin typeface="Calibri" pitchFamily="34" charset="0"/>
                <a:ea typeface="Calibri" pitchFamily="34" charset="-122"/>
                <a:cs typeface="Calibri" pitchFamily="34" charset="-120"/>
              </a:rPr>
              <a:t>Intermediate devices (like routers) only process up through Layer 3 before forwarding the packet back down and out.</a:t>
            </a:r>
            <a:endParaRPr lang="en-US" dirty="0"/>
          </a:p>
        </p:txBody>
      </p:sp>
      <p:sp>
        <p:nvSpPr>
          <p:cNvPr id="7" name="Shape 4"/>
          <p:cNvSpPr/>
          <p:nvPr/>
        </p:nvSpPr>
        <p:spPr>
          <a:xfrm>
            <a:off x="914400" y="3749040"/>
            <a:ext cx="1234440" cy="502920"/>
          </a:xfrm>
          <a:prstGeom prst="roundRect">
            <a:avLst>
              <a:gd name="adj" fmla="val 7273"/>
            </a:avLst>
          </a:prstGeom>
          <a:solidFill>
            <a:srgbClr val="0B2545"/>
          </a:solidFill>
          <a:ln w="12700">
            <a:solidFill>
              <a:srgbClr val="D8E2ED"/>
            </a:solidFill>
            <a:prstDash val="solid"/>
          </a:ln>
        </p:spPr>
        <p:txBody>
          <a:bodyPr/>
          <a:lstStyle/>
          <a:p>
            <a:endParaRPr/>
          </a:p>
        </p:txBody>
      </p:sp>
      <p:sp>
        <p:nvSpPr>
          <p:cNvPr id="8" name="Text 5"/>
          <p:cNvSpPr/>
          <p:nvPr/>
        </p:nvSpPr>
        <p:spPr>
          <a:xfrm>
            <a:off x="914400" y="3749040"/>
            <a:ext cx="123444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App</a:t>
            </a:r>
            <a:endParaRPr lang="en-US" sz="1100" dirty="0"/>
          </a:p>
        </p:txBody>
      </p:sp>
      <p:sp>
        <p:nvSpPr>
          <p:cNvPr id="9" name="Shape 6"/>
          <p:cNvSpPr/>
          <p:nvPr/>
        </p:nvSpPr>
        <p:spPr>
          <a:xfrm>
            <a:off x="2286000" y="3749040"/>
            <a:ext cx="1234440" cy="502920"/>
          </a:xfrm>
          <a:prstGeom prst="roundRect">
            <a:avLst>
              <a:gd name="adj" fmla="val 7273"/>
            </a:avLst>
          </a:prstGeom>
          <a:solidFill>
            <a:srgbClr val="0091AD"/>
          </a:solidFill>
          <a:ln w="12700">
            <a:solidFill>
              <a:srgbClr val="D8E2ED"/>
            </a:solidFill>
            <a:prstDash val="solid"/>
          </a:ln>
        </p:spPr>
        <p:txBody>
          <a:bodyPr/>
          <a:lstStyle/>
          <a:p>
            <a:endParaRPr/>
          </a:p>
        </p:txBody>
      </p:sp>
      <p:sp>
        <p:nvSpPr>
          <p:cNvPr id="10" name="Text 7"/>
          <p:cNvSpPr/>
          <p:nvPr/>
        </p:nvSpPr>
        <p:spPr>
          <a:xfrm>
            <a:off x="2286000" y="3749040"/>
            <a:ext cx="123444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Pres</a:t>
            </a:r>
            <a:endParaRPr lang="en-US" sz="1100" dirty="0"/>
          </a:p>
        </p:txBody>
      </p:sp>
      <p:sp>
        <p:nvSpPr>
          <p:cNvPr id="11" name="Shape 8"/>
          <p:cNvSpPr/>
          <p:nvPr/>
        </p:nvSpPr>
        <p:spPr>
          <a:xfrm>
            <a:off x="3657600" y="3749040"/>
            <a:ext cx="1234440" cy="502920"/>
          </a:xfrm>
          <a:prstGeom prst="roundRect">
            <a:avLst>
              <a:gd name="adj" fmla="val 7273"/>
            </a:avLst>
          </a:prstGeom>
          <a:solidFill>
            <a:srgbClr val="0B2545"/>
          </a:solidFill>
          <a:ln w="12700">
            <a:solidFill>
              <a:srgbClr val="D8E2ED"/>
            </a:solidFill>
            <a:prstDash val="solid"/>
          </a:ln>
        </p:spPr>
        <p:txBody>
          <a:bodyPr/>
          <a:lstStyle/>
          <a:p>
            <a:endParaRPr/>
          </a:p>
        </p:txBody>
      </p:sp>
      <p:sp>
        <p:nvSpPr>
          <p:cNvPr id="12" name="Text 9"/>
          <p:cNvSpPr/>
          <p:nvPr/>
        </p:nvSpPr>
        <p:spPr>
          <a:xfrm>
            <a:off x="3657600" y="3749040"/>
            <a:ext cx="123444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Sess</a:t>
            </a:r>
            <a:endParaRPr lang="en-US" sz="1100" dirty="0"/>
          </a:p>
        </p:txBody>
      </p:sp>
      <p:sp>
        <p:nvSpPr>
          <p:cNvPr id="13" name="Shape 10"/>
          <p:cNvSpPr/>
          <p:nvPr/>
        </p:nvSpPr>
        <p:spPr>
          <a:xfrm>
            <a:off x="5029200" y="3749040"/>
            <a:ext cx="1234440" cy="502920"/>
          </a:xfrm>
          <a:prstGeom prst="roundRect">
            <a:avLst>
              <a:gd name="adj" fmla="val 7273"/>
            </a:avLst>
          </a:prstGeom>
          <a:solidFill>
            <a:srgbClr val="0091AD"/>
          </a:solidFill>
          <a:ln w="12700">
            <a:solidFill>
              <a:srgbClr val="D8E2ED"/>
            </a:solidFill>
            <a:prstDash val="solid"/>
          </a:ln>
        </p:spPr>
        <p:txBody>
          <a:bodyPr/>
          <a:lstStyle/>
          <a:p>
            <a:endParaRPr/>
          </a:p>
        </p:txBody>
      </p:sp>
      <p:sp>
        <p:nvSpPr>
          <p:cNvPr id="14" name="Text 11"/>
          <p:cNvSpPr/>
          <p:nvPr/>
        </p:nvSpPr>
        <p:spPr>
          <a:xfrm>
            <a:off x="5029200" y="3749040"/>
            <a:ext cx="123444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Trans</a:t>
            </a:r>
            <a:endParaRPr lang="en-US" sz="1100" dirty="0"/>
          </a:p>
        </p:txBody>
      </p:sp>
      <p:sp>
        <p:nvSpPr>
          <p:cNvPr id="15" name="Shape 12"/>
          <p:cNvSpPr/>
          <p:nvPr/>
        </p:nvSpPr>
        <p:spPr>
          <a:xfrm>
            <a:off x="6400800" y="3749040"/>
            <a:ext cx="1234440" cy="502920"/>
          </a:xfrm>
          <a:prstGeom prst="roundRect">
            <a:avLst>
              <a:gd name="adj" fmla="val 7273"/>
            </a:avLst>
          </a:prstGeom>
          <a:solidFill>
            <a:srgbClr val="0B2545"/>
          </a:solidFill>
          <a:ln w="12700">
            <a:solidFill>
              <a:srgbClr val="D8E2ED"/>
            </a:solidFill>
            <a:prstDash val="solid"/>
          </a:ln>
        </p:spPr>
        <p:txBody>
          <a:bodyPr/>
          <a:lstStyle/>
          <a:p>
            <a:endParaRPr/>
          </a:p>
        </p:txBody>
      </p:sp>
      <p:sp>
        <p:nvSpPr>
          <p:cNvPr id="16" name="Text 13"/>
          <p:cNvSpPr/>
          <p:nvPr/>
        </p:nvSpPr>
        <p:spPr>
          <a:xfrm>
            <a:off x="6400800" y="3749040"/>
            <a:ext cx="123444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Net</a:t>
            </a:r>
            <a:endParaRPr lang="en-US" sz="1100" dirty="0"/>
          </a:p>
        </p:txBody>
      </p:sp>
      <p:sp>
        <p:nvSpPr>
          <p:cNvPr id="17" name="Shape 14"/>
          <p:cNvSpPr/>
          <p:nvPr/>
        </p:nvSpPr>
        <p:spPr>
          <a:xfrm>
            <a:off x="7772400" y="3749040"/>
            <a:ext cx="1234440" cy="502920"/>
          </a:xfrm>
          <a:prstGeom prst="roundRect">
            <a:avLst>
              <a:gd name="adj" fmla="val 7273"/>
            </a:avLst>
          </a:prstGeom>
          <a:solidFill>
            <a:srgbClr val="0091AD"/>
          </a:solidFill>
          <a:ln w="12700">
            <a:solidFill>
              <a:srgbClr val="D8E2ED"/>
            </a:solidFill>
            <a:prstDash val="solid"/>
          </a:ln>
        </p:spPr>
        <p:txBody>
          <a:bodyPr/>
          <a:lstStyle/>
          <a:p>
            <a:endParaRPr/>
          </a:p>
        </p:txBody>
      </p:sp>
      <p:sp>
        <p:nvSpPr>
          <p:cNvPr id="18" name="Text 15"/>
          <p:cNvSpPr/>
          <p:nvPr/>
        </p:nvSpPr>
        <p:spPr>
          <a:xfrm>
            <a:off x="7772400" y="3749040"/>
            <a:ext cx="123444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Link</a:t>
            </a:r>
            <a:endParaRPr lang="en-US" sz="1100" dirty="0"/>
          </a:p>
        </p:txBody>
      </p:sp>
      <p:sp>
        <p:nvSpPr>
          <p:cNvPr id="19" name="Shape 16"/>
          <p:cNvSpPr/>
          <p:nvPr/>
        </p:nvSpPr>
        <p:spPr>
          <a:xfrm>
            <a:off x="9144000" y="3749040"/>
            <a:ext cx="1234440" cy="502920"/>
          </a:xfrm>
          <a:prstGeom prst="roundRect">
            <a:avLst>
              <a:gd name="adj" fmla="val 7273"/>
            </a:avLst>
          </a:prstGeom>
          <a:solidFill>
            <a:srgbClr val="0B2545"/>
          </a:solidFill>
          <a:ln w="12700">
            <a:solidFill>
              <a:srgbClr val="D8E2ED"/>
            </a:solidFill>
            <a:prstDash val="solid"/>
          </a:ln>
        </p:spPr>
        <p:txBody>
          <a:bodyPr/>
          <a:lstStyle/>
          <a:p>
            <a:endParaRPr/>
          </a:p>
        </p:txBody>
      </p:sp>
      <p:sp>
        <p:nvSpPr>
          <p:cNvPr id="20" name="Text 17"/>
          <p:cNvSpPr/>
          <p:nvPr/>
        </p:nvSpPr>
        <p:spPr>
          <a:xfrm>
            <a:off x="9144000" y="3749040"/>
            <a:ext cx="123444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Phy</a:t>
            </a:r>
            <a:endParaRPr lang="en-US" sz="1100" dirty="0"/>
          </a:p>
        </p:txBody>
      </p:sp>
      <p:sp>
        <p:nvSpPr>
          <p:cNvPr id="21" name="Shape 18"/>
          <p:cNvSpPr/>
          <p:nvPr/>
        </p:nvSpPr>
        <p:spPr>
          <a:xfrm>
            <a:off x="2148840" y="4526280"/>
            <a:ext cx="8229600" cy="0"/>
          </a:xfrm>
          <a:prstGeom prst="line">
            <a:avLst/>
          </a:prstGeom>
          <a:noFill/>
          <a:ln w="19050">
            <a:solidFill>
              <a:srgbClr val="5B6B82"/>
            </a:solidFill>
            <a:prstDash val="solid"/>
            <a:tailEnd type="triangle"/>
          </a:ln>
        </p:spPr>
        <p:txBody>
          <a:bodyPr/>
          <a:lstStyle/>
          <a:p>
            <a:endParaRPr/>
          </a:p>
        </p:txBody>
      </p:sp>
      <p:sp>
        <p:nvSpPr>
          <p:cNvPr id="22" name="Text 19"/>
          <p:cNvSpPr/>
          <p:nvPr/>
        </p:nvSpPr>
        <p:spPr>
          <a:xfrm>
            <a:off x="822960" y="4617720"/>
            <a:ext cx="10515600" cy="548640"/>
          </a:xfrm>
          <a:prstGeom prst="rect">
            <a:avLst/>
          </a:prstGeom>
          <a:noFill/>
          <a:ln/>
        </p:spPr>
        <p:txBody>
          <a:bodyPr wrap="square" lIns="0" tIns="0" rIns="0" bIns="0" rtlCol="0" anchor="ctr"/>
          <a:lstStyle/>
          <a:p>
            <a:pPr marL="0" indent="0" algn="ctr">
              <a:buNone/>
            </a:pPr>
            <a:r>
              <a:rPr lang="en-US" sz="1200" i="1" dirty="0">
                <a:solidFill>
                  <a:srgbClr val="5B6B82"/>
                </a:solidFill>
                <a:latin typeface="Calibri" pitchFamily="34" charset="0"/>
                <a:ea typeface="Calibri" pitchFamily="34" charset="-122"/>
                <a:cs typeface="Calibri" pitchFamily="34" charset="-120"/>
              </a:rPr>
              <a:t>Sender: data travels down, gaining a header at each layer  →  Physical link  →  Receiver: data travels up, losing a header at each layer</a:t>
            </a:r>
            <a:endParaRPr lang="en-US" sz="1200" dirty="0"/>
          </a:p>
        </p:txBody>
      </p:sp>
      <p:sp>
        <p:nvSpPr>
          <p:cNvPr id="23" name="Text 20"/>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TOPIC 5 · OSI MODEL</a:t>
            </a:r>
            <a:endParaRPr lang="en-US" sz="1000" dirty="0"/>
          </a:p>
        </p:txBody>
      </p:sp>
      <p:sp>
        <p:nvSpPr>
          <p:cNvPr id="24" name="TextBox 23"/>
          <p:cNvSpPr txBox="1"/>
          <p:nvPr/>
        </p:nvSpPr>
        <p:spPr>
          <a:xfrm>
            <a:off x="11792000" y="6638000"/>
            <a:ext cx="200000" cy="100000"/>
          </a:xfrm>
          <a:prstGeom prst="rect">
            <a:avLst/>
          </a:prstGeom>
          <a:noFill/>
        </p:spPr>
        <p:txBody>
          <a:bodyPr wrap="none">
            <a:spAutoFit/>
          </a:bodyPr>
          <a:lstStyle/>
          <a:p>
            <a:pPr>
              <a:defRPr sz="1000"/>
            </a:pPr>
            <a:r>
              <a:t>38</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0091AD"/>
                </a:solidFill>
                <a:latin typeface="Calibri" pitchFamily="34" charset="0"/>
                <a:ea typeface="Calibri" pitchFamily="34" charset="-122"/>
                <a:cs typeface="Calibri" pitchFamily="34" charset="-120"/>
              </a:rPr>
              <a:t>TOPIC 5 · OSI MODEL</a:t>
            </a:r>
            <a:endParaRPr lang="en-US" sz="1200" dirty="0"/>
          </a:p>
        </p:txBody>
      </p:sp>
      <p:sp>
        <p:nvSpPr>
          <p:cNvPr id="3" name="Text 1"/>
          <p:cNvSpPr/>
          <p:nvPr/>
        </p:nvSpPr>
        <p:spPr>
          <a:xfrm>
            <a:off x="548640" y="566928"/>
            <a:ext cx="10424160" cy="822960"/>
          </a:xfrm>
          <a:prstGeom prst="rect">
            <a:avLst/>
          </a:prstGeom>
          <a:noFill/>
          <a:ln/>
        </p:spPr>
        <p:txBody>
          <a:bodyPr wrap="square" lIns="0" tIns="0" rIns="0" bIns="0" rtlCol="0" anchor="t"/>
          <a:lstStyle/>
          <a:p>
            <a:pPr marL="0" indent="0">
              <a:buNone/>
            </a:pPr>
            <a:r>
              <a:rPr lang="en-US" sz="3000" b="1" dirty="0">
                <a:solidFill>
                  <a:srgbClr val="13315C"/>
                </a:solidFill>
                <a:latin typeface="Bookman Old Style" pitchFamily="34" charset="0"/>
                <a:ea typeface="Bookman Old Style" pitchFamily="34" charset="-122"/>
                <a:cs typeface="Bookman Old Style" pitchFamily="34" charset="-120"/>
              </a:rPr>
              <a:t>Why OSI Still Matters Today</a:t>
            </a:r>
            <a:endParaRPr lang="en-US" sz="3000" dirty="0"/>
          </a:p>
        </p:txBody>
      </p:sp>
      <p:sp>
        <p:nvSpPr>
          <p:cNvPr id="6" name="Text 3"/>
          <p:cNvSpPr/>
          <p:nvPr/>
        </p:nvSpPr>
        <p:spPr>
          <a:xfrm>
            <a:off x="548640" y="1691640"/>
            <a:ext cx="11064240" cy="4389120"/>
          </a:xfrm>
          <a:prstGeom prst="rect">
            <a:avLst/>
          </a:prstGeom>
          <a:noFill/>
          <a:ln/>
        </p:spPr>
        <p:txBody>
          <a:bodyPr wrap="square" lIns="0" tIns="0" rIns="0" bIns="0" rtlCol="0" anchor="t"/>
          <a:lstStyle/>
          <a:p>
            <a:pPr marL="342900" indent="-342900">
              <a:lnSpc>
                <a:spcPct val="108000"/>
              </a:lnSpc>
              <a:spcAft>
                <a:spcPts val="1200"/>
              </a:spcAft>
              <a:buSzPct val="100000"/>
              <a:buChar char="●"/>
            </a:pPr>
            <a:r>
              <a:rPr lang="en-US" sz="2400" dirty="0">
                <a:solidFill>
                  <a:srgbClr val="13315C"/>
                </a:solidFill>
                <a:latin typeface="Calibri" pitchFamily="34" charset="0"/>
                <a:ea typeface="Calibri" pitchFamily="34" charset="-122"/>
                <a:cs typeface="Calibri" pitchFamily="34" charset="-120"/>
              </a:rPr>
              <a:t>No production network actually runs the full 7-layer OSI stack — the Internet uses the simpler TCP/IP model instead.</a:t>
            </a:r>
            <a:endParaRPr lang="en-US" sz="2400" dirty="0"/>
          </a:p>
          <a:p>
            <a:pPr marL="342900" indent="-342900">
              <a:lnSpc>
                <a:spcPct val="108000"/>
              </a:lnSpc>
              <a:spcAft>
                <a:spcPts val="1200"/>
              </a:spcAft>
              <a:buSzPct val="100000"/>
              <a:buChar char="●"/>
            </a:pPr>
            <a:r>
              <a:rPr lang="en-US" sz="2400" dirty="0">
                <a:solidFill>
                  <a:srgbClr val="13315C"/>
                </a:solidFill>
                <a:latin typeface="Calibri" pitchFamily="34" charset="0"/>
                <a:ea typeface="Calibri" pitchFamily="34" charset="-122"/>
                <a:cs typeface="Calibri" pitchFamily="34" charset="-120"/>
              </a:rPr>
              <a:t>But OSI terminology is universally used by networking professionals: 'Layer 2 switch', 'Layer 3 routing', 'Layer 7 firewall' are everyday industry terms.</a:t>
            </a:r>
            <a:endParaRPr lang="en-US" sz="2400" dirty="0"/>
          </a:p>
          <a:p>
            <a:pPr marL="342900" indent="-342900">
              <a:lnSpc>
                <a:spcPct val="108000"/>
              </a:lnSpc>
              <a:spcAft>
                <a:spcPts val="1200"/>
              </a:spcAft>
              <a:buSzPct val="100000"/>
              <a:buChar char="●"/>
            </a:pPr>
            <a:r>
              <a:rPr lang="en-US" sz="2400" dirty="0">
                <a:solidFill>
                  <a:srgbClr val="13315C"/>
                </a:solidFill>
                <a:latin typeface="Calibri" pitchFamily="34" charset="0"/>
                <a:ea typeface="Calibri" pitchFamily="34" charset="-122"/>
                <a:cs typeface="Calibri" pitchFamily="34" charset="-120"/>
              </a:rPr>
              <a:t>It gives students and engineers a common vocabulary and a clean conceptual reference for discussing where a given protocol or device operates.</a:t>
            </a:r>
            <a:endParaRPr lang="en-US" sz="2400" dirty="0"/>
          </a:p>
          <a:p>
            <a:pPr marL="342900" indent="-342900">
              <a:lnSpc>
                <a:spcPct val="108000"/>
              </a:lnSpc>
              <a:spcAft>
                <a:spcPts val="1200"/>
              </a:spcAft>
              <a:buSzPct val="100000"/>
              <a:buChar char="●"/>
            </a:pPr>
            <a:r>
              <a:rPr lang="en-US" sz="2400" dirty="0">
                <a:solidFill>
                  <a:srgbClr val="13315C"/>
                </a:solidFill>
                <a:latin typeface="Calibri" pitchFamily="34" charset="0"/>
                <a:ea typeface="Calibri" pitchFamily="34" charset="-122"/>
                <a:cs typeface="Calibri" pitchFamily="34" charset="-120"/>
              </a:rPr>
              <a:t>Understanding OSI makes it much easier to understand the more compact, real-world TCP/IP architecture, covered next.</a:t>
            </a:r>
            <a:endParaRPr lang="en-US" sz="2400" dirty="0"/>
          </a:p>
        </p:txBody>
      </p:sp>
      <p:sp>
        <p:nvSpPr>
          <p:cNvPr id="7" name="Text 4"/>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TOPIC 5 · OSI MODEL</a:t>
            </a:r>
            <a:endParaRPr lang="en-US" sz="1000" dirty="0"/>
          </a:p>
        </p:txBody>
      </p:sp>
      <p:sp>
        <p:nvSpPr>
          <p:cNvPr id="8" name="TextBox 7"/>
          <p:cNvSpPr txBox="1"/>
          <p:nvPr/>
        </p:nvSpPr>
        <p:spPr>
          <a:xfrm>
            <a:off x="11792000" y="6638000"/>
            <a:ext cx="200000" cy="100000"/>
          </a:xfrm>
          <a:prstGeom prst="rect">
            <a:avLst/>
          </a:prstGeom>
          <a:noFill/>
        </p:spPr>
        <p:txBody>
          <a:bodyPr wrap="none">
            <a:spAutoFit/>
          </a:bodyPr>
          <a:lstStyle/>
          <a:p>
            <a:pPr>
              <a:defRPr sz="1000"/>
            </a:pPr>
            <a:r>
              <a:t>39</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4" name="Text 1"/>
          <p:cNvSpPr/>
          <p:nvPr/>
        </p:nvSpPr>
        <p:spPr>
          <a:xfrm>
            <a:off x="1371600" y="457200"/>
            <a:ext cx="8229600" cy="320040"/>
          </a:xfrm>
          <a:prstGeom prst="rect">
            <a:avLst/>
          </a:prstGeom>
          <a:noFill/>
          <a:ln/>
        </p:spPr>
        <p:txBody>
          <a:bodyPr wrap="square" lIns="0" tIns="0" rIns="0" bIns="0" rtlCol="0" anchor="ctr"/>
          <a:lstStyle/>
          <a:p>
            <a:pPr marL="0" indent="0">
              <a:buNone/>
            </a:pPr>
            <a:r>
              <a:rPr lang="en-US" sz="2000" b="1" kern="0" spc="150" dirty="0">
                <a:solidFill>
                  <a:srgbClr val="E07A2C"/>
                </a:solidFill>
                <a:latin typeface="Calibri" pitchFamily="34" charset="0"/>
                <a:ea typeface="Calibri" pitchFamily="34" charset="-122"/>
                <a:cs typeface="Calibri" pitchFamily="34" charset="-120"/>
              </a:rPr>
              <a:t>BRAINSTORMING ACTIVITY</a:t>
            </a:r>
            <a:endParaRPr lang="en-US" sz="2000" dirty="0"/>
          </a:p>
        </p:txBody>
      </p:sp>
      <p:sp>
        <p:nvSpPr>
          <p:cNvPr id="5" name="Text 2"/>
          <p:cNvSpPr/>
          <p:nvPr/>
        </p:nvSpPr>
        <p:spPr>
          <a:xfrm>
            <a:off x="548640" y="868680"/>
            <a:ext cx="10789920" cy="777240"/>
          </a:xfrm>
          <a:prstGeom prst="rect">
            <a:avLst/>
          </a:prstGeom>
          <a:noFill/>
          <a:ln/>
        </p:spPr>
        <p:txBody>
          <a:bodyPr wrap="square" lIns="0" tIns="0" rIns="0" bIns="0" rtlCol="0" anchor="ctr"/>
          <a:lstStyle/>
          <a:p>
            <a:pPr marL="0" indent="0">
              <a:buNone/>
            </a:pPr>
            <a:r>
              <a:rPr lang="en-US" sz="2700" b="1" dirty="0">
                <a:solidFill>
                  <a:srgbClr val="13315C"/>
                </a:solidFill>
                <a:latin typeface="Bookman Old Style" pitchFamily="34" charset="0"/>
                <a:ea typeface="Bookman Old Style" pitchFamily="34" charset="-122"/>
                <a:cs typeface="Bookman Old Style" pitchFamily="34" charset="-120"/>
              </a:rPr>
              <a:t>OSI Layer Matching Game</a:t>
            </a:r>
            <a:endParaRPr lang="en-US" sz="2700" dirty="0"/>
          </a:p>
        </p:txBody>
      </p:sp>
      <p:sp>
        <p:nvSpPr>
          <p:cNvPr id="6" name="Shape 3"/>
          <p:cNvSpPr/>
          <p:nvPr/>
        </p:nvSpPr>
        <p:spPr>
          <a:xfrm>
            <a:off x="548640" y="1783080"/>
            <a:ext cx="11064240" cy="4434840"/>
          </a:xfrm>
          <a:prstGeom prst="roundRect">
            <a:avLst>
              <a:gd name="adj" fmla="val 1649"/>
            </a:avLst>
          </a:prstGeom>
          <a:solidFill>
            <a:srgbClr val="FFFFFF"/>
          </a:solidFill>
          <a:ln/>
          <a:effectLst>
            <a:outerShdw blurRad="88900" dist="25400" dir="5400000" algn="bl" rotWithShape="0">
              <a:srgbClr val="0B2545">
                <a:alpha val="10000"/>
              </a:srgbClr>
            </a:outerShdw>
          </a:effectLst>
        </p:spPr>
        <p:txBody>
          <a:bodyPr/>
          <a:lstStyle/>
          <a:p>
            <a:endParaRPr/>
          </a:p>
        </p:txBody>
      </p:sp>
      <p:sp>
        <p:nvSpPr>
          <p:cNvPr id="7" name="Text 4"/>
          <p:cNvSpPr/>
          <p:nvPr/>
        </p:nvSpPr>
        <p:spPr>
          <a:xfrm>
            <a:off x="914400" y="2057400"/>
            <a:ext cx="10332720" cy="3931920"/>
          </a:xfrm>
          <a:prstGeom prst="rect">
            <a:avLst/>
          </a:prstGeom>
          <a:noFill/>
          <a:ln/>
        </p:spPr>
        <p:txBody>
          <a:bodyPr wrap="square" lIns="0" tIns="0" rIns="0" bIns="0" rtlCol="0" anchor="t"/>
          <a:lstStyle/>
          <a:p>
            <a:pPr marL="342900" indent="-342900">
              <a:lnSpc>
                <a:spcPct val="110000"/>
              </a:lnSpc>
              <a:spcAft>
                <a:spcPts val="1300"/>
              </a:spcAft>
              <a:buSzPct val="100000"/>
              <a:buChar char="▸"/>
            </a:pPr>
            <a:r>
              <a:rPr lang="en-US" sz="1550" dirty="0">
                <a:solidFill>
                  <a:srgbClr val="13315C"/>
                </a:solidFill>
                <a:latin typeface="Calibri" pitchFamily="34" charset="0"/>
                <a:ea typeface="Calibri" pitchFamily="34" charset="-122"/>
                <a:cs typeface="Calibri" pitchFamily="34" charset="-120"/>
              </a:rPr>
              <a:t>The instructor calls out a real-world networking term or scenario one at a time (e.g., 'Wi-Fi radio signal', 'MAC address', 'IP routing table', 'HTTPS encryption format', 'a Zoom call syncing audio and video', 'a web browser requesting a page').</a:t>
            </a:r>
            <a:endParaRPr lang="en-US" sz="1550" dirty="0"/>
          </a:p>
          <a:p>
            <a:pPr marL="342900" indent="-342900">
              <a:lnSpc>
                <a:spcPct val="110000"/>
              </a:lnSpc>
              <a:spcAft>
                <a:spcPts val="1300"/>
              </a:spcAft>
              <a:buSzPct val="100000"/>
              <a:buChar char="▸"/>
            </a:pPr>
            <a:r>
              <a:rPr lang="en-US" sz="1550" dirty="0">
                <a:solidFill>
                  <a:srgbClr val="13315C"/>
                </a:solidFill>
                <a:latin typeface="Calibri" pitchFamily="34" charset="0"/>
                <a:ea typeface="Calibri" pitchFamily="34" charset="-122"/>
                <a:cs typeface="Calibri" pitchFamily="34" charset="-120"/>
              </a:rPr>
              <a:t>In teams, quickly decide which OSI layer (1-7) each term belongs to and write your answer on a whiteboard/paper.</a:t>
            </a:r>
            <a:endParaRPr lang="en-US" sz="1550" dirty="0"/>
          </a:p>
          <a:p>
            <a:pPr marL="342900" indent="-342900">
              <a:lnSpc>
                <a:spcPct val="110000"/>
              </a:lnSpc>
              <a:spcAft>
                <a:spcPts val="1300"/>
              </a:spcAft>
              <a:buSzPct val="100000"/>
              <a:buChar char="▸"/>
            </a:pPr>
            <a:r>
              <a:rPr lang="en-US" sz="1550" dirty="0">
                <a:solidFill>
                  <a:srgbClr val="13315C"/>
                </a:solidFill>
                <a:latin typeface="Calibri" pitchFamily="34" charset="0"/>
                <a:ea typeface="Calibri" pitchFamily="34" charset="-122"/>
                <a:cs typeface="Calibri" pitchFamily="34" charset="-120"/>
              </a:rPr>
              <a:t>Teams reveal answers simultaneously after each term; discuss any disagreements as a class.</a:t>
            </a:r>
            <a:endParaRPr lang="en-US" sz="1550" dirty="0"/>
          </a:p>
          <a:p>
            <a:pPr marL="342900" indent="-342900">
              <a:lnSpc>
                <a:spcPct val="110000"/>
              </a:lnSpc>
              <a:spcAft>
                <a:spcPts val="1300"/>
              </a:spcAft>
              <a:buSzPct val="100000"/>
              <a:buChar char="▸"/>
            </a:pPr>
            <a:r>
              <a:rPr lang="en-US" sz="1550" dirty="0">
                <a:solidFill>
                  <a:srgbClr val="13315C"/>
                </a:solidFill>
                <a:latin typeface="Calibri" pitchFamily="34" charset="0"/>
                <a:ea typeface="Calibri" pitchFamily="34" charset="-122"/>
                <a:cs typeface="Calibri" pitchFamily="34" charset="-120"/>
              </a:rPr>
              <a:t>Bonus round: for one scenario, trace it through ALL 7 layers from Application down to Physical.</a:t>
            </a:r>
            <a:endParaRPr lang="en-US" sz="1550" dirty="0"/>
          </a:p>
          <a:p>
            <a:pPr marL="342900" indent="-342900">
              <a:lnSpc>
                <a:spcPct val="110000"/>
              </a:lnSpc>
              <a:spcAft>
                <a:spcPts val="1300"/>
              </a:spcAft>
              <a:buSzPct val="100000"/>
              <a:buChar char="▸"/>
            </a:pPr>
            <a:r>
              <a:rPr lang="en-US" sz="1550" dirty="0">
                <a:solidFill>
                  <a:srgbClr val="13315C"/>
                </a:solidFill>
                <a:latin typeface="Calibri" pitchFamily="34" charset="0"/>
                <a:ea typeface="Calibri" pitchFamily="34" charset="-122"/>
                <a:cs typeface="Calibri" pitchFamily="34" charset="-120"/>
              </a:rPr>
              <a:t>Wrap-up discussion: which layer was hardest to agree on, and why?</a:t>
            </a:r>
            <a:endParaRPr lang="en-US" sz="1550" dirty="0"/>
          </a:p>
        </p:txBody>
      </p:sp>
      <p:sp>
        <p:nvSpPr>
          <p:cNvPr id="8" name="Text 5"/>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TOPIC 5 · ACTIVITY</a:t>
            </a:r>
            <a:endParaRPr lang="en-US" sz="1000" dirty="0"/>
          </a:p>
        </p:txBody>
      </p:sp>
      <p:sp>
        <p:nvSpPr>
          <p:cNvPr id="9" name="TextBox 8"/>
          <p:cNvSpPr txBox="1"/>
          <p:nvPr/>
        </p:nvSpPr>
        <p:spPr>
          <a:xfrm>
            <a:off x="11792000" y="6638000"/>
            <a:ext cx="200000" cy="100000"/>
          </a:xfrm>
          <a:prstGeom prst="rect">
            <a:avLst/>
          </a:prstGeom>
          <a:noFill/>
        </p:spPr>
        <p:txBody>
          <a:bodyPr wrap="none">
            <a:spAutoFit/>
          </a:bodyPr>
          <a:lstStyle/>
          <a:p>
            <a:pPr>
              <a:defRPr sz="1000"/>
            </a:pPr>
            <a:r>
              <a:t>40</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3">
    <p:bg>
      <p:bgPr>
        <a:solidFill>
          <a:srgbClr val="002060"/>
        </a:solidFill>
        <a:effectLst/>
      </p:bgPr>
    </p:bg>
    <p:spTree>
      <p:nvGrpSpPr>
        <p:cNvPr id="1" name=""/>
        <p:cNvGrpSpPr/>
        <p:nvPr/>
      </p:nvGrpSpPr>
      <p:grpSpPr>
        <a:xfrm>
          <a:off x="0" y="0"/>
          <a:ext cx="0" cy="0"/>
          <a:chOff x="0" y="0"/>
          <a:chExt cx="0" cy="0"/>
        </a:xfrm>
      </p:grpSpPr>
      <p:sp>
        <p:nvSpPr>
          <p:cNvPr id="3" name="Shape 1"/>
          <p:cNvSpPr/>
          <p:nvPr/>
        </p:nvSpPr>
        <p:spPr>
          <a:xfrm>
            <a:off x="9692640" y="914400"/>
            <a:ext cx="1645920" cy="0"/>
          </a:xfrm>
          <a:prstGeom prst="line">
            <a:avLst/>
          </a:prstGeom>
          <a:noFill/>
          <a:ln w="12700">
            <a:solidFill>
              <a:srgbClr val="1E3A66"/>
            </a:solidFill>
            <a:prstDash val="solid"/>
          </a:ln>
        </p:spPr>
        <p:txBody>
          <a:bodyPr/>
          <a:lstStyle/>
          <a:p>
            <a:endParaRPr/>
          </a:p>
        </p:txBody>
      </p:sp>
      <p:sp>
        <p:nvSpPr>
          <p:cNvPr id="4" name="Shape 2"/>
          <p:cNvSpPr/>
          <p:nvPr/>
        </p:nvSpPr>
        <p:spPr>
          <a:xfrm>
            <a:off x="9692640" y="914400"/>
            <a:ext cx="548640" cy="1371600"/>
          </a:xfrm>
          <a:prstGeom prst="line">
            <a:avLst/>
          </a:prstGeom>
          <a:noFill/>
          <a:ln w="12700">
            <a:solidFill>
              <a:srgbClr val="1E3A66"/>
            </a:solidFill>
            <a:prstDash val="solid"/>
          </a:ln>
        </p:spPr>
        <p:txBody>
          <a:bodyPr/>
          <a:lstStyle/>
          <a:p>
            <a:endParaRPr/>
          </a:p>
        </p:txBody>
      </p:sp>
      <p:sp>
        <p:nvSpPr>
          <p:cNvPr id="6" name="Shape 4"/>
          <p:cNvSpPr/>
          <p:nvPr/>
        </p:nvSpPr>
        <p:spPr>
          <a:xfrm>
            <a:off x="9692640" y="914400"/>
            <a:ext cx="0" cy="1097280"/>
          </a:xfrm>
          <a:prstGeom prst="line">
            <a:avLst/>
          </a:prstGeom>
          <a:noFill/>
          <a:ln w="12700">
            <a:solidFill>
              <a:srgbClr val="1E3A66"/>
            </a:solidFill>
            <a:prstDash val="solid"/>
          </a:ln>
        </p:spPr>
        <p:txBody>
          <a:bodyPr/>
          <a:lstStyle/>
          <a:p>
            <a:endParaRPr/>
          </a:p>
        </p:txBody>
      </p:sp>
      <p:sp>
        <p:nvSpPr>
          <p:cNvPr id="7" name="Shape 5"/>
          <p:cNvSpPr/>
          <p:nvPr/>
        </p:nvSpPr>
        <p:spPr>
          <a:xfrm>
            <a:off x="10607040" y="1463040"/>
            <a:ext cx="731520" cy="0"/>
          </a:xfrm>
          <a:prstGeom prst="line">
            <a:avLst/>
          </a:prstGeom>
          <a:noFill/>
          <a:ln w="12700">
            <a:solidFill>
              <a:srgbClr val="1E3A66"/>
            </a:solidFill>
            <a:prstDash val="solid"/>
          </a:ln>
        </p:spPr>
        <p:txBody>
          <a:bodyPr/>
          <a:lstStyle/>
          <a:p>
            <a:endParaRPr/>
          </a:p>
        </p:txBody>
      </p:sp>
      <p:sp>
        <p:nvSpPr>
          <p:cNvPr id="9" name="Shape 7"/>
          <p:cNvSpPr/>
          <p:nvPr/>
        </p:nvSpPr>
        <p:spPr>
          <a:xfrm>
            <a:off x="10607040" y="1463040"/>
            <a:ext cx="914400" cy="914400"/>
          </a:xfrm>
          <a:prstGeom prst="line">
            <a:avLst/>
          </a:prstGeom>
          <a:noFill/>
          <a:ln w="12700">
            <a:solidFill>
              <a:srgbClr val="1E3A66"/>
            </a:solidFill>
            <a:prstDash val="solid"/>
          </a:ln>
        </p:spPr>
        <p:txBody>
          <a:bodyPr/>
          <a:lstStyle/>
          <a:p>
            <a:endParaRPr/>
          </a:p>
        </p:txBody>
      </p:sp>
      <p:sp>
        <p:nvSpPr>
          <p:cNvPr id="10" name="Shape 8"/>
          <p:cNvSpPr/>
          <p:nvPr/>
        </p:nvSpPr>
        <p:spPr>
          <a:xfrm>
            <a:off x="10607040" y="1463040"/>
            <a:ext cx="0" cy="548640"/>
          </a:xfrm>
          <a:prstGeom prst="line">
            <a:avLst/>
          </a:prstGeom>
          <a:noFill/>
          <a:ln w="12700">
            <a:solidFill>
              <a:srgbClr val="1E3A66"/>
            </a:solidFill>
            <a:prstDash val="solid"/>
          </a:ln>
        </p:spPr>
        <p:txBody>
          <a:bodyPr/>
          <a:lstStyle/>
          <a:p>
            <a:endParaRPr/>
          </a:p>
        </p:txBody>
      </p:sp>
      <p:sp>
        <p:nvSpPr>
          <p:cNvPr id="11" name="Shape 9"/>
          <p:cNvSpPr/>
          <p:nvPr/>
        </p:nvSpPr>
        <p:spPr>
          <a:xfrm>
            <a:off x="11338560" y="822960"/>
            <a:ext cx="0" cy="1463040"/>
          </a:xfrm>
          <a:prstGeom prst="line">
            <a:avLst/>
          </a:prstGeom>
          <a:noFill/>
          <a:ln w="12700">
            <a:solidFill>
              <a:srgbClr val="1E3A66"/>
            </a:solidFill>
            <a:prstDash val="solid"/>
          </a:ln>
        </p:spPr>
        <p:txBody>
          <a:bodyPr/>
          <a:lstStyle/>
          <a:p>
            <a:endParaRPr/>
          </a:p>
        </p:txBody>
      </p:sp>
      <p:sp>
        <p:nvSpPr>
          <p:cNvPr id="12" name="Shape 10"/>
          <p:cNvSpPr/>
          <p:nvPr/>
        </p:nvSpPr>
        <p:spPr>
          <a:xfrm>
            <a:off x="11338560" y="822960"/>
            <a:ext cx="182880" cy="1554480"/>
          </a:xfrm>
          <a:prstGeom prst="line">
            <a:avLst/>
          </a:prstGeom>
          <a:noFill/>
          <a:ln w="12700">
            <a:solidFill>
              <a:srgbClr val="1E3A66"/>
            </a:solidFill>
            <a:prstDash val="solid"/>
          </a:ln>
        </p:spPr>
        <p:txBody>
          <a:bodyPr/>
          <a:lstStyle/>
          <a:p>
            <a:endParaRPr/>
          </a:p>
        </p:txBody>
      </p:sp>
      <p:sp>
        <p:nvSpPr>
          <p:cNvPr id="13" name="Shape 11"/>
          <p:cNvSpPr/>
          <p:nvPr/>
        </p:nvSpPr>
        <p:spPr>
          <a:xfrm>
            <a:off x="11338560" y="822960"/>
            <a:ext cx="0" cy="1188720"/>
          </a:xfrm>
          <a:prstGeom prst="line">
            <a:avLst/>
          </a:prstGeom>
          <a:noFill/>
          <a:ln w="12700">
            <a:solidFill>
              <a:srgbClr val="1E3A66"/>
            </a:solidFill>
            <a:prstDash val="solid"/>
          </a:ln>
        </p:spPr>
        <p:txBody>
          <a:bodyPr/>
          <a:lstStyle/>
          <a:p>
            <a:endParaRPr/>
          </a:p>
        </p:txBody>
      </p:sp>
      <p:sp>
        <p:nvSpPr>
          <p:cNvPr id="14" name="Shape 12"/>
          <p:cNvSpPr/>
          <p:nvPr/>
        </p:nvSpPr>
        <p:spPr>
          <a:xfrm>
            <a:off x="10241280" y="2286000"/>
            <a:ext cx="1280160" cy="91440"/>
          </a:xfrm>
          <a:prstGeom prst="line">
            <a:avLst/>
          </a:prstGeom>
          <a:noFill/>
          <a:ln w="12700">
            <a:solidFill>
              <a:srgbClr val="1E3A66"/>
            </a:solidFill>
            <a:prstDash val="solid"/>
          </a:ln>
        </p:spPr>
        <p:txBody>
          <a:bodyPr/>
          <a:lstStyle/>
          <a:p>
            <a:endParaRPr/>
          </a:p>
        </p:txBody>
      </p:sp>
      <p:sp>
        <p:nvSpPr>
          <p:cNvPr id="15" name="Shape 13"/>
          <p:cNvSpPr/>
          <p:nvPr/>
        </p:nvSpPr>
        <p:spPr>
          <a:xfrm>
            <a:off x="10241280" y="2286000"/>
            <a:ext cx="0" cy="0"/>
          </a:xfrm>
          <a:prstGeom prst="line">
            <a:avLst/>
          </a:prstGeom>
          <a:noFill/>
          <a:ln w="12700">
            <a:solidFill>
              <a:srgbClr val="1E3A66"/>
            </a:solidFill>
            <a:prstDash val="solid"/>
          </a:ln>
        </p:spPr>
        <p:txBody>
          <a:bodyPr/>
          <a:lstStyle/>
          <a:p>
            <a:endParaRPr/>
          </a:p>
        </p:txBody>
      </p:sp>
      <p:sp>
        <p:nvSpPr>
          <p:cNvPr id="16" name="Shape 14"/>
          <p:cNvSpPr/>
          <p:nvPr/>
        </p:nvSpPr>
        <p:spPr>
          <a:xfrm>
            <a:off x="11521440" y="2377440"/>
            <a:ext cx="0" cy="0"/>
          </a:xfrm>
          <a:prstGeom prst="line">
            <a:avLst/>
          </a:prstGeom>
          <a:noFill/>
          <a:ln w="12700">
            <a:solidFill>
              <a:srgbClr val="1E3A66"/>
            </a:solidFill>
            <a:prstDash val="solid"/>
          </a:ln>
        </p:spPr>
        <p:txBody>
          <a:bodyPr/>
          <a:lstStyle/>
          <a:p>
            <a:endParaRPr/>
          </a:p>
        </p:txBody>
      </p:sp>
      <p:sp>
        <p:nvSpPr>
          <p:cNvPr id="17" name="Shape 15"/>
          <p:cNvSpPr/>
          <p:nvPr/>
        </p:nvSpPr>
        <p:spPr>
          <a:xfrm>
            <a:off x="9637776" y="859536"/>
            <a:ext cx="109728" cy="109728"/>
          </a:xfrm>
          <a:prstGeom prst="ellipse">
            <a:avLst/>
          </a:prstGeom>
          <a:solidFill>
            <a:srgbClr val="00B4D8"/>
          </a:solidFill>
          <a:ln/>
        </p:spPr>
        <p:txBody>
          <a:bodyPr/>
          <a:lstStyle/>
          <a:p>
            <a:endParaRPr/>
          </a:p>
        </p:txBody>
      </p:sp>
      <p:sp>
        <p:nvSpPr>
          <p:cNvPr id="18" name="Shape 16"/>
          <p:cNvSpPr/>
          <p:nvPr/>
        </p:nvSpPr>
        <p:spPr>
          <a:xfrm>
            <a:off x="10552176" y="1408176"/>
            <a:ext cx="109728" cy="109728"/>
          </a:xfrm>
          <a:prstGeom prst="ellipse">
            <a:avLst/>
          </a:prstGeom>
          <a:solidFill>
            <a:srgbClr val="00B4D8"/>
          </a:solidFill>
          <a:ln/>
        </p:spPr>
        <p:txBody>
          <a:bodyPr/>
          <a:lstStyle/>
          <a:p>
            <a:endParaRPr/>
          </a:p>
        </p:txBody>
      </p:sp>
      <p:sp>
        <p:nvSpPr>
          <p:cNvPr id="19" name="Shape 17"/>
          <p:cNvSpPr/>
          <p:nvPr/>
        </p:nvSpPr>
        <p:spPr>
          <a:xfrm>
            <a:off x="11283696" y="768096"/>
            <a:ext cx="109728" cy="109728"/>
          </a:xfrm>
          <a:prstGeom prst="ellipse">
            <a:avLst/>
          </a:prstGeom>
          <a:solidFill>
            <a:srgbClr val="00B4D8"/>
          </a:solidFill>
          <a:ln/>
        </p:spPr>
        <p:txBody>
          <a:bodyPr/>
          <a:lstStyle/>
          <a:p>
            <a:endParaRPr/>
          </a:p>
        </p:txBody>
      </p:sp>
      <p:sp>
        <p:nvSpPr>
          <p:cNvPr id="20" name="Shape 18"/>
          <p:cNvSpPr/>
          <p:nvPr/>
        </p:nvSpPr>
        <p:spPr>
          <a:xfrm>
            <a:off x="10186416" y="2231136"/>
            <a:ext cx="109728" cy="109728"/>
          </a:xfrm>
          <a:prstGeom prst="ellipse">
            <a:avLst/>
          </a:prstGeom>
          <a:solidFill>
            <a:srgbClr val="00B4D8"/>
          </a:solidFill>
          <a:ln/>
        </p:spPr>
        <p:txBody>
          <a:bodyPr/>
          <a:lstStyle/>
          <a:p>
            <a:endParaRPr/>
          </a:p>
        </p:txBody>
      </p:sp>
      <p:sp>
        <p:nvSpPr>
          <p:cNvPr id="21" name="Shape 19"/>
          <p:cNvSpPr/>
          <p:nvPr/>
        </p:nvSpPr>
        <p:spPr>
          <a:xfrm>
            <a:off x="11466576" y="2322576"/>
            <a:ext cx="109728" cy="109728"/>
          </a:xfrm>
          <a:prstGeom prst="ellipse">
            <a:avLst/>
          </a:prstGeom>
          <a:solidFill>
            <a:srgbClr val="00B4D8"/>
          </a:solidFill>
          <a:ln/>
        </p:spPr>
        <p:txBody>
          <a:bodyPr/>
          <a:lstStyle/>
          <a:p>
            <a:endParaRPr/>
          </a:p>
        </p:txBody>
      </p:sp>
      <p:sp>
        <p:nvSpPr>
          <p:cNvPr id="22" name="Shape 20"/>
          <p:cNvSpPr/>
          <p:nvPr/>
        </p:nvSpPr>
        <p:spPr>
          <a:xfrm>
            <a:off x="9272016" y="1956816"/>
            <a:ext cx="109728" cy="109728"/>
          </a:xfrm>
          <a:prstGeom prst="ellipse">
            <a:avLst/>
          </a:prstGeom>
          <a:solidFill>
            <a:srgbClr val="00B4D8"/>
          </a:solidFill>
          <a:ln/>
        </p:spPr>
        <p:txBody>
          <a:bodyPr/>
          <a:lstStyle/>
          <a:p>
            <a:endParaRPr/>
          </a:p>
        </p:txBody>
      </p:sp>
      <p:sp>
        <p:nvSpPr>
          <p:cNvPr id="23" name="Text 21"/>
          <p:cNvSpPr/>
          <p:nvPr/>
        </p:nvSpPr>
        <p:spPr>
          <a:xfrm>
            <a:off x="822960" y="2148840"/>
            <a:ext cx="5486400" cy="365760"/>
          </a:xfrm>
          <a:prstGeom prst="rect">
            <a:avLst/>
          </a:prstGeom>
          <a:noFill/>
          <a:ln/>
        </p:spPr>
        <p:txBody>
          <a:bodyPr wrap="square" lIns="0" tIns="0" rIns="0" bIns="0" rtlCol="0" anchor="ctr"/>
          <a:lstStyle/>
          <a:p>
            <a:pPr marL="0" indent="0">
              <a:buNone/>
            </a:pPr>
            <a:r>
              <a:rPr lang="en-US" sz="1600" b="1" kern="0" spc="300" dirty="0">
                <a:solidFill>
                  <a:srgbClr val="00B4D8"/>
                </a:solidFill>
                <a:latin typeface="Calibri" pitchFamily="34" charset="0"/>
                <a:ea typeface="Calibri" pitchFamily="34" charset="-122"/>
                <a:cs typeface="Calibri" pitchFamily="34" charset="-120"/>
              </a:rPr>
              <a:t>TOPIC 6</a:t>
            </a:r>
            <a:endParaRPr lang="en-US" sz="1600" dirty="0"/>
          </a:p>
        </p:txBody>
      </p:sp>
      <p:sp>
        <p:nvSpPr>
          <p:cNvPr id="24" name="Text 22"/>
          <p:cNvSpPr/>
          <p:nvPr/>
        </p:nvSpPr>
        <p:spPr>
          <a:xfrm>
            <a:off x="777240" y="2514600"/>
            <a:ext cx="9601200" cy="1463040"/>
          </a:xfrm>
          <a:prstGeom prst="rect">
            <a:avLst/>
          </a:prstGeom>
          <a:noFill/>
          <a:ln/>
        </p:spPr>
        <p:txBody>
          <a:bodyPr wrap="square" lIns="0" tIns="0" rIns="0" bIns="0" rtlCol="0" anchor="t"/>
          <a:lstStyle/>
          <a:p>
            <a:pPr marL="0" indent="0">
              <a:buNone/>
            </a:pPr>
            <a:r>
              <a:rPr lang="en-US" sz="4000" b="1" dirty="0">
                <a:solidFill>
                  <a:srgbClr val="FFFFFF"/>
                </a:solidFill>
                <a:latin typeface="Bookman Old Style" pitchFamily="34" charset="0"/>
                <a:ea typeface="Bookman Old Style" pitchFamily="34" charset="-122"/>
                <a:cs typeface="Bookman Old Style" pitchFamily="34" charset="-120"/>
              </a:rPr>
              <a:t>TCP/IP Model</a:t>
            </a:r>
            <a:endParaRPr lang="en-US" sz="4000" dirty="0"/>
          </a:p>
        </p:txBody>
      </p:sp>
      <p:sp>
        <p:nvSpPr>
          <p:cNvPr id="25" name="Text 23"/>
          <p:cNvSpPr/>
          <p:nvPr/>
        </p:nvSpPr>
        <p:spPr>
          <a:xfrm>
            <a:off x="822960" y="3794760"/>
            <a:ext cx="8686800" cy="822960"/>
          </a:xfrm>
          <a:prstGeom prst="rect">
            <a:avLst/>
          </a:prstGeom>
          <a:noFill/>
          <a:ln/>
        </p:spPr>
        <p:txBody>
          <a:bodyPr wrap="square" lIns="0" tIns="0" rIns="0" bIns="0" rtlCol="0" anchor="t"/>
          <a:lstStyle/>
          <a:p>
            <a:pPr marL="0" indent="0">
              <a:buNone/>
            </a:pPr>
            <a:r>
              <a:rPr lang="en-US" sz="1600" dirty="0">
                <a:solidFill>
                  <a:srgbClr val="C9D8EC"/>
                </a:solidFill>
                <a:latin typeface="Calibri" pitchFamily="34" charset="0"/>
                <a:ea typeface="Calibri" pitchFamily="34" charset="-122"/>
                <a:cs typeface="Calibri" pitchFamily="34" charset="-120"/>
              </a:rPr>
              <a:t>The Internet's own 4-layer architecture, built from real-world experience.</a:t>
            </a:r>
            <a:endParaRPr lang="en-US" sz="1600" dirty="0"/>
          </a:p>
        </p:txBody>
      </p:sp>
      <p:sp>
        <p:nvSpPr>
          <p:cNvPr id="31" name="Text 27"/>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9FB3CC"/>
                </a:solidFill>
                <a:latin typeface="Calibri" pitchFamily="34" charset="0"/>
                <a:ea typeface="Calibri" pitchFamily="34" charset="-122"/>
                <a:cs typeface="Calibri" pitchFamily="34" charset="-120"/>
              </a:rPr>
              <a:t>TOPIC 6</a:t>
            </a:r>
            <a:endParaRPr lang="en-US" sz="1000" dirty="0"/>
          </a:p>
        </p:txBody>
      </p:sp>
      <p:sp>
        <p:nvSpPr>
          <p:cNvPr id="32" name="TextBox 31"/>
          <p:cNvSpPr txBox="1"/>
          <p:nvPr/>
        </p:nvSpPr>
        <p:spPr>
          <a:xfrm>
            <a:off x="11792000" y="6638000"/>
            <a:ext cx="200000" cy="100000"/>
          </a:xfrm>
          <a:prstGeom prst="rect">
            <a:avLst/>
          </a:prstGeom>
          <a:noFill/>
        </p:spPr>
        <p:txBody>
          <a:bodyPr wrap="none">
            <a:spAutoFit/>
          </a:bodyPr>
          <a:lstStyle/>
          <a:p>
            <a:pPr>
              <a:defRPr sz="1000"/>
            </a:pPr>
            <a:r>
              <a:t>41</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0091AD"/>
                </a:solidFill>
                <a:latin typeface="Calibri" pitchFamily="34" charset="0"/>
                <a:ea typeface="Calibri" pitchFamily="34" charset="-122"/>
                <a:cs typeface="Calibri" pitchFamily="34" charset="-120"/>
              </a:rPr>
              <a:t>TOPIC 6 · TCP/IP MODEL</a:t>
            </a:r>
            <a:endParaRPr lang="en-US" sz="1200" dirty="0"/>
          </a:p>
        </p:txBody>
      </p:sp>
      <p:sp>
        <p:nvSpPr>
          <p:cNvPr id="3" name="Text 1"/>
          <p:cNvSpPr/>
          <p:nvPr/>
        </p:nvSpPr>
        <p:spPr>
          <a:xfrm>
            <a:off x="548640" y="566928"/>
            <a:ext cx="10424160" cy="822960"/>
          </a:xfrm>
          <a:prstGeom prst="rect">
            <a:avLst/>
          </a:prstGeom>
          <a:noFill/>
          <a:ln/>
        </p:spPr>
        <p:txBody>
          <a:bodyPr wrap="square" lIns="0" tIns="0" rIns="0" bIns="0" rtlCol="0" anchor="t"/>
          <a:lstStyle/>
          <a:p>
            <a:pPr marL="0" indent="0">
              <a:buNone/>
            </a:pPr>
            <a:r>
              <a:rPr lang="en-US" sz="3000" b="1" dirty="0">
                <a:solidFill>
                  <a:srgbClr val="13315C"/>
                </a:solidFill>
                <a:latin typeface="Bookman Old Style" pitchFamily="34" charset="0"/>
                <a:ea typeface="Bookman Old Style" pitchFamily="34" charset="-122"/>
                <a:cs typeface="Bookman Old Style" pitchFamily="34" charset="-120"/>
              </a:rPr>
              <a:t>TCP/IP (Internet) Architecture — Overview</a:t>
            </a:r>
            <a:endParaRPr lang="en-US" sz="3000" dirty="0"/>
          </a:p>
        </p:txBody>
      </p:sp>
      <p:sp>
        <p:nvSpPr>
          <p:cNvPr id="6" name="Text 3"/>
          <p:cNvSpPr/>
          <p:nvPr/>
        </p:nvSpPr>
        <p:spPr>
          <a:xfrm>
            <a:off x="204281" y="1325005"/>
            <a:ext cx="5807411" cy="4480560"/>
          </a:xfrm>
          <a:prstGeom prst="rect">
            <a:avLst/>
          </a:prstGeom>
          <a:noFill/>
          <a:ln/>
        </p:spPr>
        <p:txBody>
          <a:bodyPr wrap="square" lIns="0" tIns="0" rIns="0" bIns="0" rtlCol="0" anchor="t"/>
          <a:lstStyle/>
          <a:p>
            <a:pPr marL="342900" indent="-342900">
              <a:lnSpc>
                <a:spcPct val="108000"/>
              </a:lnSpc>
              <a:spcAft>
                <a:spcPts val="1200"/>
              </a:spcAft>
              <a:buSzPct val="100000"/>
              <a:buChar char="●"/>
            </a:pPr>
            <a:r>
              <a:rPr lang="en-US" sz="2400" dirty="0">
                <a:solidFill>
                  <a:srgbClr val="13315C"/>
                </a:solidFill>
                <a:latin typeface="Calibri" pitchFamily="34" charset="0"/>
                <a:ea typeface="Calibri" pitchFamily="34" charset="-122"/>
                <a:cs typeface="Calibri" pitchFamily="34" charset="-120"/>
              </a:rPr>
              <a:t>Also called the Internet architecture, named after its two main protocols: TCP and IP.</a:t>
            </a:r>
            <a:endParaRPr lang="en-US" sz="2400" dirty="0"/>
          </a:p>
          <a:p>
            <a:pPr marL="342900" indent="-342900">
              <a:lnSpc>
                <a:spcPct val="108000"/>
              </a:lnSpc>
              <a:spcAft>
                <a:spcPts val="1200"/>
              </a:spcAft>
              <a:buSzPct val="100000"/>
              <a:buChar char="●"/>
            </a:pPr>
            <a:r>
              <a:rPr lang="en-US" sz="2400" dirty="0">
                <a:solidFill>
                  <a:srgbClr val="13315C"/>
                </a:solidFill>
                <a:latin typeface="Calibri" pitchFamily="34" charset="0"/>
                <a:ea typeface="Calibri" pitchFamily="34" charset="-122"/>
                <a:cs typeface="Calibri" pitchFamily="34" charset="-120"/>
              </a:rPr>
              <a:t>Evolved from experience with the ARPANET, an earlier packet-switched network funded by the U.S. Department of Defense's ARPA.</a:t>
            </a:r>
            <a:endParaRPr lang="en-US" sz="2400" dirty="0"/>
          </a:p>
          <a:p>
            <a:pPr marL="342900" indent="-342900">
              <a:lnSpc>
                <a:spcPct val="108000"/>
              </a:lnSpc>
              <a:spcAft>
                <a:spcPts val="1200"/>
              </a:spcAft>
              <a:buSzPct val="100000"/>
              <a:buChar char="●"/>
            </a:pPr>
            <a:r>
              <a:rPr lang="en-US" sz="2400" dirty="0">
                <a:solidFill>
                  <a:srgbClr val="13315C"/>
                </a:solidFill>
                <a:latin typeface="Calibri" pitchFamily="34" charset="0"/>
                <a:ea typeface="Calibri" pitchFamily="34" charset="-122"/>
                <a:cs typeface="Calibri" pitchFamily="34" charset="-120"/>
              </a:rPr>
              <a:t>The Internet and ARPANET predate the OSI model — the experience gained building them directly influenced OSI's design.</a:t>
            </a:r>
            <a:endParaRPr lang="en-US" sz="2400" dirty="0"/>
          </a:p>
          <a:p>
            <a:pPr marL="342900" indent="-342900">
              <a:lnSpc>
                <a:spcPct val="108000"/>
              </a:lnSpc>
              <a:spcAft>
                <a:spcPts val="1200"/>
              </a:spcAft>
              <a:buSzPct val="100000"/>
              <a:buChar char="●"/>
            </a:pPr>
            <a:r>
              <a:rPr lang="en-US" sz="2400" dirty="0">
                <a:solidFill>
                  <a:srgbClr val="13315C"/>
                </a:solidFill>
                <a:latin typeface="Calibri" pitchFamily="34" charset="0"/>
                <a:ea typeface="Calibri" pitchFamily="34" charset="-122"/>
                <a:cs typeface="Calibri" pitchFamily="34" charset="-120"/>
              </a:rPr>
              <a:t>A simpler 4-layer stack is normally used instead of the full 7-layer OSI model.</a:t>
            </a:r>
            <a:endParaRPr lang="en-US" sz="2400" dirty="0"/>
          </a:p>
        </p:txBody>
      </p:sp>
      <p:sp>
        <p:nvSpPr>
          <p:cNvPr id="7" name="Shape 4"/>
          <p:cNvSpPr/>
          <p:nvPr/>
        </p:nvSpPr>
        <p:spPr>
          <a:xfrm>
            <a:off x="6309360" y="1920240"/>
            <a:ext cx="5120640" cy="777240"/>
          </a:xfrm>
          <a:prstGeom prst="roundRect">
            <a:avLst>
              <a:gd name="adj" fmla="val 5882"/>
            </a:avLst>
          </a:prstGeom>
          <a:solidFill>
            <a:srgbClr val="0B2545"/>
          </a:solidFill>
          <a:ln/>
        </p:spPr>
        <p:txBody>
          <a:bodyPr/>
          <a:lstStyle/>
          <a:p>
            <a:endParaRPr/>
          </a:p>
        </p:txBody>
      </p:sp>
      <p:sp>
        <p:nvSpPr>
          <p:cNvPr id="8" name="Text 5"/>
          <p:cNvSpPr/>
          <p:nvPr/>
        </p:nvSpPr>
        <p:spPr>
          <a:xfrm>
            <a:off x="6400800" y="1920240"/>
            <a:ext cx="4937760" cy="7772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Application (HTTP, FTP, SMTP...)</a:t>
            </a:r>
            <a:endParaRPr lang="en-US" sz="1300" dirty="0"/>
          </a:p>
        </p:txBody>
      </p:sp>
      <p:sp>
        <p:nvSpPr>
          <p:cNvPr id="9" name="Shape 6"/>
          <p:cNvSpPr/>
          <p:nvPr/>
        </p:nvSpPr>
        <p:spPr>
          <a:xfrm>
            <a:off x="8869680" y="2697480"/>
            <a:ext cx="0" cy="182880"/>
          </a:xfrm>
          <a:prstGeom prst="line">
            <a:avLst/>
          </a:prstGeom>
          <a:noFill/>
          <a:ln w="15875">
            <a:solidFill>
              <a:srgbClr val="5B6B82"/>
            </a:solidFill>
            <a:prstDash val="solid"/>
            <a:tailEnd type="triangle"/>
          </a:ln>
        </p:spPr>
        <p:txBody>
          <a:bodyPr/>
          <a:lstStyle/>
          <a:p>
            <a:endParaRPr/>
          </a:p>
        </p:txBody>
      </p:sp>
      <p:sp>
        <p:nvSpPr>
          <p:cNvPr id="10" name="Shape 7"/>
          <p:cNvSpPr/>
          <p:nvPr/>
        </p:nvSpPr>
        <p:spPr>
          <a:xfrm>
            <a:off x="6309360" y="2880360"/>
            <a:ext cx="5120640" cy="777240"/>
          </a:xfrm>
          <a:prstGeom prst="roundRect">
            <a:avLst>
              <a:gd name="adj" fmla="val 5882"/>
            </a:avLst>
          </a:prstGeom>
          <a:solidFill>
            <a:srgbClr val="0091AD"/>
          </a:solidFill>
          <a:ln/>
        </p:spPr>
        <p:txBody>
          <a:bodyPr/>
          <a:lstStyle/>
          <a:p>
            <a:endParaRPr/>
          </a:p>
        </p:txBody>
      </p:sp>
      <p:sp>
        <p:nvSpPr>
          <p:cNvPr id="11" name="Text 8"/>
          <p:cNvSpPr/>
          <p:nvPr/>
        </p:nvSpPr>
        <p:spPr>
          <a:xfrm>
            <a:off x="6400800" y="2880360"/>
            <a:ext cx="4937760" cy="7772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Transport (TCP / UDP)</a:t>
            </a:r>
            <a:endParaRPr lang="en-US" sz="1300" dirty="0"/>
          </a:p>
        </p:txBody>
      </p:sp>
      <p:sp>
        <p:nvSpPr>
          <p:cNvPr id="12" name="Shape 9"/>
          <p:cNvSpPr/>
          <p:nvPr/>
        </p:nvSpPr>
        <p:spPr>
          <a:xfrm>
            <a:off x="8869680" y="3657600"/>
            <a:ext cx="0" cy="182880"/>
          </a:xfrm>
          <a:prstGeom prst="line">
            <a:avLst/>
          </a:prstGeom>
          <a:noFill/>
          <a:ln w="15875">
            <a:solidFill>
              <a:srgbClr val="5B6B82"/>
            </a:solidFill>
            <a:prstDash val="solid"/>
            <a:tailEnd type="triangle"/>
          </a:ln>
        </p:spPr>
        <p:txBody>
          <a:bodyPr/>
          <a:lstStyle/>
          <a:p>
            <a:endParaRPr/>
          </a:p>
        </p:txBody>
      </p:sp>
      <p:sp>
        <p:nvSpPr>
          <p:cNvPr id="13" name="Shape 10"/>
          <p:cNvSpPr/>
          <p:nvPr/>
        </p:nvSpPr>
        <p:spPr>
          <a:xfrm>
            <a:off x="6309360" y="3840480"/>
            <a:ext cx="5120640" cy="777240"/>
          </a:xfrm>
          <a:prstGeom prst="roundRect">
            <a:avLst>
              <a:gd name="adj" fmla="val 5882"/>
            </a:avLst>
          </a:prstGeom>
          <a:solidFill>
            <a:srgbClr val="00B4D8"/>
          </a:solidFill>
          <a:ln/>
        </p:spPr>
        <p:txBody>
          <a:bodyPr/>
          <a:lstStyle/>
          <a:p>
            <a:endParaRPr/>
          </a:p>
        </p:txBody>
      </p:sp>
      <p:sp>
        <p:nvSpPr>
          <p:cNvPr id="14" name="Text 11"/>
          <p:cNvSpPr/>
          <p:nvPr/>
        </p:nvSpPr>
        <p:spPr>
          <a:xfrm>
            <a:off x="6400800" y="3840480"/>
            <a:ext cx="4937760" cy="7772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Internet (IP)</a:t>
            </a:r>
            <a:endParaRPr lang="en-US" sz="1300" dirty="0"/>
          </a:p>
        </p:txBody>
      </p:sp>
      <p:sp>
        <p:nvSpPr>
          <p:cNvPr id="15" name="Shape 12"/>
          <p:cNvSpPr/>
          <p:nvPr/>
        </p:nvSpPr>
        <p:spPr>
          <a:xfrm>
            <a:off x="8869680" y="4617720"/>
            <a:ext cx="0" cy="182880"/>
          </a:xfrm>
          <a:prstGeom prst="line">
            <a:avLst/>
          </a:prstGeom>
          <a:noFill/>
          <a:ln w="15875">
            <a:solidFill>
              <a:srgbClr val="5B6B82"/>
            </a:solidFill>
            <a:prstDash val="solid"/>
            <a:tailEnd type="triangle"/>
          </a:ln>
        </p:spPr>
        <p:txBody>
          <a:bodyPr/>
          <a:lstStyle/>
          <a:p>
            <a:endParaRPr/>
          </a:p>
        </p:txBody>
      </p:sp>
      <p:sp>
        <p:nvSpPr>
          <p:cNvPr id="16" name="Shape 13"/>
          <p:cNvSpPr/>
          <p:nvPr/>
        </p:nvSpPr>
        <p:spPr>
          <a:xfrm>
            <a:off x="6309360" y="4800600"/>
            <a:ext cx="5120640" cy="777240"/>
          </a:xfrm>
          <a:prstGeom prst="roundRect">
            <a:avLst>
              <a:gd name="adj" fmla="val 5882"/>
            </a:avLst>
          </a:prstGeom>
          <a:solidFill>
            <a:srgbClr val="8FA8C9"/>
          </a:solidFill>
          <a:ln/>
        </p:spPr>
        <p:txBody>
          <a:bodyPr/>
          <a:lstStyle/>
          <a:p>
            <a:endParaRPr/>
          </a:p>
        </p:txBody>
      </p:sp>
      <p:sp>
        <p:nvSpPr>
          <p:cNvPr id="17" name="Text 14"/>
          <p:cNvSpPr/>
          <p:nvPr/>
        </p:nvSpPr>
        <p:spPr>
          <a:xfrm>
            <a:off x="6400800" y="4800600"/>
            <a:ext cx="4937760" cy="7772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Network Interface (NET1, NET2...)</a:t>
            </a:r>
            <a:endParaRPr lang="en-US" sz="1300" dirty="0"/>
          </a:p>
        </p:txBody>
      </p:sp>
      <p:sp>
        <p:nvSpPr>
          <p:cNvPr id="18" name="Text 15"/>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TOPIC 6 · TCP/IP MODEL</a:t>
            </a:r>
            <a:endParaRPr lang="en-US" sz="1000" dirty="0"/>
          </a:p>
        </p:txBody>
      </p:sp>
      <p:sp>
        <p:nvSpPr>
          <p:cNvPr id="19" name="TextBox 18"/>
          <p:cNvSpPr txBox="1"/>
          <p:nvPr/>
        </p:nvSpPr>
        <p:spPr>
          <a:xfrm>
            <a:off x="11792000" y="6638000"/>
            <a:ext cx="200000" cy="100000"/>
          </a:xfrm>
          <a:prstGeom prst="rect">
            <a:avLst/>
          </a:prstGeom>
          <a:noFill/>
        </p:spPr>
        <p:txBody>
          <a:bodyPr wrap="none">
            <a:spAutoFit/>
          </a:bodyPr>
          <a:lstStyle/>
          <a:p>
            <a:pPr>
              <a:defRPr sz="1000"/>
            </a:pPr>
            <a:r>
              <a:t>42</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0091AD"/>
                </a:solidFill>
                <a:latin typeface="Calibri" pitchFamily="34" charset="0"/>
                <a:ea typeface="Calibri" pitchFamily="34" charset="-122"/>
                <a:cs typeface="Calibri" pitchFamily="34" charset="-120"/>
              </a:rPr>
              <a:t>TOPIC 6 · TCP/IP MODEL</a:t>
            </a:r>
            <a:endParaRPr lang="en-US" sz="1200" dirty="0"/>
          </a:p>
        </p:txBody>
      </p:sp>
      <p:sp>
        <p:nvSpPr>
          <p:cNvPr id="3" name="Text 1"/>
          <p:cNvSpPr/>
          <p:nvPr/>
        </p:nvSpPr>
        <p:spPr>
          <a:xfrm>
            <a:off x="548640" y="566928"/>
            <a:ext cx="10424160" cy="822960"/>
          </a:xfrm>
          <a:prstGeom prst="rect">
            <a:avLst/>
          </a:prstGeom>
          <a:noFill/>
          <a:ln/>
        </p:spPr>
        <p:txBody>
          <a:bodyPr wrap="square" lIns="0" tIns="0" rIns="0" bIns="0" rtlCol="0" anchor="t"/>
          <a:lstStyle/>
          <a:p>
            <a:pPr marL="0" indent="0">
              <a:buNone/>
            </a:pPr>
            <a:r>
              <a:rPr lang="en-US" sz="3000" b="1" dirty="0">
                <a:solidFill>
                  <a:srgbClr val="13315C"/>
                </a:solidFill>
                <a:latin typeface="Bookman Old Style" pitchFamily="34" charset="0"/>
                <a:ea typeface="Bookman Old Style" pitchFamily="34" charset="-122"/>
                <a:cs typeface="Bookman Old Style" pitchFamily="34" charset="-120"/>
              </a:rPr>
              <a:t>OSI vs. TCP/IP: Layer Mapping</a:t>
            </a:r>
            <a:endParaRPr lang="en-US" sz="3000" dirty="0"/>
          </a:p>
        </p:txBody>
      </p:sp>
      <p:graphicFrame>
        <p:nvGraphicFramePr>
          <p:cNvPr id="46" name="Table 0"/>
          <p:cNvGraphicFramePr>
            <a:graphicFrameLocks noGrp="1"/>
          </p:cNvGraphicFramePr>
          <p:nvPr>
            <p:extLst>
              <p:ext uri="{D42A27DB-BD31-4B8C-83A1-F6EECF244321}">
                <p14:modId xmlns:p14="http://schemas.microsoft.com/office/powerpoint/2010/main" val="181670697"/>
              </p:ext>
            </p:extLst>
          </p:nvPr>
        </p:nvGraphicFramePr>
        <p:xfrm>
          <a:off x="548640" y="1645920"/>
          <a:ext cx="11064240" cy="4836160"/>
        </p:xfrm>
        <a:graphic>
          <a:graphicData uri="http://schemas.openxmlformats.org/drawingml/2006/table">
            <a:tbl>
              <a:tblPr/>
              <a:tblGrid>
                <a:gridCol w="9144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4937760">
                  <a:extLst>
                    <a:ext uri="{9D8B030D-6E8A-4147-A177-3AD203B41FA5}">
                      <a16:colId xmlns:a16="http://schemas.microsoft.com/office/drawing/2014/main" val="20003"/>
                    </a:ext>
                  </a:extLst>
                </a:gridCol>
              </a:tblGrid>
              <a:tr h="457200">
                <a:tc>
                  <a:txBody>
                    <a:bodyPr/>
                    <a:lstStyle/>
                    <a:p>
                      <a:pPr marL="0" indent="0" algn="l">
                        <a:buNone/>
                      </a:pPr>
                      <a:r>
                        <a:rPr lang="en-US" sz="2400" b="1" dirty="0">
                          <a:solidFill>
                            <a:srgbClr val="FFFFFF"/>
                          </a:solidFill>
                          <a:latin typeface="Calibri" pitchFamily="34" charset="0"/>
                          <a:ea typeface="Calibri" pitchFamily="34" charset="-122"/>
                          <a:cs typeface="Calibri" pitchFamily="34" charset="-120"/>
                        </a:rPr>
                        <a:t>Layer #</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0B2545"/>
                    </a:solidFill>
                  </a:tcPr>
                </a:tc>
                <a:tc>
                  <a:txBody>
                    <a:bodyPr/>
                    <a:lstStyle/>
                    <a:p>
                      <a:pPr marL="0" indent="0" algn="l">
                        <a:buNone/>
                      </a:pPr>
                      <a:r>
                        <a:rPr lang="en-US" sz="2400" b="1" dirty="0">
                          <a:solidFill>
                            <a:srgbClr val="FFFFFF"/>
                          </a:solidFill>
                          <a:latin typeface="Calibri" pitchFamily="34" charset="0"/>
                          <a:ea typeface="Calibri" pitchFamily="34" charset="-122"/>
                          <a:cs typeface="Calibri" pitchFamily="34" charset="-120"/>
                        </a:rPr>
                        <a:t>OSI Layer</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0B2545"/>
                    </a:solidFill>
                  </a:tcPr>
                </a:tc>
                <a:tc>
                  <a:txBody>
                    <a:bodyPr/>
                    <a:lstStyle/>
                    <a:p>
                      <a:pPr marL="0" indent="0" algn="l">
                        <a:buNone/>
                      </a:pPr>
                      <a:r>
                        <a:rPr lang="en-US" sz="2400" b="1" dirty="0">
                          <a:solidFill>
                            <a:srgbClr val="FFFFFF"/>
                          </a:solidFill>
                          <a:latin typeface="Calibri" pitchFamily="34" charset="0"/>
                          <a:ea typeface="Calibri" pitchFamily="34" charset="-122"/>
                          <a:cs typeface="Calibri" pitchFamily="34" charset="-120"/>
                        </a:rPr>
                        <a:t>TCP/IP Layer</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0B2545"/>
                    </a:solidFill>
                  </a:tcPr>
                </a:tc>
                <a:tc>
                  <a:txBody>
                    <a:bodyPr/>
                    <a:lstStyle/>
                    <a:p>
                      <a:pPr marL="0" indent="0" algn="l">
                        <a:buNone/>
                      </a:pPr>
                      <a:r>
                        <a:rPr lang="en-US" sz="2400" b="1" dirty="0">
                          <a:solidFill>
                            <a:srgbClr val="FFFFFF"/>
                          </a:solidFill>
                          <a:latin typeface="Calibri" pitchFamily="34" charset="0"/>
                          <a:ea typeface="Calibri" pitchFamily="34" charset="-122"/>
                          <a:cs typeface="Calibri" pitchFamily="34" charset="-120"/>
                        </a:rPr>
                        <a:t>Example / Notes</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457200">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7</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7FAFD"/>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Application</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7FAFD"/>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Application</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7FAFD"/>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HTTP, FTP, SMTP, DNS, Telnet</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7FAFD"/>
                    </a:solidFill>
                  </a:tcPr>
                </a:tc>
                <a:extLst>
                  <a:ext uri="{0D108BD9-81ED-4DB2-BD59-A6C34878D82A}">
                    <a16:rowId xmlns:a16="http://schemas.microsoft.com/office/drawing/2014/main" val="10001"/>
                  </a:ext>
                </a:extLst>
              </a:tr>
              <a:tr h="457200">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6</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FFFFF"/>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Presentation</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FFFFF"/>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(folded into Application)</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FFFFF"/>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Data formatting, encryption</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5</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7FAFD"/>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Session</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7FAFD"/>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(folded into Application)</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7FAFD"/>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Session/stream management</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7FAFD"/>
                    </a:solidFill>
                  </a:tcPr>
                </a:tc>
                <a:extLst>
                  <a:ext uri="{0D108BD9-81ED-4DB2-BD59-A6C34878D82A}">
                    <a16:rowId xmlns:a16="http://schemas.microsoft.com/office/drawing/2014/main" val="10003"/>
                  </a:ext>
                </a:extLst>
              </a:tr>
              <a:tr h="457200">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4</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FFFFF"/>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Transport</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FFFFF"/>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Transport</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FFFFF"/>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TCP (reliable), UDP (unreliable)</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3</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7FAFD"/>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Network</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7FAFD"/>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Internet</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7FAFD"/>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IP — the architecture's 'narrow waist'</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7FAFD"/>
                    </a:solidFill>
                  </a:tcPr>
                </a:tc>
                <a:extLst>
                  <a:ext uri="{0D108BD9-81ED-4DB2-BD59-A6C34878D82A}">
                    <a16:rowId xmlns:a16="http://schemas.microsoft.com/office/drawing/2014/main" val="10005"/>
                  </a:ext>
                </a:extLst>
              </a:tr>
              <a:tr h="457200">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2</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FFFFF"/>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Data Link</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FFFFF"/>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Network Interface</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FFFFF"/>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Ethernet, Wi-Fi (802.11)</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57200">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7FAFD"/>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Physical</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7FAFD"/>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Network Interface</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7FAFD"/>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Cabling, radio signals</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7FAFD"/>
                    </a:solidFill>
                  </a:tcPr>
                </a:tc>
                <a:extLst>
                  <a:ext uri="{0D108BD9-81ED-4DB2-BD59-A6C34878D82A}">
                    <a16:rowId xmlns:a16="http://schemas.microsoft.com/office/drawing/2014/main" val="10007"/>
                  </a:ext>
                </a:extLst>
              </a:tr>
            </a:tbl>
          </a:graphicData>
        </a:graphic>
      </p:graphicFrame>
      <p:sp>
        <p:nvSpPr>
          <p:cNvPr id="7" name="Text 3"/>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TOPIC 6 · TCP/IP MODEL</a:t>
            </a:r>
            <a:endParaRPr lang="en-US" sz="1000" dirty="0"/>
          </a:p>
        </p:txBody>
      </p:sp>
      <p:sp>
        <p:nvSpPr>
          <p:cNvPr id="47" name="TextBox 46"/>
          <p:cNvSpPr txBox="1"/>
          <p:nvPr/>
        </p:nvSpPr>
        <p:spPr>
          <a:xfrm>
            <a:off x="11792000" y="6638000"/>
            <a:ext cx="200000" cy="100000"/>
          </a:xfrm>
          <a:prstGeom prst="rect">
            <a:avLst/>
          </a:prstGeom>
          <a:noFill/>
        </p:spPr>
        <p:txBody>
          <a:bodyPr wrap="none">
            <a:spAutoFit/>
          </a:bodyPr>
          <a:lstStyle/>
          <a:p>
            <a:pPr>
              <a:defRPr sz="1000"/>
            </a:pPr>
            <a:r>
              <a:t>43</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0091AD"/>
                </a:solidFill>
                <a:latin typeface="Calibri" pitchFamily="34" charset="0"/>
                <a:ea typeface="Calibri" pitchFamily="34" charset="-122"/>
                <a:cs typeface="Calibri" pitchFamily="34" charset="-120"/>
              </a:rPr>
              <a:t>TOPIC 6 · TCP/IP MODEL</a:t>
            </a:r>
            <a:endParaRPr lang="en-US" sz="1200" dirty="0"/>
          </a:p>
        </p:txBody>
      </p:sp>
      <p:sp>
        <p:nvSpPr>
          <p:cNvPr id="3" name="Text 1"/>
          <p:cNvSpPr/>
          <p:nvPr/>
        </p:nvSpPr>
        <p:spPr>
          <a:xfrm>
            <a:off x="548640" y="566928"/>
            <a:ext cx="10424160" cy="822960"/>
          </a:xfrm>
          <a:prstGeom prst="rect">
            <a:avLst/>
          </a:prstGeom>
          <a:noFill/>
          <a:ln/>
        </p:spPr>
        <p:txBody>
          <a:bodyPr wrap="square" lIns="0" tIns="0" rIns="0" bIns="0" rtlCol="0" anchor="t"/>
          <a:lstStyle/>
          <a:p>
            <a:pPr marL="0" indent="0">
              <a:buNone/>
            </a:pPr>
            <a:r>
              <a:rPr lang="en-US" sz="3000" b="1" dirty="0">
                <a:solidFill>
                  <a:srgbClr val="13315C"/>
                </a:solidFill>
                <a:latin typeface="Bookman Old Style" pitchFamily="34" charset="0"/>
                <a:ea typeface="Bookman Old Style" pitchFamily="34" charset="-122"/>
                <a:cs typeface="Bookman Old Style" pitchFamily="34" charset="-120"/>
              </a:rPr>
              <a:t>TCP vs. UDP</a:t>
            </a:r>
            <a:endParaRPr lang="en-US" sz="3000" dirty="0"/>
          </a:p>
        </p:txBody>
      </p:sp>
      <p:graphicFrame>
        <p:nvGraphicFramePr>
          <p:cNvPr id="47" name="Table 0"/>
          <p:cNvGraphicFramePr>
            <a:graphicFrameLocks noGrp="1"/>
          </p:cNvGraphicFramePr>
          <p:nvPr>
            <p:extLst>
              <p:ext uri="{D42A27DB-BD31-4B8C-83A1-F6EECF244321}">
                <p14:modId xmlns:p14="http://schemas.microsoft.com/office/powerpoint/2010/main" val="141150722"/>
              </p:ext>
            </p:extLst>
          </p:nvPr>
        </p:nvGraphicFramePr>
        <p:xfrm>
          <a:off x="548640" y="1737360"/>
          <a:ext cx="11064240" cy="3068320"/>
        </p:xfrm>
        <a:graphic>
          <a:graphicData uri="http://schemas.openxmlformats.org/drawingml/2006/table">
            <a:tbl>
              <a:tblPr/>
              <a:tblGrid>
                <a:gridCol w="256032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tblGrid>
              <a:tr h="457200">
                <a:tc>
                  <a:txBody>
                    <a:bodyPr/>
                    <a:lstStyle/>
                    <a:p>
                      <a:pPr marL="0" indent="0" algn="l">
                        <a:buNone/>
                      </a:pPr>
                      <a:r>
                        <a:rPr lang="en-US" sz="2400" b="1" dirty="0">
                          <a:solidFill>
                            <a:srgbClr val="FFFFFF"/>
                          </a:solidFill>
                          <a:latin typeface="Calibri" pitchFamily="34" charset="0"/>
                          <a:ea typeface="Calibri" pitchFamily="34" charset="-122"/>
                          <a:cs typeface="Calibri" pitchFamily="34" charset="-120"/>
                        </a:rPr>
                        <a:t>Aspect</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0B2545"/>
                    </a:solidFill>
                  </a:tcPr>
                </a:tc>
                <a:tc>
                  <a:txBody>
                    <a:bodyPr/>
                    <a:lstStyle/>
                    <a:p>
                      <a:pPr marL="0" indent="0" algn="l">
                        <a:buNone/>
                      </a:pPr>
                      <a:r>
                        <a:rPr lang="en-US" sz="2400" b="1" dirty="0">
                          <a:solidFill>
                            <a:srgbClr val="FFFFFF"/>
                          </a:solidFill>
                          <a:latin typeface="Calibri" pitchFamily="34" charset="0"/>
                          <a:ea typeface="Calibri" pitchFamily="34" charset="-122"/>
                          <a:cs typeface="Calibri" pitchFamily="34" charset="-120"/>
                        </a:rPr>
                        <a:t>TCP</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0B2545"/>
                    </a:solidFill>
                  </a:tcPr>
                </a:tc>
                <a:tc>
                  <a:txBody>
                    <a:bodyPr/>
                    <a:lstStyle/>
                    <a:p>
                      <a:pPr marL="0" indent="0" algn="l">
                        <a:buNone/>
                      </a:pPr>
                      <a:r>
                        <a:rPr lang="en-US" sz="2400" b="1" dirty="0">
                          <a:solidFill>
                            <a:srgbClr val="FFFFFF"/>
                          </a:solidFill>
                          <a:latin typeface="Calibri" pitchFamily="34" charset="0"/>
                          <a:ea typeface="Calibri" pitchFamily="34" charset="-122"/>
                          <a:cs typeface="Calibri" pitchFamily="34" charset="-120"/>
                        </a:rPr>
                        <a:t>UDP</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457200">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Channel type</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7FAFD"/>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Reliable byte-stream</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7FAFD"/>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Unreliable datagram delivery</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7FAFD"/>
                    </a:solidFill>
                  </a:tcPr>
                </a:tc>
                <a:extLst>
                  <a:ext uri="{0D108BD9-81ED-4DB2-BD59-A6C34878D82A}">
                    <a16:rowId xmlns:a16="http://schemas.microsoft.com/office/drawing/2014/main" val="10001"/>
                  </a:ext>
                </a:extLst>
              </a:tr>
              <a:tr h="457200">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Delivery guarantee</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FFFFF"/>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Guaranteed, in-order delivery</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FFFFF"/>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Best-effort, no guarantee</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Overhead</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7FAFD"/>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Higher (acknowledgements, retransmission)</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7FAFD"/>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Lower (minimal header)</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7FAFD"/>
                    </a:solidFill>
                  </a:tcPr>
                </a:tc>
                <a:extLst>
                  <a:ext uri="{0D108BD9-81ED-4DB2-BD59-A6C34878D82A}">
                    <a16:rowId xmlns:a16="http://schemas.microsoft.com/office/drawing/2014/main" val="10003"/>
                  </a:ext>
                </a:extLst>
              </a:tr>
              <a:tr h="457200">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Typical use</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FFFFF"/>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Web (HTTP), email, file transfer</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FFFFF"/>
                    </a:solidFill>
                  </a:tcPr>
                </a:tc>
                <a:tc>
                  <a:txBody>
                    <a:bodyPr/>
                    <a:lstStyle/>
                    <a:p>
                      <a:pPr marL="0" indent="0" algn="l">
                        <a:buNone/>
                      </a:pPr>
                      <a:r>
                        <a:rPr lang="en-US" sz="2400" dirty="0">
                          <a:solidFill>
                            <a:srgbClr val="13315C"/>
                          </a:solidFill>
                          <a:latin typeface="Calibri" pitchFamily="34" charset="0"/>
                          <a:ea typeface="Calibri" pitchFamily="34" charset="-122"/>
                          <a:cs typeface="Calibri" pitchFamily="34" charset="-120"/>
                        </a:rPr>
                        <a:t>Streaming, DNS queries, gaming, VoIP</a:t>
                      </a:r>
                      <a:endParaRPr lang="en-US" sz="2400" dirty="0">
                        <a:latin typeface="Calibri" charset="0"/>
                        <a:ea typeface="Calibri" charset="0"/>
                        <a:cs typeface="Calibri" charset="0"/>
                      </a:endParaRPr>
                    </a:p>
                  </a:txBody>
                  <a:tcPr marL="101600" marR="101600" marT="50800" marB="50800" anchor="ctr">
                    <a:lnL w="9525" cap="flat" cmpd="sng" algn="ctr">
                      <a:solidFill>
                        <a:srgbClr val="D8E2ED"/>
                      </a:solidFill>
                      <a:prstDash val="solid"/>
                      <a:round/>
                      <a:headEnd type="none" w="med" len="med"/>
                      <a:tailEnd type="none" w="med" len="med"/>
                    </a:lnL>
                    <a:lnR w="9525" cap="flat" cmpd="sng" algn="ctr">
                      <a:solidFill>
                        <a:srgbClr val="D8E2ED"/>
                      </a:solidFill>
                      <a:prstDash val="solid"/>
                      <a:round/>
                      <a:headEnd type="none" w="med" len="med"/>
                      <a:tailEnd type="none" w="med" len="med"/>
                    </a:lnR>
                    <a:lnT w="9525" cap="flat" cmpd="sng" algn="ctr">
                      <a:solidFill>
                        <a:srgbClr val="D8E2ED"/>
                      </a:solidFill>
                      <a:prstDash val="solid"/>
                      <a:round/>
                      <a:headEnd type="none" w="med" len="med"/>
                      <a:tailEnd type="none" w="med" len="med"/>
                    </a:lnT>
                    <a:lnB w="9525" cap="flat" cmpd="sng" algn="ctr">
                      <a:solidFill>
                        <a:srgbClr val="D8E2E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Shape 3"/>
          <p:cNvSpPr/>
          <p:nvPr/>
        </p:nvSpPr>
        <p:spPr>
          <a:xfrm>
            <a:off x="548640" y="5182616"/>
            <a:ext cx="11064240" cy="914400"/>
          </a:xfrm>
          <a:prstGeom prst="roundRect">
            <a:avLst>
              <a:gd name="adj" fmla="val 8000"/>
            </a:avLst>
          </a:prstGeom>
          <a:solidFill>
            <a:srgbClr val="EAF6FA"/>
          </a:solidFill>
          <a:ln/>
          <a:effectLst>
            <a:outerShdw blurRad="88900" dist="25400" dir="5400000" algn="bl" rotWithShape="0">
              <a:srgbClr val="0B2545">
                <a:alpha val="10000"/>
              </a:srgbClr>
            </a:outerShdw>
          </a:effectLst>
        </p:spPr>
        <p:txBody>
          <a:bodyPr/>
          <a:lstStyle/>
          <a:p>
            <a:endParaRPr/>
          </a:p>
        </p:txBody>
      </p:sp>
      <p:sp>
        <p:nvSpPr>
          <p:cNvPr id="8" name="Text 4"/>
          <p:cNvSpPr/>
          <p:nvPr/>
        </p:nvSpPr>
        <p:spPr>
          <a:xfrm>
            <a:off x="838200" y="5153152"/>
            <a:ext cx="10515600" cy="914400"/>
          </a:xfrm>
          <a:prstGeom prst="rect">
            <a:avLst/>
          </a:prstGeom>
          <a:noFill/>
          <a:ln/>
        </p:spPr>
        <p:txBody>
          <a:bodyPr wrap="square" lIns="0" tIns="0" rIns="0" bIns="0" rtlCol="0" anchor="ctr"/>
          <a:lstStyle/>
          <a:p>
            <a:pPr marL="0" indent="0">
              <a:buNone/>
            </a:pPr>
            <a:r>
              <a:rPr lang="en-US" sz="2000" i="1" dirty="0">
                <a:solidFill>
                  <a:srgbClr val="13315C"/>
                </a:solidFill>
                <a:latin typeface="Calibri" pitchFamily="34" charset="0"/>
                <a:ea typeface="Calibri" pitchFamily="34" charset="-122"/>
                <a:cs typeface="Calibri" pitchFamily="34" charset="-120"/>
              </a:rPr>
              <a:t>Both TCP and UDP are called end-to-end protocols (or transport protocols) — they provide alternative logical channels directly to application programs, both running on top of IP.</a:t>
            </a:r>
            <a:endParaRPr lang="en-US" sz="2000" dirty="0"/>
          </a:p>
        </p:txBody>
      </p:sp>
      <p:sp>
        <p:nvSpPr>
          <p:cNvPr id="9" name="Text 5"/>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TOPIC 6 · TCP/IP MODEL</a:t>
            </a:r>
            <a:endParaRPr lang="en-US" sz="1000" dirty="0"/>
          </a:p>
        </p:txBody>
      </p:sp>
      <p:sp>
        <p:nvSpPr>
          <p:cNvPr id="48" name="TextBox 47"/>
          <p:cNvSpPr txBox="1"/>
          <p:nvPr/>
        </p:nvSpPr>
        <p:spPr>
          <a:xfrm>
            <a:off x="11792000" y="6638000"/>
            <a:ext cx="200000" cy="100000"/>
          </a:xfrm>
          <a:prstGeom prst="rect">
            <a:avLst/>
          </a:prstGeom>
          <a:noFill/>
        </p:spPr>
        <p:txBody>
          <a:bodyPr wrap="none">
            <a:spAutoFit/>
          </a:bodyPr>
          <a:lstStyle/>
          <a:p>
            <a:pPr>
              <a:defRPr sz="1000"/>
            </a:pPr>
            <a:r>
              <a:t>44</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0091AD"/>
                </a:solidFill>
                <a:latin typeface="Calibri" pitchFamily="34" charset="0"/>
                <a:ea typeface="Calibri" pitchFamily="34" charset="-122"/>
                <a:cs typeface="Calibri" pitchFamily="34" charset="-120"/>
              </a:rPr>
              <a:t>TOPIC 6 · TCP/IP MODEL</a:t>
            </a:r>
            <a:endParaRPr lang="en-US" sz="1200" dirty="0"/>
          </a:p>
        </p:txBody>
      </p:sp>
      <p:sp>
        <p:nvSpPr>
          <p:cNvPr id="3" name="Text 1"/>
          <p:cNvSpPr/>
          <p:nvPr/>
        </p:nvSpPr>
        <p:spPr>
          <a:xfrm>
            <a:off x="548640" y="566928"/>
            <a:ext cx="10424160" cy="822960"/>
          </a:xfrm>
          <a:prstGeom prst="rect">
            <a:avLst/>
          </a:prstGeom>
          <a:noFill/>
          <a:ln/>
        </p:spPr>
        <p:txBody>
          <a:bodyPr wrap="square" lIns="0" tIns="0" rIns="0" bIns="0" rtlCol="0" anchor="t"/>
          <a:lstStyle/>
          <a:p>
            <a:pPr marL="0" indent="0">
              <a:buNone/>
            </a:pPr>
            <a:r>
              <a:rPr lang="en-US" sz="3000" b="1" dirty="0">
                <a:solidFill>
                  <a:srgbClr val="13315C"/>
                </a:solidFill>
                <a:latin typeface="Bookman Old Style" pitchFamily="34" charset="0"/>
                <a:ea typeface="Bookman Old Style" pitchFamily="34" charset="-122"/>
                <a:cs typeface="Bookman Old Style" pitchFamily="34" charset="-120"/>
              </a:rPr>
              <a:t>Application Layer Protocols</a:t>
            </a:r>
            <a:endParaRPr lang="en-US" sz="3000" dirty="0"/>
          </a:p>
        </p:txBody>
      </p:sp>
      <p:sp>
        <p:nvSpPr>
          <p:cNvPr id="6" name="Text 3"/>
          <p:cNvSpPr/>
          <p:nvPr/>
        </p:nvSpPr>
        <p:spPr>
          <a:xfrm>
            <a:off x="548640" y="1600200"/>
            <a:ext cx="11064240" cy="4572000"/>
          </a:xfrm>
          <a:prstGeom prst="rect">
            <a:avLst/>
          </a:prstGeom>
          <a:noFill/>
          <a:ln/>
        </p:spPr>
        <p:txBody>
          <a:bodyPr wrap="square" lIns="0" tIns="0" rIns="0" bIns="0" rtlCol="0" anchor="t"/>
          <a:lstStyle/>
          <a:p>
            <a:pPr marL="342900" indent="-342900">
              <a:lnSpc>
                <a:spcPct val="108000"/>
              </a:lnSpc>
              <a:spcAft>
                <a:spcPts val="1200"/>
              </a:spcAft>
              <a:buSzPct val="100000"/>
              <a:buChar char="●"/>
            </a:pPr>
            <a:r>
              <a:rPr lang="en-US" sz="2400" dirty="0">
                <a:solidFill>
                  <a:srgbClr val="13315C"/>
                </a:solidFill>
                <a:latin typeface="Calibri" pitchFamily="34" charset="0"/>
                <a:ea typeface="Calibri" pitchFamily="34" charset="-122"/>
                <a:cs typeface="Calibri" pitchFamily="34" charset="-120"/>
              </a:rPr>
              <a:t>A range of application protocols run above the transport layer, enabling interoperation of popular applications:</a:t>
            </a:r>
            <a:endParaRPr lang="en-US" sz="2400" dirty="0"/>
          </a:p>
          <a:p>
            <a:pPr marL="685800" lvl="1" indent="-342900">
              <a:lnSpc>
                <a:spcPct val="108000"/>
              </a:lnSpc>
              <a:spcAft>
                <a:spcPts val="600"/>
              </a:spcAft>
              <a:buSzPct val="100000"/>
              <a:buChar char="–"/>
            </a:pPr>
            <a:r>
              <a:rPr lang="en-US" sz="2000" dirty="0">
                <a:solidFill>
                  <a:srgbClr val="13315C"/>
                </a:solidFill>
                <a:latin typeface="Calibri" pitchFamily="34" charset="0"/>
                <a:ea typeface="Calibri" pitchFamily="34" charset="-122"/>
                <a:cs typeface="Calibri" pitchFamily="34" charset="-120"/>
              </a:rPr>
              <a:t>HTTP — Hypertext Transfer Protocol, the basis of the World Wide Web.</a:t>
            </a:r>
            <a:endParaRPr lang="en-US" sz="2400" dirty="0"/>
          </a:p>
          <a:p>
            <a:pPr marL="685800" lvl="1" indent="-342900">
              <a:lnSpc>
                <a:spcPct val="108000"/>
              </a:lnSpc>
              <a:spcAft>
                <a:spcPts val="600"/>
              </a:spcAft>
              <a:buSzPct val="100000"/>
              <a:buChar char="–"/>
            </a:pPr>
            <a:r>
              <a:rPr lang="en-US" sz="2000" dirty="0">
                <a:solidFill>
                  <a:srgbClr val="13315C"/>
                </a:solidFill>
                <a:latin typeface="Calibri" pitchFamily="34" charset="0"/>
                <a:ea typeface="Calibri" pitchFamily="34" charset="-122"/>
                <a:cs typeface="Calibri" pitchFamily="34" charset="-120"/>
              </a:rPr>
              <a:t>FTP — File Transfer Protocol.</a:t>
            </a:r>
            <a:endParaRPr lang="en-US" sz="2400" dirty="0"/>
          </a:p>
          <a:p>
            <a:pPr marL="685800" lvl="1" indent="-342900">
              <a:lnSpc>
                <a:spcPct val="108000"/>
              </a:lnSpc>
              <a:spcAft>
                <a:spcPts val="600"/>
              </a:spcAft>
              <a:buSzPct val="100000"/>
              <a:buChar char="–"/>
            </a:pPr>
            <a:r>
              <a:rPr lang="en-US" sz="2000" dirty="0">
                <a:solidFill>
                  <a:srgbClr val="13315C"/>
                </a:solidFill>
                <a:latin typeface="Calibri" pitchFamily="34" charset="0"/>
                <a:ea typeface="Calibri" pitchFamily="34" charset="-122"/>
                <a:cs typeface="Calibri" pitchFamily="34" charset="-120"/>
              </a:rPr>
              <a:t>Telnet — remote login.</a:t>
            </a:r>
            <a:endParaRPr lang="en-US" sz="2400" dirty="0"/>
          </a:p>
          <a:p>
            <a:pPr marL="685800" lvl="1" indent="-342900">
              <a:lnSpc>
                <a:spcPct val="108000"/>
              </a:lnSpc>
              <a:spcAft>
                <a:spcPts val="600"/>
              </a:spcAft>
              <a:buSzPct val="100000"/>
              <a:buChar char="–"/>
            </a:pPr>
            <a:r>
              <a:rPr lang="en-US" sz="2000" dirty="0">
                <a:solidFill>
                  <a:srgbClr val="13315C"/>
                </a:solidFill>
                <a:latin typeface="Calibri" pitchFamily="34" charset="0"/>
                <a:ea typeface="Calibri" pitchFamily="34" charset="-122"/>
                <a:cs typeface="Calibri" pitchFamily="34" charset="-120"/>
              </a:rPr>
              <a:t>SMTP — Simple Mail Transfer Protocol, for email.</a:t>
            </a:r>
            <a:endParaRPr lang="en-US" sz="2400" dirty="0"/>
          </a:p>
          <a:p>
            <a:pPr marL="342900" indent="-342900">
              <a:lnSpc>
                <a:spcPct val="108000"/>
              </a:lnSpc>
              <a:spcAft>
                <a:spcPts val="1200"/>
              </a:spcAft>
              <a:buSzPct val="100000"/>
              <a:buChar char="●"/>
            </a:pPr>
            <a:r>
              <a:rPr lang="en-US" sz="2400" dirty="0">
                <a:solidFill>
                  <a:srgbClr val="13315C"/>
                </a:solidFill>
                <a:latin typeface="Calibri" pitchFamily="34" charset="0"/>
                <a:ea typeface="Calibri" pitchFamily="34" charset="-122"/>
                <a:cs typeface="Calibri" pitchFamily="34" charset="-120"/>
              </a:rPr>
              <a:t>Different browsers (Chrome, Firefox, Safari) all interoperate with any web server because they conform to the same HTTP specification.</a:t>
            </a:r>
            <a:endParaRPr lang="en-US" sz="2400" dirty="0"/>
          </a:p>
          <a:p>
            <a:pPr marL="342900" indent="-342900">
              <a:lnSpc>
                <a:spcPct val="108000"/>
              </a:lnSpc>
              <a:spcAft>
                <a:spcPts val="1200"/>
              </a:spcAft>
              <a:buSzPct val="100000"/>
              <a:buChar char="●"/>
            </a:pPr>
            <a:r>
              <a:rPr lang="en-US" sz="2400" b="1" dirty="0">
                <a:solidFill>
                  <a:srgbClr val="13315C"/>
                </a:solidFill>
                <a:latin typeface="Calibri" pitchFamily="34" charset="0"/>
                <a:ea typeface="Calibri" pitchFamily="34" charset="-122"/>
                <a:cs typeface="Calibri" pitchFamily="34" charset="-120"/>
              </a:rPr>
              <a:t>Note the terminology overlap:</a:t>
            </a:r>
            <a:endParaRPr lang="en-US" sz="2400" dirty="0"/>
          </a:p>
          <a:p>
            <a:pPr marL="685800" lvl="1" indent="-342900">
              <a:lnSpc>
                <a:spcPct val="108000"/>
              </a:lnSpc>
              <a:spcAft>
                <a:spcPts val="600"/>
              </a:spcAft>
              <a:buSzPct val="100000"/>
              <a:buChar char="–"/>
            </a:pPr>
            <a:r>
              <a:rPr lang="en-US" sz="2000" dirty="0">
                <a:solidFill>
                  <a:srgbClr val="13315C"/>
                </a:solidFill>
                <a:latin typeface="Calibri" pitchFamily="34" charset="0"/>
                <a:ea typeface="Calibri" pitchFamily="34" charset="-122"/>
                <a:cs typeface="Calibri" pitchFamily="34" charset="-120"/>
              </a:rPr>
              <a:t>The same term (e.g. 'FTP') often names both the application program AND the protocol it implements.</a:t>
            </a:r>
            <a:endParaRPr lang="en-US" sz="2400" dirty="0"/>
          </a:p>
        </p:txBody>
      </p:sp>
      <p:sp>
        <p:nvSpPr>
          <p:cNvPr id="7" name="Text 4"/>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TOPIC 6 · TCP/IP MODEL</a:t>
            </a:r>
            <a:endParaRPr lang="en-US" sz="1000" dirty="0"/>
          </a:p>
        </p:txBody>
      </p:sp>
      <p:sp>
        <p:nvSpPr>
          <p:cNvPr id="8" name="TextBox 7"/>
          <p:cNvSpPr txBox="1"/>
          <p:nvPr/>
        </p:nvSpPr>
        <p:spPr>
          <a:xfrm>
            <a:off x="11792000" y="6638000"/>
            <a:ext cx="200000" cy="100000"/>
          </a:xfrm>
          <a:prstGeom prst="rect">
            <a:avLst/>
          </a:prstGeom>
          <a:noFill/>
        </p:spPr>
        <p:txBody>
          <a:bodyPr wrap="none">
            <a:spAutoFit/>
          </a:bodyPr>
          <a:lstStyle/>
          <a:p>
            <a:pPr>
              <a:defRPr sz="1000"/>
            </a:pPr>
            <a:r>
              <a:t>45</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4" name="Text 1"/>
          <p:cNvSpPr/>
          <p:nvPr/>
        </p:nvSpPr>
        <p:spPr>
          <a:xfrm>
            <a:off x="1371600" y="457200"/>
            <a:ext cx="8229600" cy="320040"/>
          </a:xfrm>
          <a:prstGeom prst="rect">
            <a:avLst/>
          </a:prstGeom>
          <a:noFill/>
          <a:ln/>
        </p:spPr>
        <p:txBody>
          <a:bodyPr wrap="square" lIns="0" tIns="0" rIns="0" bIns="0" rtlCol="0" anchor="ctr"/>
          <a:lstStyle/>
          <a:p>
            <a:pPr marL="0" indent="0">
              <a:buNone/>
            </a:pPr>
            <a:r>
              <a:rPr lang="en-US" sz="1300" b="1" kern="0" spc="150" dirty="0">
                <a:solidFill>
                  <a:srgbClr val="E07A2C"/>
                </a:solidFill>
                <a:latin typeface="Calibri" pitchFamily="34" charset="0"/>
                <a:ea typeface="Calibri" pitchFamily="34" charset="-122"/>
                <a:cs typeface="Calibri" pitchFamily="34" charset="-120"/>
              </a:rPr>
              <a:t>HANDS-ON ACTIVITY</a:t>
            </a:r>
            <a:endParaRPr lang="en-US" sz="1300" dirty="0"/>
          </a:p>
        </p:txBody>
      </p:sp>
      <p:sp>
        <p:nvSpPr>
          <p:cNvPr id="5" name="Text 2"/>
          <p:cNvSpPr/>
          <p:nvPr/>
        </p:nvSpPr>
        <p:spPr>
          <a:xfrm>
            <a:off x="548640" y="868680"/>
            <a:ext cx="10789920" cy="777240"/>
          </a:xfrm>
          <a:prstGeom prst="rect">
            <a:avLst/>
          </a:prstGeom>
          <a:noFill/>
          <a:ln/>
        </p:spPr>
        <p:txBody>
          <a:bodyPr wrap="square" lIns="0" tIns="0" rIns="0" bIns="0" rtlCol="0" anchor="ctr"/>
          <a:lstStyle/>
          <a:p>
            <a:pPr marL="0" indent="0">
              <a:buNone/>
            </a:pPr>
            <a:r>
              <a:rPr lang="en-US" sz="2700" b="1" dirty="0">
                <a:solidFill>
                  <a:srgbClr val="13315C"/>
                </a:solidFill>
                <a:latin typeface="Bookman Old Style" pitchFamily="34" charset="0"/>
                <a:ea typeface="Bookman Old Style" pitchFamily="34" charset="-122"/>
                <a:cs typeface="Bookman Old Style" pitchFamily="34" charset="-120"/>
              </a:rPr>
              <a:t>Trace a Protocol Stack</a:t>
            </a:r>
            <a:endParaRPr lang="en-US" sz="2700" dirty="0"/>
          </a:p>
        </p:txBody>
      </p:sp>
      <p:sp>
        <p:nvSpPr>
          <p:cNvPr id="6" name="Shape 3"/>
          <p:cNvSpPr/>
          <p:nvPr/>
        </p:nvSpPr>
        <p:spPr>
          <a:xfrm>
            <a:off x="548640" y="1783080"/>
            <a:ext cx="11064240" cy="4434840"/>
          </a:xfrm>
          <a:prstGeom prst="roundRect">
            <a:avLst>
              <a:gd name="adj" fmla="val 1649"/>
            </a:avLst>
          </a:prstGeom>
          <a:solidFill>
            <a:srgbClr val="FFFFFF"/>
          </a:solidFill>
          <a:ln/>
          <a:effectLst>
            <a:outerShdw blurRad="88900" dist="25400" dir="5400000" algn="bl" rotWithShape="0">
              <a:srgbClr val="0B2545">
                <a:alpha val="10000"/>
              </a:srgbClr>
            </a:outerShdw>
          </a:effectLst>
        </p:spPr>
        <p:txBody>
          <a:bodyPr/>
          <a:lstStyle/>
          <a:p>
            <a:endParaRPr/>
          </a:p>
        </p:txBody>
      </p:sp>
      <p:sp>
        <p:nvSpPr>
          <p:cNvPr id="7" name="Text 4"/>
          <p:cNvSpPr/>
          <p:nvPr/>
        </p:nvSpPr>
        <p:spPr>
          <a:xfrm>
            <a:off x="914400" y="2057400"/>
            <a:ext cx="10332720" cy="3931920"/>
          </a:xfrm>
          <a:prstGeom prst="rect">
            <a:avLst/>
          </a:prstGeom>
          <a:noFill/>
          <a:ln/>
        </p:spPr>
        <p:txBody>
          <a:bodyPr wrap="square" lIns="0" tIns="0" rIns="0" bIns="0" rtlCol="0" anchor="t"/>
          <a:lstStyle/>
          <a:p>
            <a:pPr marL="342900" indent="-342900">
              <a:lnSpc>
                <a:spcPct val="110000"/>
              </a:lnSpc>
              <a:spcAft>
                <a:spcPts val="1300"/>
              </a:spcAft>
              <a:buSzPct val="100000"/>
              <a:buChar char="▸"/>
            </a:pPr>
            <a:r>
              <a:rPr lang="en-US" sz="1550" dirty="0">
                <a:solidFill>
                  <a:srgbClr val="13315C"/>
                </a:solidFill>
                <a:latin typeface="Calibri" pitchFamily="34" charset="0"/>
                <a:ea typeface="Calibri" pitchFamily="34" charset="-122"/>
                <a:cs typeface="Calibri" pitchFamily="34" charset="-120"/>
              </a:rPr>
              <a:t>Scenario: A student opens a web browser and requests a page from a college website using HTTP.</a:t>
            </a:r>
            <a:endParaRPr lang="en-US" sz="1550" dirty="0"/>
          </a:p>
          <a:p>
            <a:pPr marL="342900" indent="-342900">
              <a:lnSpc>
                <a:spcPct val="110000"/>
              </a:lnSpc>
              <a:spcAft>
                <a:spcPts val="1300"/>
              </a:spcAft>
              <a:buSzPct val="100000"/>
              <a:buChar char="▸"/>
            </a:pPr>
            <a:r>
              <a:rPr lang="en-US" sz="1550" dirty="0">
                <a:solidFill>
                  <a:srgbClr val="13315C"/>
                </a:solidFill>
                <a:latin typeface="Calibri" pitchFamily="34" charset="0"/>
                <a:ea typeface="Calibri" pitchFamily="34" charset="-122"/>
                <a:cs typeface="Calibri" pitchFamily="34" charset="-120"/>
              </a:rPr>
              <a:t>In groups, write out the full protocol stack this request travels through, from Application down to Network Interface, labeling each TCP/IP layer.</a:t>
            </a:r>
            <a:endParaRPr lang="en-US" sz="1550" dirty="0"/>
          </a:p>
          <a:p>
            <a:pPr marL="342900" indent="-342900">
              <a:lnSpc>
                <a:spcPct val="110000"/>
              </a:lnSpc>
              <a:spcAft>
                <a:spcPts val="1300"/>
              </a:spcAft>
              <a:buSzPct val="100000"/>
              <a:buChar char="▸"/>
            </a:pPr>
            <a:r>
              <a:rPr lang="en-US" sz="1550" dirty="0">
                <a:solidFill>
                  <a:srgbClr val="13315C"/>
                </a:solidFill>
                <a:latin typeface="Calibri" pitchFamily="34" charset="0"/>
                <a:ea typeface="Calibri" pitchFamily="34" charset="-122"/>
                <a:cs typeface="Calibri" pitchFamily="34" charset="-120"/>
              </a:rPr>
              <a:t>Decide: should this request use TCP or UDP at the transport layer? Justify your choice using the TCP vs UDP comparison table.</a:t>
            </a:r>
            <a:endParaRPr lang="en-US" sz="1550" dirty="0"/>
          </a:p>
          <a:p>
            <a:pPr marL="342900" indent="-342900">
              <a:lnSpc>
                <a:spcPct val="110000"/>
              </a:lnSpc>
              <a:spcAft>
                <a:spcPts val="1300"/>
              </a:spcAft>
              <a:buSzPct val="100000"/>
              <a:buChar char="▸"/>
            </a:pPr>
            <a:r>
              <a:rPr lang="en-US" sz="1550" dirty="0">
                <a:solidFill>
                  <a:srgbClr val="13315C"/>
                </a:solidFill>
                <a:latin typeface="Calibri" pitchFamily="34" charset="0"/>
                <a:ea typeface="Calibri" pitchFamily="34" charset="-122"/>
                <a:cs typeface="Calibri" pitchFamily="34" charset="-120"/>
              </a:rPr>
              <a:t>Now repeat the exercise for a live video call (e.g. a VoIP or video-conferencing app) — does your transport-layer choice change? Why?</a:t>
            </a:r>
            <a:endParaRPr lang="en-US" sz="1550" dirty="0"/>
          </a:p>
          <a:p>
            <a:pPr marL="342900" indent="-342900">
              <a:lnSpc>
                <a:spcPct val="110000"/>
              </a:lnSpc>
              <a:spcAft>
                <a:spcPts val="1300"/>
              </a:spcAft>
              <a:buSzPct val="100000"/>
              <a:buChar char="▸"/>
            </a:pPr>
            <a:r>
              <a:rPr lang="en-US" sz="1550" dirty="0">
                <a:solidFill>
                  <a:srgbClr val="13315C"/>
                </a:solidFill>
                <a:latin typeface="Calibri" pitchFamily="34" charset="0"/>
                <a:ea typeface="Calibri" pitchFamily="34" charset="-122"/>
                <a:cs typeface="Calibri" pitchFamily="34" charset="-120"/>
              </a:rPr>
              <a:t>Map both scenarios onto the OSI 7-layer model as well, and note which OSI layers TCP/IP compresses together.</a:t>
            </a:r>
            <a:endParaRPr lang="en-US" sz="1550" dirty="0"/>
          </a:p>
        </p:txBody>
      </p:sp>
      <p:sp>
        <p:nvSpPr>
          <p:cNvPr id="8" name="Text 5"/>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TOPIC 6 · ACTIVITY</a:t>
            </a:r>
            <a:endParaRPr lang="en-US" sz="1000" dirty="0"/>
          </a:p>
        </p:txBody>
      </p:sp>
      <p:sp>
        <p:nvSpPr>
          <p:cNvPr id="9" name="TextBox 8"/>
          <p:cNvSpPr txBox="1"/>
          <p:nvPr/>
        </p:nvSpPr>
        <p:spPr>
          <a:xfrm>
            <a:off x="11792000" y="6638000"/>
            <a:ext cx="200000" cy="100000"/>
          </a:xfrm>
          <a:prstGeom prst="rect">
            <a:avLst/>
          </a:prstGeom>
          <a:noFill/>
        </p:spPr>
        <p:txBody>
          <a:bodyPr wrap="none">
            <a:spAutoFit/>
          </a:bodyPr>
          <a:lstStyle/>
          <a:p>
            <a:pPr>
              <a:defRPr sz="1000"/>
            </a:pPr>
            <a:r>
              <a:t>46</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9">
    <p:bg>
      <p:bgPr>
        <a:solidFill>
          <a:srgbClr val="002060"/>
        </a:solidFill>
        <a:effectLst/>
      </p:bgPr>
    </p:bg>
    <p:spTree>
      <p:nvGrpSpPr>
        <p:cNvPr id="1" name=""/>
        <p:cNvGrpSpPr/>
        <p:nvPr/>
      </p:nvGrpSpPr>
      <p:grpSpPr>
        <a:xfrm>
          <a:off x="0" y="0"/>
          <a:ext cx="0" cy="0"/>
          <a:chOff x="0" y="0"/>
          <a:chExt cx="0" cy="0"/>
        </a:xfrm>
      </p:grpSpPr>
      <p:sp>
        <p:nvSpPr>
          <p:cNvPr id="2" name="Shape 0"/>
          <p:cNvSpPr/>
          <p:nvPr/>
        </p:nvSpPr>
        <p:spPr>
          <a:xfrm>
            <a:off x="9692640" y="914400"/>
            <a:ext cx="914400" cy="548640"/>
          </a:xfrm>
          <a:prstGeom prst="line">
            <a:avLst/>
          </a:prstGeom>
          <a:noFill/>
          <a:ln w="12700">
            <a:solidFill>
              <a:srgbClr val="1E3A66"/>
            </a:solidFill>
            <a:prstDash val="solid"/>
          </a:ln>
        </p:spPr>
        <p:txBody>
          <a:bodyPr/>
          <a:lstStyle/>
          <a:p>
            <a:endParaRPr/>
          </a:p>
        </p:txBody>
      </p:sp>
      <p:sp>
        <p:nvSpPr>
          <p:cNvPr id="3" name="Shape 1"/>
          <p:cNvSpPr/>
          <p:nvPr/>
        </p:nvSpPr>
        <p:spPr>
          <a:xfrm>
            <a:off x="9692640" y="914400"/>
            <a:ext cx="1645920" cy="0"/>
          </a:xfrm>
          <a:prstGeom prst="line">
            <a:avLst/>
          </a:prstGeom>
          <a:noFill/>
          <a:ln w="12700">
            <a:solidFill>
              <a:srgbClr val="1E3A66"/>
            </a:solidFill>
            <a:prstDash val="solid"/>
          </a:ln>
        </p:spPr>
        <p:txBody>
          <a:bodyPr/>
          <a:lstStyle/>
          <a:p>
            <a:endParaRPr/>
          </a:p>
        </p:txBody>
      </p:sp>
      <p:sp>
        <p:nvSpPr>
          <p:cNvPr id="4" name="Shape 2"/>
          <p:cNvSpPr/>
          <p:nvPr/>
        </p:nvSpPr>
        <p:spPr>
          <a:xfrm>
            <a:off x="9692640" y="914400"/>
            <a:ext cx="548640" cy="1371600"/>
          </a:xfrm>
          <a:prstGeom prst="line">
            <a:avLst/>
          </a:prstGeom>
          <a:noFill/>
          <a:ln w="12700">
            <a:solidFill>
              <a:srgbClr val="1E3A66"/>
            </a:solidFill>
            <a:prstDash val="solid"/>
          </a:ln>
        </p:spPr>
        <p:txBody>
          <a:bodyPr/>
          <a:lstStyle/>
          <a:p>
            <a:endParaRPr/>
          </a:p>
        </p:txBody>
      </p:sp>
      <p:sp>
        <p:nvSpPr>
          <p:cNvPr id="5" name="Shape 3"/>
          <p:cNvSpPr/>
          <p:nvPr/>
        </p:nvSpPr>
        <p:spPr>
          <a:xfrm>
            <a:off x="9692640" y="914400"/>
            <a:ext cx="1828800" cy="1463040"/>
          </a:xfrm>
          <a:prstGeom prst="line">
            <a:avLst/>
          </a:prstGeom>
          <a:noFill/>
          <a:ln w="12700">
            <a:solidFill>
              <a:srgbClr val="1E3A66"/>
            </a:solidFill>
            <a:prstDash val="solid"/>
          </a:ln>
        </p:spPr>
        <p:txBody>
          <a:bodyPr/>
          <a:lstStyle/>
          <a:p>
            <a:endParaRPr/>
          </a:p>
        </p:txBody>
      </p:sp>
      <p:sp>
        <p:nvSpPr>
          <p:cNvPr id="6" name="Shape 4"/>
          <p:cNvSpPr/>
          <p:nvPr/>
        </p:nvSpPr>
        <p:spPr>
          <a:xfrm>
            <a:off x="9692640" y="914400"/>
            <a:ext cx="0" cy="1097280"/>
          </a:xfrm>
          <a:prstGeom prst="line">
            <a:avLst/>
          </a:prstGeom>
          <a:noFill/>
          <a:ln w="12700">
            <a:solidFill>
              <a:srgbClr val="1E3A66"/>
            </a:solidFill>
            <a:prstDash val="solid"/>
          </a:ln>
        </p:spPr>
        <p:txBody>
          <a:bodyPr/>
          <a:lstStyle/>
          <a:p>
            <a:endParaRPr/>
          </a:p>
        </p:txBody>
      </p:sp>
      <p:sp>
        <p:nvSpPr>
          <p:cNvPr id="7" name="Shape 5"/>
          <p:cNvSpPr/>
          <p:nvPr/>
        </p:nvSpPr>
        <p:spPr>
          <a:xfrm>
            <a:off x="10607040" y="1463040"/>
            <a:ext cx="731520" cy="0"/>
          </a:xfrm>
          <a:prstGeom prst="line">
            <a:avLst/>
          </a:prstGeom>
          <a:noFill/>
          <a:ln w="12700">
            <a:solidFill>
              <a:srgbClr val="1E3A66"/>
            </a:solidFill>
            <a:prstDash val="solid"/>
          </a:ln>
        </p:spPr>
        <p:txBody>
          <a:bodyPr/>
          <a:lstStyle/>
          <a:p>
            <a:endParaRPr/>
          </a:p>
        </p:txBody>
      </p:sp>
      <p:sp>
        <p:nvSpPr>
          <p:cNvPr id="8" name="Shape 6"/>
          <p:cNvSpPr/>
          <p:nvPr/>
        </p:nvSpPr>
        <p:spPr>
          <a:xfrm>
            <a:off x="10607040" y="1463040"/>
            <a:ext cx="0" cy="822960"/>
          </a:xfrm>
          <a:prstGeom prst="line">
            <a:avLst/>
          </a:prstGeom>
          <a:noFill/>
          <a:ln w="12700">
            <a:solidFill>
              <a:srgbClr val="1E3A66"/>
            </a:solidFill>
            <a:prstDash val="solid"/>
          </a:ln>
        </p:spPr>
        <p:txBody>
          <a:bodyPr/>
          <a:lstStyle/>
          <a:p>
            <a:endParaRPr/>
          </a:p>
        </p:txBody>
      </p:sp>
      <p:sp>
        <p:nvSpPr>
          <p:cNvPr id="9" name="Shape 7"/>
          <p:cNvSpPr/>
          <p:nvPr/>
        </p:nvSpPr>
        <p:spPr>
          <a:xfrm>
            <a:off x="10607040" y="1463040"/>
            <a:ext cx="914400" cy="914400"/>
          </a:xfrm>
          <a:prstGeom prst="line">
            <a:avLst/>
          </a:prstGeom>
          <a:noFill/>
          <a:ln w="12700">
            <a:solidFill>
              <a:srgbClr val="1E3A66"/>
            </a:solidFill>
            <a:prstDash val="solid"/>
          </a:ln>
        </p:spPr>
        <p:txBody>
          <a:bodyPr/>
          <a:lstStyle/>
          <a:p>
            <a:endParaRPr/>
          </a:p>
        </p:txBody>
      </p:sp>
      <p:sp>
        <p:nvSpPr>
          <p:cNvPr id="10" name="Shape 8"/>
          <p:cNvSpPr/>
          <p:nvPr/>
        </p:nvSpPr>
        <p:spPr>
          <a:xfrm>
            <a:off x="10607040" y="1463040"/>
            <a:ext cx="0" cy="548640"/>
          </a:xfrm>
          <a:prstGeom prst="line">
            <a:avLst/>
          </a:prstGeom>
          <a:noFill/>
          <a:ln w="12700">
            <a:solidFill>
              <a:srgbClr val="1E3A66"/>
            </a:solidFill>
            <a:prstDash val="solid"/>
          </a:ln>
        </p:spPr>
        <p:txBody>
          <a:bodyPr/>
          <a:lstStyle/>
          <a:p>
            <a:endParaRPr/>
          </a:p>
        </p:txBody>
      </p:sp>
      <p:sp>
        <p:nvSpPr>
          <p:cNvPr id="11" name="Shape 9"/>
          <p:cNvSpPr/>
          <p:nvPr/>
        </p:nvSpPr>
        <p:spPr>
          <a:xfrm>
            <a:off x="11338560" y="822960"/>
            <a:ext cx="0" cy="1463040"/>
          </a:xfrm>
          <a:prstGeom prst="line">
            <a:avLst/>
          </a:prstGeom>
          <a:noFill/>
          <a:ln w="12700">
            <a:solidFill>
              <a:srgbClr val="1E3A66"/>
            </a:solidFill>
            <a:prstDash val="solid"/>
          </a:ln>
        </p:spPr>
        <p:txBody>
          <a:bodyPr/>
          <a:lstStyle/>
          <a:p>
            <a:endParaRPr/>
          </a:p>
        </p:txBody>
      </p:sp>
      <p:sp>
        <p:nvSpPr>
          <p:cNvPr id="12" name="Shape 10"/>
          <p:cNvSpPr/>
          <p:nvPr/>
        </p:nvSpPr>
        <p:spPr>
          <a:xfrm>
            <a:off x="11338560" y="822960"/>
            <a:ext cx="182880" cy="1554480"/>
          </a:xfrm>
          <a:prstGeom prst="line">
            <a:avLst/>
          </a:prstGeom>
          <a:noFill/>
          <a:ln w="12700">
            <a:solidFill>
              <a:srgbClr val="1E3A66"/>
            </a:solidFill>
            <a:prstDash val="solid"/>
          </a:ln>
        </p:spPr>
        <p:txBody>
          <a:bodyPr/>
          <a:lstStyle/>
          <a:p>
            <a:endParaRPr/>
          </a:p>
        </p:txBody>
      </p:sp>
      <p:sp>
        <p:nvSpPr>
          <p:cNvPr id="13" name="Shape 11"/>
          <p:cNvSpPr/>
          <p:nvPr/>
        </p:nvSpPr>
        <p:spPr>
          <a:xfrm>
            <a:off x="11338560" y="822960"/>
            <a:ext cx="0" cy="1188720"/>
          </a:xfrm>
          <a:prstGeom prst="line">
            <a:avLst/>
          </a:prstGeom>
          <a:noFill/>
          <a:ln w="12700">
            <a:solidFill>
              <a:srgbClr val="1E3A66"/>
            </a:solidFill>
            <a:prstDash val="solid"/>
          </a:ln>
        </p:spPr>
        <p:txBody>
          <a:bodyPr/>
          <a:lstStyle/>
          <a:p>
            <a:endParaRPr/>
          </a:p>
        </p:txBody>
      </p:sp>
      <p:sp>
        <p:nvSpPr>
          <p:cNvPr id="14" name="Shape 12"/>
          <p:cNvSpPr/>
          <p:nvPr/>
        </p:nvSpPr>
        <p:spPr>
          <a:xfrm>
            <a:off x="10241280" y="2286000"/>
            <a:ext cx="1280160" cy="91440"/>
          </a:xfrm>
          <a:prstGeom prst="line">
            <a:avLst/>
          </a:prstGeom>
          <a:noFill/>
          <a:ln w="12700">
            <a:solidFill>
              <a:srgbClr val="1E3A66"/>
            </a:solidFill>
            <a:prstDash val="solid"/>
          </a:ln>
        </p:spPr>
        <p:txBody>
          <a:bodyPr/>
          <a:lstStyle/>
          <a:p>
            <a:endParaRPr/>
          </a:p>
        </p:txBody>
      </p:sp>
      <p:sp>
        <p:nvSpPr>
          <p:cNvPr id="15" name="Shape 13"/>
          <p:cNvSpPr/>
          <p:nvPr/>
        </p:nvSpPr>
        <p:spPr>
          <a:xfrm>
            <a:off x="10241280" y="2286000"/>
            <a:ext cx="0" cy="0"/>
          </a:xfrm>
          <a:prstGeom prst="line">
            <a:avLst/>
          </a:prstGeom>
          <a:noFill/>
          <a:ln w="12700">
            <a:solidFill>
              <a:srgbClr val="1E3A66"/>
            </a:solidFill>
            <a:prstDash val="solid"/>
          </a:ln>
        </p:spPr>
        <p:txBody>
          <a:bodyPr/>
          <a:lstStyle/>
          <a:p>
            <a:endParaRPr/>
          </a:p>
        </p:txBody>
      </p:sp>
      <p:sp>
        <p:nvSpPr>
          <p:cNvPr id="16" name="Shape 14"/>
          <p:cNvSpPr/>
          <p:nvPr/>
        </p:nvSpPr>
        <p:spPr>
          <a:xfrm>
            <a:off x="11521440" y="2377440"/>
            <a:ext cx="0" cy="0"/>
          </a:xfrm>
          <a:prstGeom prst="line">
            <a:avLst/>
          </a:prstGeom>
          <a:noFill/>
          <a:ln w="12700">
            <a:solidFill>
              <a:srgbClr val="1E3A66"/>
            </a:solidFill>
            <a:prstDash val="solid"/>
          </a:ln>
        </p:spPr>
        <p:txBody>
          <a:bodyPr/>
          <a:lstStyle/>
          <a:p>
            <a:endParaRPr/>
          </a:p>
        </p:txBody>
      </p:sp>
      <p:sp>
        <p:nvSpPr>
          <p:cNvPr id="17" name="Shape 15"/>
          <p:cNvSpPr/>
          <p:nvPr/>
        </p:nvSpPr>
        <p:spPr>
          <a:xfrm>
            <a:off x="9637776" y="859536"/>
            <a:ext cx="109728" cy="109728"/>
          </a:xfrm>
          <a:prstGeom prst="ellipse">
            <a:avLst/>
          </a:prstGeom>
          <a:solidFill>
            <a:srgbClr val="00B4D8"/>
          </a:solidFill>
          <a:ln/>
        </p:spPr>
        <p:txBody>
          <a:bodyPr/>
          <a:lstStyle/>
          <a:p>
            <a:endParaRPr/>
          </a:p>
        </p:txBody>
      </p:sp>
      <p:sp>
        <p:nvSpPr>
          <p:cNvPr id="18" name="Shape 16"/>
          <p:cNvSpPr/>
          <p:nvPr/>
        </p:nvSpPr>
        <p:spPr>
          <a:xfrm>
            <a:off x="10552176" y="1408176"/>
            <a:ext cx="109728" cy="109728"/>
          </a:xfrm>
          <a:prstGeom prst="ellipse">
            <a:avLst/>
          </a:prstGeom>
          <a:solidFill>
            <a:srgbClr val="00B4D8"/>
          </a:solidFill>
          <a:ln/>
        </p:spPr>
        <p:txBody>
          <a:bodyPr/>
          <a:lstStyle/>
          <a:p>
            <a:endParaRPr/>
          </a:p>
        </p:txBody>
      </p:sp>
      <p:sp>
        <p:nvSpPr>
          <p:cNvPr id="19" name="Shape 17"/>
          <p:cNvSpPr/>
          <p:nvPr/>
        </p:nvSpPr>
        <p:spPr>
          <a:xfrm>
            <a:off x="11283696" y="768096"/>
            <a:ext cx="109728" cy="109728"/>
          </a:xfrm>
          <a:prstGeom prst="ellipse">
            <a:avLst/>
          </a:prstGeom>
          <a:solidFill>
            <a:srgbClr val="00B4D8"/>
          </a:solidFill>
          <a:ln/>
        </p:spPr>
        <p:txBody>
          <a:bodyPr/>
          <a:lstStyle/>
          <a:p>
            <a:endParaRPr/>
          </a:p>
        </p:txBody>
      </p:sp>
      <p:sp>
        <p:nvSpPr>
          <p:cNvPr id="20" name="Shape 18"/>
          <p:cNvSpPr/>
          <p:nvPr/>
        </p:nvSpPr>
        <p:spPr>
          <a:xfrm>
            <a:off x="10186416" y="2231136"/>
            <a:ext cx="109728" cy="109728"/>
          </a:xfrm>
          <a:prstGeom prst="ellipse">
            <a:avLst/>
          </a:prstGeom>
          <a:solidFill>
            <a:srgbClr val="00B4D8"/>
          </a:solidFill>
          <a:ln/>
        </p:spPr>
        <p:txBody>
          <a:bodyPr/>
          <a:lstStyle/>
          <a:p>
            <a:endParaRPr/>
          </a:p>
        </p:txBody>
      </p:sp>
      <p:sp>
        <p:nvSpPr>
          <p:cNvPr id="21" name="Shape 19"/>
          <p:cNvSpPr/>
          <p:nvPr/>
        </p:nvSpPr>
        <p:spPr>
          <a:xfrm>
            <a:off x="11466576" y="2322576"/>
            <a:ext cx="109728" cy="109728"/>
          </a:xfrm>
          <a:prstGeom prst="ellipse">
            <a:avLst/>
          </a:prstGeom>
          <a:solidFill>
            <a:srgbClr val="00B4D8"/>
          </a:solidFill>
          <a:ln/>
        </p:spPr>
        <p:txBody>
          <a:bodyPr/>
          <a:lstStyle/>
          <a:p>
            <a:endParaRPr/>
          </a:p>
        </p:txBody>
      </p:sp>
      <p:sp>
        <p:nvSpPr>
          <p:cNvPr id="22" name="Shape 20"/>
          <p:cNvSpPr/>
          <p:nvPr/>
        </p:nvSpPr>
        <p:spPr>
          <a:xfrm>
            <a:off x="9272016" y="1956816"/>
            <a:ext cx="109728" cy="109728"/>
          </a:xfrm>
          <a:prstGeom prst="ellipse">
            <a:avLst/>
          </a:prstGeom>
          <a:solidFill>
            <a:srgbClr val="00B4D8"/>
          </a:solidFill>
          <a:ln/>
        </p:spPr>
        <p:txBody>
          <a:bodyPr/>
          <a:lstStyle/>
          <a:p>
            <a:endParaRPr/>
          </a:p>
        </p:txBody>
      </p:sp>
      <p:sp>
        <p:nvSpPr>
          <p:cNvPr id="23" name="Text 21"/>
          <p:cNvSpPr/>
          <p:nvPr/>
        </p:nvSpPr>
        <p:spPr>
          <a:xfrm>
            <a:off x="822960" y="2148840"/>
            <a:ext cx="5486400" cy="365760"/>
          </a:xfrm>
          <a:prstGeom prst="rect">
            <a:avLst/>
          </a:prstGeom>
          <a:noFill/>
          <a:ln/>
        </p:spPr>
        <p:txBody>
          <a:bodyPr wrap="square" lIns="0" tIns="0" rIns="0" bIns="0" rtlCol="0" anchor="ctr"/>
          <a:lstStyle/>
          <a:p>
            <a:pPr marL="0" indent="0">
              <a:buNone/>
            </a:pPr>
            <a:r>
              <a:rPr lang="en-US" sz="1600" b="1" kern="0" spc="300" dirty="0">
                <a:solidFill>
                  <a:srgbClr val="00B4D8"/>
                </a:solidFill>
                <a:latin typeface="Calibri" pitchFamily="34" charset="0"/>
                <a:ea typeface="Calibri" pitchFamily="34" charset="-122"/>
                <a:cs typeface="Calibri" pitchFamily="34" charset="-120"/>
              </a:rPr>
              <a:t>TOPIC 7</a:t>
            </a:r>
            <a:endParaRPr lang="en-US" sz="1600" dirty="0"/>
          </a:p>
        </p:txBody>
      </p:sp>
      <p:sp>
        <p:nvSpPr>
          <p:cNvPr id="24" name="Text 22"/>
          <p:cNvSpPr/>
          <p:nvPr/>
        </p:nvSpPr>
        <p:spPr>
          <a:xfrm>
            <a:off x="777240" y="2514600"/>
            <a:ext cx="9601200" cy="1463040"/>
          </a:xfrm>
          <a:prstGeom prst="rect">
            <a:avLst/>
          </a:prstGeom>
          <a:noFill/>
          <a:ln/>
        </p:spPr>
        <p:txBody>
          <a:bodyPr wrap="square" lIns="0" tIns="0" rIns="0" bIns="0" rtlCol="0" anchor="t"/>
          <a:lstStyle/>
          <a:p>
            <a:pPr marL="0" indent="0">
              <a:buNone/>
            </a:pPr>
            <a:r>
              <a:rPr lang="en-US" sz="4000" b="1" dirty="0">
                <a:solidFill>
                  <a:srgbClr val="FFFFFF"/>
                </a:solidFill>
                <a:latin typeface="Bookman Old Style" pitchFamily="34" charset="0"/>
                <a:ea typeface="Bookman Old Style" pitchFamily="34" charset="-122"/>
                <a:cs typeface="Bookman Old Style" pitchFamily="34" charset="-120"/>
              </a:rPr>
              <a:t>Basics of the Physical Layer</a:t>
            </a:r>
            <a:endParaRPr lang="en-US" sz="4000" dirty="0"/>
          </a:p>
        </p:txBody>
      </p:sp>
      <p:sp>
        <p:nvSpPr>
          <p:cNvPr id="25" name="Text 23"/>
          <p:cNvSpPr/>
          <p:nvPr/>
        </p:nvSpPr>
        <p:spPr>
          <a:xfrm>
            <a:off x="822960" y="3794760"/>
            <a:ext cx="8686800" cy="822960"/>
          </a:xfrm>
          <a:prstGeom prst="rect">
            <a:avLst/>
          </a:prstGeom>
          <a:noFill/>
          <a:ln/>
        </p:spPr>
        <p:txBody>
          <a:bodyPr wrap="square" lIns="0" tIns="0" rIns="0" bIns="0" rtlCol="0" anchor="t"/>
          <a:lstStyle/>
          <a:p>
            <a:pPr marL="0" indent="0">
              <a:buNone/>
            </a:pPr>
            <a:r>
              <a:rPr lang="en-US" sz="1600" dirty="0">
                <a:solidFill>
                  <a:srgbClr val="C9D8EC"/>
                </a:solidFill>
                <a:latin typeface="Calibri" pitchFamily="34" charset="0"/>
                <a:ea typeface="Calibri" pitchFamily="34" charset="-122"/>
                <a:cs typeface="Calibri" pitchFamily="34" charset="-120"/>
              </a:rPr>
              <a:t>How raw bits actually travel across cables, fibers, and the air.</a:t>
            </a:r>
            <a:endParaRPr lang="en-US" sz="1600" dirty="0"/>
          </a:p>
        </p:txBody>
      </p:sp>
      <p:sp>
        <p:nvSpPr>
          <p:cNvPr id="31" name="Text 27"/>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9FB3CC"/>
                </a:solidFill>
                <a:latin typeface="Calibri" pitchFamily="34" charset="0"/>
                <a:ea typeface="Calibri" pitchFamily="34" charset="-122"/>
                <a:cs typeface="Calibri" pitchFamily="34" charset="-120"/>
              </a:rPr>
              <a:t>TOPIC 7</a:t>
            </a:r>
            <a:endParaRPr lang="en-US" sz="1000" dirty="0"/>
          </a:p>
        </p:txBody>
      </p:sp>
      <p:sp>
        <p:nvSpPr>
          <p:cNvPr id="32" name="TextBox 31"/>
          <p:cNvSpPr txBox="1"/>
          <p:nvPr/>
        </p:nvSpPr>
        <p:spPr>
          <a:xfrm>
            <a:off x="11792000" y="6638000"/>
            <a:ext cx="200000" cy="100000"/>
          </a:xfrm>
          <a:prstGeom prst="rect">
            <a:avLst/>
          </a:prstGeom>
          <a:noFill/>
        </p:spPr>
        <p:txBody>
          <a:bodyPr wrap="none">
            <a:spAutoFit/>
          </a:bodyPr>
          <a:lstStyle/>
          <a:p>
            <a:pPr>
              <a:defRPr sz="1000"/>
            </a:pPr>
            <a:r>
              <a:t>47</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0091AD"/>
                </a:solidFill>
                <a:latin typeface="Calibri" pitchFamily="34" charset="0"/>
                <a:ea typeface="Calibri" pitchFamily="34" charset="-122"/>
                <a:cs typeface="Calibri" pitchFamily="34" charset="-120"/>
              </a:rPr>
              <a:t>TOPIC 7 · PHYSICAL LAYER</a:t>
            </a:r>
            <a:endParaRPr lang="en-US" sz="1200" dirty="0"/>
          </a:p>
        </p:txBody>
      </p:sp>
      <p:sp>
        <p:nvSpPr>
          <p:cNvPr id="3" name="Text 1"/>
          <p:cNvSpPr/>
          <p:nvPr/>
        </p:nvSpPr>
        <p:spPr>
          <a:xfrm>
            <a:off x="548640" y="566928"/>
            <a:ext cx="10424160" cy="822960"/>
          </a:xfrm>
          <a:prstGeom prst="rect">
            <a:avLst/>
          </a:prstGeom>
          <a:noFill/>
          <a:ln/>
        </p:spPr>
        <p:txBody>
          <a:bodyPr wrap="square" lIns="0" tIns="0" rIns="0" bIns="0" rtlCol="0" anchor="t"/>
          <a:lstStyle/>
          <a:p>
            <a:pPr marL="0" indent="0">
              <a:buNone/>
            </a:pPr>
            <a:r>
              <a:rPr lang="en-US" sz="3000" b="1" dirty="0">
                <a:solidFill>
                  <a:srgbClr val="13315C"/>
                </a:solidFill>
                <a:latin typeface="Bookman Old Style" pitchFamily="34" charset="0"/>
                <a:ea typeface="Bookman Old Style" pitchFamily="34" charset="-122"/>
                <a:cs typeface="Bookman Old Style" pitchFamily="34" charset="-120"/>
              </a:rPr>
              <a:t>Role of the Physical Layer</a:t>
            </a:r>
            <a:endParaRPr lang="en-US" sz="3000" dirty="0"/>
          </a:p>
        </p:txBody>
      </p:sp>
      <p:sp>
        <p:nvSpPr>
          <p:cNvPr id="6" name="Text 3"/>
          <p:cNvSpPr/>
          <p:nvPr/>
        </p:nvSpPr>
        <p:spPr>
          <a:xfrm>
            <a:off x="548640" y="1389888"/>
            <a:ext cx="11064240" cy="4389120"/>
          </a:xfrm>
          <a:prstGeom prst="rect">
            <a:avLst/>
          </a:prstGeom>
          <a:noFill/>
          <a:ln/>
        </p:spPr>
        <p:txBody>
          <a:bodyPr wrap="square" lIns="0" tIns="0" rIns="0" bIns="0" rtlCol="0" anchor="t"/>
          <a:lstStyle/>
          <a:p>
            <a:pPr marL="342900" indent="-342900">
              <a:lnSpc>
                <a:spcPct val="108000"/>
              </a:lnSpc>
              <a:spcAft>
                <a:spcPts val="1200"/>
              </a:spcAft>
              <a:buSzPct val="100000"/>
              <a:buChar char="●"/>
            </a:pPr>
            <a:r>
              <a:rPr lang="en-US" sz="2800" dirty="0">
                <a:solidFill>
                  <a:srgbClr val="13315C"/>
                </a:solidFill>
                <a:latin typeface="Calibri" pitchFamily="34" charset="0"/>
                <a:ea typeface="Calibri" pitchFamily="34" charset="-122"/>
                <a:cs typeface="Calibri" pitchFamily="34" charset="-120"/>
              </a:rPr>
              <a:t>The physical layer is Layer 1 — it handles the transmission of raw bits (0s and 1s) over a communication link.</a:t>
            </a:r>
            <a:endParaRPr lang="en-US" sz="2800" dirty="0"/>
          </a:p>
          <a:p>
            <a:pPr marL="342900" indent="-342900">
              <a:lnSpc>
                <a:spcPct val="108000"/>
              </a:lnSpc>
              <a:spcAft>
                <a:spcPts val="1200"/>
              </a:spcAft>
              <a:buSzPct val="100000"/>
              <a:buChar char="●"/>
            </a:pPr>
            <a:r>
              <a:rPr lang="en-US" sz="2800" dirty="0">
                <a:solidFill>
                  <a:srgbClr val="13315C"/>
                </a:solidFill>
                <a:latin typeface="Calibri" pitchFamily="34" charset="0"/>
                <a:ea typeface="Calibri" pitchFamily="34" charset="-122"/>
                <a:cs typeface="Calibri" pitchFamily="34" charset="-120"/>
              </a:rPr>
              <a:t>It defines the electrical, mechanical, and timing details of turning bits into signals: voltage levels, light pulses, or radio waves.</a:t>
            </a:r>
            <a:endParaRPr lang="en-US" sz="2800" dirty="0"/>
          </a:p>
          <a:p>
            <a:pPr marL="342900" indent="-342900">
              <a:lnSpc>
                <a:spcPct val="108000"/>
              </a:lnSpc>
              <a:spcAft>
                <a:spcPts val="1200"/>
              </a:spcAft>
              <a:buSzPct val="100000"/>
              <a:buChar char="●"/>
            </a:pPr>
            <a:r>
              <a:rPr lang="en-US" sz="2800" dirty="0">
                <a:solidFill>
                  <a:srgbClr val="13315C"/>
                </a:solidFill>
                <a:latin typeface="Calibri" pitchFamily="34" charset="0"/>
                <a:ea typeface="Calibri" pitchFamily="34" charset="-122"/>
                <a:cs typeface="Calibri" pitchFamily="34" charset="-120"/>
              </a:rPr>
              <a:t>It does not understand frames, addresses, or messages — it simply moves a stream of bits from one point to another.</a:t>
            </a:r>
            <a:endParaRPr lang="en-US" sz="2800" dirty="0"/>
          </a:p>
          <a:p>
            <a:pPr marL="342900" indent="-342900">
              <a:lnSpc>
                <a:spcPct val="108000"/>
              </a:lnSpc>
              <a:spcAft>
                <a:spcPts val="1200"/>
              </a:spcAft>
              <a:buSzPct val="100000"/>
              <a:buChar char="●"/>
            </a:pPr>
            <a:r>
              <a:rPr lang="en-US" sz="2800" dirty="0">
                <a:solidFill>
                  <a:srgbClr val="13315C"/>
                </a:solidFill>
                <a:latin typeface="Calibri" pitchFamily="34" charset="0"/>
                <a:ea typeface="Calibri" pitchFamily="34" charset="-122"/>
                <a:cs typeface="Calibri" pitchFamily="34" charset="-120"/>
              </a:rPr>
              <a:t>Everything above it (data link and up) depends on the physical layer successfully delivering bits, even if imperfectly — higher layers handle error detection and correction.</a:t>
            </a:r>
            <a:endParaRPr lang="en-US" sz="2800" dirty="0"/>
          </a:p>
        </p:txBody>
      </p:sp>
      <p:sp>
        <p:nvSpPr>
          <p:cNvPr id="7" name="Text 4"/>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TOPIC 7 · PHYSICAL LAYER</a:t>
            </a:r>
            <a:endParaRPr lang="en-US" sz="1000" dirty="0"/>
          </a:p>
        </p:txBody>
      </p:sp>
      <p:sp>
        <p:nvSpPr>
          <p:cNvPr id="8" name="TextBox 7"/>
          <p:cNvSpPr txBox="1"/>
          <p:nvPr/>
        </p:nvSpPr>
        <p:spPr>
          <a:xfrm>
            <a:off x="11792000" y="6638000"/>
            <a:ext cx="200000" cy="100000"/>
          </a:xfrm>
          <a:prstGeom prst="rect">
            <a:avLst/>
          </a:prstGeom>
          <a:noFill/>
        </p:spPr>
        <p:txBody>
          <a:bodyPr wrap="none">
            <a:spAutoFit/>
          </a:bodyPr>
          <a:lstStyle/>
          <a:p>
            <a:pPr>
              <a:defRPr sz="1000"/>
            </a:pPr>
            <a:r>
              <a:t>48</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0091AD"/>
                </a:solidFill>
                <a:latin typeface="Calibri" pitchFamily="34" charset="0"/>
                <a:ea typeface="Calibri" pitchFamily="34" charset="-122"/>
                <a:cs typeface="Calibri" pitchFamily="34" charset="-120"/>
              </a:rPr>
              <a:t>TOPIC 7 · PHYSICAL LAYER</a:t>
            </a:r>
            <a:endParaRPr lang="en-US" sz="1200" dirty="0"/>
          </a:p>
        </p:txBody>
      </p:sp>
      <p:sp>
        <p:nvSpPr>
          <p:cNvPr id="3" name="Text 1"/>
          <p:cNvSpPr/>
          <p:nvPr/>
        </p:nvSpPr>
        <p:spPr>
          <a:xfrm>
            <a:off x="548640" y="566928"/>
            <a:ext cx="10424160" cy="822960"/>
          </a:xfrm>
          <a:prstGeom prst="rect">
            <a:avLst/>
          </a:prstGeom>
          <a:noFill/>
          <a:ln/>
        </p:spPr>
        <p:txBody>
          <a:bodyPr wrap="square" lIns="0" tIns="0" rIns="0" bIns="0" rtlCol="0" anchor="t"/>
          <a:lstStyle/>
          <a:p>
            <a:pPr marL="0" indent="0">
              <a:buNone/>
            </a:pPr>
            <a:r>
              <a:rPr lang="en-US" sz="3000" b="1" dirty="0">
                <a:solidFill>
                  <a:srgbClr val="13315C"/>
                </a:solidFill>
                <a:latin typeface="Bookman Old Style" pitchFamily="34" charset="0"/>
                <a:ea typeface="Bookman Old Style" pitchFamily="34" charset="-122"/>
                <a:cs typeface="Bookman Old Style" pitchFamily="34" charset="-120"/>
              </a:rPr>
              <a:t>Transmission Media: Guided (Wired)</a:t>
            </a:r>
            <a:endParaRPr lang="en-US" sz="3000" dirty="0"/>
          </a:p>
        </p:txBody>
      </p:sp>
      <p:sp>
        <p:nvSpPr>
          <p:cNvPr id="6" name="Text 3"/>
          <p:cNvSpPr/>
          <p:nvPr/>
        </p:nvSpPr>
        <p:spPr>
          <a:xfrm>
            <a:off x="548640" y="1391834"/>
            <a:ext cx="11064240" cy="4572000"/>
          </a:xfrm>
          <a:prstGeom prst="rect">
            <a:avLst/>
          </a:prstGeom>
          <a:noFill/>
          <a:ln/>
        </p:spPr>
        <p:txBody>
          <a:bodyPr wrap="square" lIns="0" tIns="0" rIns="0" bIns="0" rtlCol="0" anchor="t"/>
          <a:lstStyle/>
          <a:p>
            <a:pPr marL="342900" indent="-342900">
              <a:lnSpc>
                <a:spcPct val="108000"/>
              </a:lnSpc>
              <a:spcAft>
                <a:spcPts val="1200"/>
              </a:spcAft>
              <a:buSzPct val="100000"/>
              <a:buChar char="●"/>
            </a:pPr>
            <a:r>
              <a:rPr lang="en-US" sz="2800" b="1" dirty="0">
                <a:solidFill>
                  <a:srgbClr val="13315C"/>
                </a:solidFill>
                <a:latin typeface="Calibri" pitchFamily="34" charset="0"/>
                <a:ea typeface="Calibri" pitchFamily="34" charset="-122"/>
                <a:cs typeface="Calibri" pitchFamily="34" charset="-120"/>
              </a:rPr>
              <a:t>Twisted Pair Cable:</a:t>
            </a:r>
            <a:endParaRPr lang="en-US" sz="2800" dirty="0"/>
          </a:p>
          <a:p>
            <a:pPr marL="685800" lvl="1" indent="-342900">
              <a:lnSpc>
                <a:spcPct val="108000"/>
              </a:lnSpc>
              <a:spcAft>
                <a:spcPts val="600"/>
              </a:spcAft>
              <a:buSzPct val="100000"/>
              <a:buChar char="–"/>
            </a:pPr>
            <a:r>
              <a:rPr lang="en-US" sz="2400" dirty="0">
                <a:solidFill>
                  <a:srgbClr val="13315C"/>
                </a:solidFill>
                <a:latin typeface="Calibri" pitchFamily="34" charset="0"/>
                <a:ea typeface="Calibri" pitchFamily="34" charset="-122"/>
                <a:cs typeface="Calibri" pitchFamily="34" charset="-120"/>
              </a:rPr>
              <a:t>Copper wires twisted together to reduce interference; inexpensive; used in Ethernet LANs (Cat5e/Cat6).</a:t>
            </a:r>
            <a:endParaRPr lang="en-US" sz="2800" dirty="0"/>
          </a:p>
          <a:p>
            <a:pPr marL="342900" indent="-342900">
              <a:lnSpc>
                <a:spcPct val="108000"/>
              </a:lnSpc>
              <a:spcAft>
                <a:spcPts val="1200"/>
              </a:spcAft>
              <a:buSzPct val="100000"/>
              <a:buChar char="●"/>
            </a:pPr>
            <a:r>
              <a:rPr lang="en-US" sz="2800" b="1" dirty="0">
                <a:solidFill>
                  <a:srgbClr val="13315C"/>
                </a:solidFill>
                <a:latin typeface="Calibri" pitchFamily="34" charset="0"/>
                <a:ea typeface="Calibri" pitchFamily="34" charset="-122"/>
                <a:cs typeface="Calibri" pitchFamily="34" charset="-120"/>
              </a:rPr>
              <a:t>Coaxial Cable:</a:t>
            </a:r>
            <a:endParaRPr lang="en-US" sz="2800" dirty="0"/>
          </a:p>
          <a:p>
            <a:pPr marL="685800" lvl="1" indent="-342900">
              <a:lnSpc>
                <a:spcPct val="108000"/>
              </a:lnSpc>
              <a:spcAft>
                <a:spcPts val="600"/>
              </a:spcAft>
              <a:buSzPct val="100000"/>
              <a:buChar char="–"/>
            </a:pPr>
            <a:r>
              <a:rPr lang="en-US" sz="2400" dirty="0">
                <a:solidFill>
                  <a:srgbClr val="13315C"/>
                </a:solidFill>
                <a:latin typeface="Calibri" pitchFamily="34" charset="0"/>
                <a:ea typeface="Calibri" pitchFamily="34" charset="-122"/>
                <a:cs typeface="Calibri" pitchFamily="34" charset="-120"/>
              </a:rPr>
              <a:t>A central conductor shielded by a metal mesh; more resistant to interference than twisted pair; used in cable TV/broadband.</a:t>
            </a:r>
            <a:endParaRPr lang="en-US" sz="2800" dirty="0"/>
          </a:p>
          <a:p>
            <a:pPr marL="342900" indent="-342900">
              <a:lnSpc>
                <a:spcPct val="108000"/>
              </a:lnSpc>
              <a:spcAft>
                <a:spcPts val="1200"/>
              </a:spcAft>
              <a:buSzPct val="100000"/>
              <a:buChar char="●"/>
            </a:pPr>
            <a:r>
              <a:rPr lang="en-US" sz="2800" b="1" dirty="0">
                <a:solidFill>
                  <a:srgbClr val="13315C"/>
                </a:solidFill>
                <a:latin typeface="Calibri" pitchFamily="34" charset="0"/>
                <a:ea typeface="Calibri" pitchFamily="34" charset="-122"/>
                <a:cs typeface="Calibri" pitchFamily="34" charset="-120"/>
              </a:rPr>
              <a:t>Fiber Optic Cable:</a:t>
            </a:r>
            <a:endParaRPr lang="en-US" sz="2800" dirty="0"/>
          </a:p>
          <a:p>
            <a:pPr marL="685800" lvl="1" indent="-342900">
              <a:lnSpc>
                <a:spcPct val="108000"/>
              </a:lnSpc>
              <a:spcAft>
                <a:spcPts val="600"/>
              </a:spcAft>
              <a:buSzPct val="100000"/>
              <a:buChar char="–"/>
            </a:pPr>
            <a:r>
              <a:rPr lang="en-US" sz="2400" dirty="0">
                <a:solidFill>
                  <a:srgbClr val="13315C"/>
                </a:solidFill>
                <a:latin typeface="Calibri" pitchFamily="34" charset="0"/>
                <a:ea typeface="Calibri" pitchFamily="34" charset="-122"/>
                <a:cs typeface="Calibri" pitchFamily="34" charset="-120"/>
              </a:rPr>
              <a:t>Transmits data as pulses of light through glass/plastic fiber; extremely high bandwidth, very low signal loss, immune to electromagnetic interference; used for backbones and long-haul links.</a:t>
            </a:r>
            <a:endParaRPr lang="en-US" sz="2800" dirty="0"/>
          </a:p>
        </p:txBody>
      </p:sp>
      <p:sp>
        <p:nvSpPr>
          <p:cNvPr id="7" name="Text 4"/>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TOPIC 7 · PHYSICAL LAYER</a:t>
            </a:r>
            <a:endParaRPr lang="en-US" sz="1000" dirty="0"/>
          </a:p>
        </p:txBody>
      </p:sp>
      <p:sp>
        <p:nvSpPr>
          <p:cNvPr id="8" name="TextBox 7"/>
          <p:cNvSpPr txBox="1"/>
          <p:nvPr/>
        </p:nvSpPr>
        <p:spPr>
          <a:xfrm>
            <a:off x="11792000" y="6638000"/>
            <a:ext cx="200000" cy="100000"/>
          </a:xfrm>
          <a:prstGeom prst="rect">
            <a:avLst/>
          </a:prstGeom>
          <a:noFill/>
        </p:spPr>
        <p:txBody>
          <a:bodyPr wrap="none">
            <a:spAutoFit/>
          </a:bodyPr>
          <a:lstStyle/>
          <a:p>
            <a:pPr>
              <a:defRPr sz="1000"/>
            </a:pPr>
            <a:r>
              <a:t>49</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0091AD"/>
                </a:solidFill>
                <a:latin typeface="Calibri" pitchFamily="34" charset="0"/>
                <a:ea typeface="Calibri" pitchFamily="34" charset="-122"/>
                <a:cs typeface="Calibri" pitchFamily="34" charset="-120"/>
              </a:rPr>
              <a:t>TOPIC 7 · PHYSICAL LAYER</a:t>
            </a:r>
            <a:endParaRPr lang="en-US" sz="1200" dirty="0"/>
          </a:p>
        </p:txBody>
      </p:sp>
      <p:sp>
        <p:nvSpPr>
          <p:cNvPr id="3" name="Text 1"/>
          <p:cNvSpPr/>
          <p:nvPr/>
        </p:nvSpPr>
        <p:spPr>
          <a:xfrm>
            <a:off x="548640" y="566928"/>
            <a:ext cx="10424160" cy="822960"/>
          </a:xfrm>
          <a:prstGeom prst="rect">
            <a:avLst/>
          </a:prstGeom>
          <a:noFill/>
          <a:ln/>
        </p:spPr>
        <p:txBody>
          <a:bodyPr wrap="square" lIns="0" tIns="0" rIns="0" bIns="0" rtlCol="0" anchor="t"/>
          <a:lstStyle/>
          <a:p>
            <a:pPr marL="0" indent="0">
              <a:buNone/>
            </a:pPr>
            <a:r>
              <a:rPr lang="en-US" sz="3200" b="1" dirty="0">
                <a:solidFill>
                  <a:srgbClr val="13315C"/>
                </a:solidFill>
                <a:latin typeface="Bookman Old Style" pitchFamily="34" charset="0"/>
                <a:ea typeface="Bookman Old Style" pitchFamily="34" charset="-122"/>
                <a:cs typeface="Bookman Old Style" pitchFamily="34" charset="-120"/>
              </a:rPr>
              <a:t>Transmission Media: Unguided (Wireless)</a:t>
            </a:r>
            <a:endParaRPr lang="en-US" sz="3200" dirty="0"/>
          </a:p>
        </p:txBody>
      </p:sp>
      <p:sp>
        <p:nvSpPr>
          <p:cNvPr id="6" name="Text 3"/>
          <p:cNvSpPr/>
          <p:nvPr/>
        </p:nvSpPr>
        <p:spPr>
          <a:xfrm>
            <a:off x="563880" y="1230646"/>
            <a:ext cx="11064240" cy="4572000"/>
          </a:xfrm>
          <a:prstGeom prst="rect">
            <a:avLst/>
          </a:prstGeom>
          <a:noFill/>
          <a:ln/>
        </p:spPr>
        <p:txBody>
          <a:bodyPr wrap="square" lIns="0" tIns="0" rIns="0" bIns="0" rtlCol="0" anchor="t"/>
          <a:lstStyle/>
          <a:p>
            <a:pPr marL="342900" indent="-342900">
              <a:lnSpc>
                <a:spcPct val="108000"/>
              </a:lnSpc>
              <a:spcAft>
                <a:spcPts val="1200"/>
              </a:spcAft>
              <a:buSzPct val="100000"/>
              <a:buChar char="●"/>
            </a:pPr>
            <a:r>
              <a:rPr lang="en-US" sz="2800" b="1" dirty="0">
                <a:solidFill>
                  <a:srgbClr val="13315C"/>
                </a:solidFill>
                <a:latin typeface="Calibri" pitchFamily="34" charset="0"/>
                <a:ea typeface="Calibri" pitchFamily="34" charset="-122"/>
                <a:cs typeface="Calibri" pitchFamily="34" charset="-120"/>
              </a:rPr>
              <a:t>Radio Waves:</a:t>
            </a:r>
            <a:endParaRPr lang="en-US" sz="2800" dirty="0"/>
          </a:p>
          <a:p>
            <a:pPr marL="685800" lvl="1" indent="-342900">
              <a:lnSpc>
                <a:spcPct val="108000"/>
              </a:lnSpc>
              <a:spcAft>
                <a:spcPts val="600"/>
              </a:spcAft>
              <a:buSzPct val="100000"/>
              <a:buChar char="–"/>
            </a:pPr>
            <a:r>
              <a:rPr lang="en-US" sz="2400" dirty="0">
                <a:solidFill>
                  <a:srgbClr val="13315C"/>
                </a:solidFill>
                <a:latin typeface="Calibri" pitchFamily="34" charset="0"/>
                <a:ea typeface="Calibri" pitchFamily="34" charset="-122"/>
                <a:cs typeface="Calibri" pitchFamily="34" charset="-120"/>
              </a:rPr>
              <a:t>Used by Wi-Fi (802.11 standards) and cellular networks; can penetrate walls; range varies with frequency and power.</a:t>
            </a:r>
            <a:endParaRPr lang="en-US" sz="2800" dirty="0"/>
          </a:p>
          <a:p>
            <a:pPr marL="342900" indent="-342900">
              <a:lnSpc>
                <a:spcPct val="108000"/>
              </a:lnSpc>
              <a:spcAft>
                <a:spcPts val="1200"/>
              </a:spcAft>
              <a:buSzPct val="100000"/>
              <a:buChar char="●"/>
            </a:pPr>
            <a:r>
              <a:rPr lang="en-US" sz="2800" b="1" dirty="0">
                <a:solidFill>
                  <a:srgbClr val="13315C"/>
                </a:solidFill>
                <a:latin typeface="Calibri" pitchFamily="34" charset="0"/>
                <a:ea typeface="Calibri" pitchFamily="34" charset="-122"/>
                <a:cs typeface="Calibri" pitchFamily="34" charset="-120"/>
              </a:rPr>
              <a:t>Microwaves:</a:t>
            </a:r>
            <a:endParaRPr lang="en-US" sz="2800" dirty="0"/>
          </a:p>
          <a:p>
            <a:pPr marL="685800" lvl="1" indent="-342900">
              <a:lnSpc>
                <a:spcPct val="108000"/>
              </a:lnSpc>
              <a:spcAft>
                <a:spcPts val="600"/>
              </a:spcAft>
              <a:buSzPct val="100000"/>
              <a:buChar char="–"/>
            </a:pPr>
            <a:r>
              <a:rPr lang="en-US" sz="2400" dirty="0">
                <a:solidFill>
                  <a:srgbClr val="13315C"/>
                </a:solidFill>
                <a:latin typeface="Calibri" pitchFamily="34" charset="0"/>
                <a:ea typeface="Calibri" pitchFamily="34" charset="-122"/>
                <a:cs typeface="Calibri" pitchFamily="34" charset="-120"/>
              </a:rPr>
              <a:t>Line-of-sight transmission; used for point-to-point links and satellite communication.</a:t>
            </a:r>
            <a:endParaRPr lang="en-US" sz="2800" dirty="0"/>
          </a:p>
          <a:p>
            <a:pPr marL="342900" indent="-342900">
              <a:lnSpc>
                <a:spcPct val="108000"/>
              </a:lnSpc>
              <a:spcAft>
                <a:spcPts val="1200"/>
              </a:spcAft>
              <a:buSzPct val="100000"/>
              <a:buChar char="●"/>
            </a:pPr>
            <a:r>
              <a:rPr lang="en-US" sz="2800" b="1" dirty="0">
                <a:solidFill>
                  <a:srgbClr val="13315C"/>
                </a:solidFill>
                <a:latin typeface="Calibri" pitchFamily="34" charset="0"/>
                <a:ea typeface="Calibri" pitchFamily="34" charset="-122"/>
                <a:cs typeface="Calibri" pitchFamily="34" charset="-120"/>
              </a:rPr>
              <a:t>Infrared:</a:t>
            </a:r>
            <a:endParaRPr lang="en-US" sz="2800" dirty="0"/>
          </a:p>
          <a:p>
            <a:pPr marL="685800" lvl="1" indent="-342900">
              <a:lnSpc>
                <a:spcPct val="108000"/>
              </a:lnSpc>
              <a:spcAft>
                <a:spcPts val="600"/>
              </a:spcAft>
              <a:buSzPct val="100000"/>
              <a:buChar char="–"/>
            </a:pPr>
            <a:r>
              <a:rPr lang="en-US" sz="2400" dirty="0">
                <a:solidFill>
                  <a:srgbClr val="13315C"/>
                </a:solidFill>
                <a:latin typeface="Calibri" pitchFamily="34" charset="0"/>
                <a:ea typeface="Calibri" pitchFamily="34" charset="-122"/>
                <a:cs typeface="Calibri" pitchFamily="34" charset="-120"/>
              </a:rPr>
              <a:t>Short-range line-of-sight; used in remote controls and some short-range device links.</a:t>
            </a:r>
            <a:endParaRPr lang="en-US" sz="2800" dirty="0"/>
          </a:p>
          <a:p>
            <a:pPr marL="342900" indent="-342900">
              <a:lnSpc>
                <a:spcPct val="108000"/>
              </a:lnSpc>
              <a:spcAft>
                <a:spcPts val="1200"/>
              </a:spcAft>
              <a:buSzPct val="100000"/>
              <a:buChar char="●"/>
            </a:pPr>
            <a:r>
              <a:rPr lang="en-US" sz="2800" dirty="0">
                <a:solidFill>
                  <a:srgbClr val="13315C"/>
                </a:solidFill>
                <a:latin typeface="Calibri" pitchFamily="34" charset="0"/>
                <a:ea typeface="Calibri" pitchFamily="34" charset="-122"/>
                <a:cs typeface="Calibri" pitchFamily="34" charset="-120"/>
              </a:rPr>
              <a:t>Wireless media are shared, so multiple devices must coordinate access to avoid interference — a key challenge unique to unguided transmission.</a:t>
            </a:r>
            <a:endParaRPr lang="en-US" sz="2800" dirty="0"/>
          </a:p>
        </p:txBody>
      </p:sp>
      <p:sp>
        <p:nvSpPr>
          <p:cNvPr id="7" name="Text 4"/>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TOPIC 7 · PHYSICAL LAYER</a:t>
            </a:r>
            <a:endParaRPr lang="en-US" sz="1000" dirty="0"/>
          </a:p>
        </p:txBody>
      </p:sp>
      <p:sp>
        <p:nvSpPr>
          <p:cNvPr id="8" name="TextBox 7"/>
          <p:cNvSpPr txBox="1"/>
          <p:nvPr/>
        </p:nvSpPr>
        <p:spPr>
          <a:xfrm>
            <a:off x="11792000" y="6638000"/>
            <a:ext cx="200000" cy="100000"/>
          </a:xfrm>
          <a:prstGeom prst="rect">
            <a:avLst/>
          </a:prstGeom>
          <a:noFill/>
        </p:spPr>
        <p:txBody>
          <a:bodyPr wrap="none">
            <a:spAutoFit/>
          </a:bodyPr>
          <a:lstStyle/>
          <a:p>
            <a:pPr>
              <a:defRPr sz="1000"/>
            </a:pPr>
            <a:r>
              <a:t>50</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0091AD"/>
                </a:solidFill>
                <a:latin typeface="Calibri" pitchFamily="34" charset="0"/>
                <a:ea typeface="Calibri" pitchFamily="34" charset="-122"/>
                <a:cs typeface="Calibri" pitchFamily="34" charset="-120"/>
              </a:rPr>
              <a:t>TOPIC 7 · PHYSICAL LAYER</a:t>
            </a:r>
            <a:endParaRPr lang="en-US" sz="1200" dirty="0"/>
          </a:p>
        </p:txBody>
      </p:sp>
      <p:sp>
        <p:nvSpPr>
          <p:cNvPr id="3" name="Text 1"/>
          <p:cNvSpPr/>
          <p:nvPr/>
        </p:nvSpPr>
        <p:spPr>
          <a:xfrm>
            <a:off x="548640" y="566928"/>
            <a:ext cx="10424160" cy="822960"/>
          </a:xfrm>
          <a:prstGeom prst="rect">
            <a:avLst/>
          </a:prstGeom>
          <a:noFill/>
          <a:ln/>
        </p:spPr>
        <p:txBody>
          <a:bodyPr wrap="square" lIns="0" tIns="0" rIns="0" bIns="0" rtlCol="0" anchor="t"/>
          <a:lstStyle/>
          <a:p>
            <a:pPr marL="0" indent="0">
              <a:buNone/>
            </a:pPr>
            <a:r>
              <a:rPr lang="en-US" sz="3000" b="1" dirty="0">
                <a:solidFill>
                  <a:srgbClr val="13315C"/>
                </a:solidFill>
                <a:latin typeface="Bookman Old Style" pitchFamily="34" charset="0"/>
                <a:ea typeface="Bookman Old Style" pitchFamily="34" charset="-122"/>
                <a:cs typeface="Bookman Old Style" pitchFamily="34" charset="-120"/>
              </a:rPr>
              <a:t>Key Concepts: Bandwidth, Signals, Bit Rate</a:t>
            </a:r>
            <a:endParaRPr lang="en-US" sz="3000" dirty="0"/>
          </a:p>
        </p:txBody>
      </p:sp>
      <p:sp>
        <p:nvSpPr>
          <p:cNvPr id="6" name="Shape 3"/>
          <p:cNvSpPr/>
          <p:nvPr/>
        </p:nvSpPr>
        <p:spPr>
          <a:xfrm>
            <a:off x="548640" y="1691640"/>
            <a:ext cx="5349240" cy="1874520"/>
          </a:xfrm>
          <a:prstGeom prst="roundRect">
            <a:avLst>
              <a:gd name="adj" fmla="val 3902"/>
            </a:avLst>
          </a:prstGeom>
          <a:solidFill>
            <a:srgbClr val="F7FAFD"/>
          </a:solidFill>
          <a:ln/>
          <a:effectLst>
            <a:outerShdw blurRad="88900" dist="25400" dir="5400000" algn="bl" rotWithShape="0">
              <a:srgbClr val="0B2545">
                <a:alpha val="10000"/>
              </a:srgbClr>
            </a:outerShdw>
          </a:effectLst>
        </p:spPr>
        <p:txBody>
          <a:bodyPr/>
          <a:lstStyle/>
          <a:p>
            <a:endParaRPr/>
          </a:p>
        </p:txBody>
      </p:sp>
      <p:sp>
        <p:nvSpPr>
          <p:cNvPr id="7" name="Text 4"/>
          <p:cNvSpPr/>
          <p:nvPr/>
        </p:nvSpPr>
        <p:spPr>
          <a:xfrm>
            <a:off x="822960" y="1874520"/>
            <a:ext cx="4800600" cy="365760"/>
          </a:xfrm>
          <a:prstGeom prst="rect">
            <a:avLst/>
          </a:prstGeom>
          <a:noFill/>
          <a:ln/>
        </p:spPr>
        <p:txBody>
          <a:bodyPr wrap="square" lIns="0" tIns="0" rIns="0" bIns="0" rtlCol="0" anchor="ctr"/>
          <a:lstStyle/>
          <a:p>
            <a:pPr marL="0" indent="0">
              <a:buNone/>
            </a:pPr>
            <a:r>
              <a:rPr lang="en-US" sz="1550" b="1" dirty="0">
                <a:solidFill>
                  <a:srgbClr val="0B2545"/>
                </a:solidFill>
                <a:latin typeface="Calibri" pitchFamily="34" charset="0"/>
                <a:ea typeface="Calibri" pitchFamily="34" charset="-122"/>
                <a:cs typeface="Calibri" pitchFamily="34" charset="-120"/>
              </a:rPr>
              <a:t>Bandwidth</a:t>
            </a:r>
            <a:endParaRPr lang="en-US" sz="1550" dirty="0"/>
          </a:p>
        </p:txBody>
      </p:sp>
      <p:sp>
        <p:nvSpPr>
          <p:cNvPr id="8" name="Text 5"/>
          <p:cNvSpPr/>
          <p:nvPr/>
        </p:nvSpPr>
        <p:spPr>
          <a:xfrm>
            <a:off x="822960" y="2286000"/>
            <a:ext cx="4800600" cy="1188720"/>
          </a:xfrm>
          <a:prstGeom prst="rect">
            <a:avLst/>
          </a:prstGeom>
          <a:noFill/>
          <a:ln/>
        </p:spPr>
        <p:txBody>
          <a:bodyPr wrap="square" lIns="0" tIns="0" rIns="0" bIns="0" rtlCol="0" anchor="t"/>
          <a:lstStyle/>
          <a:p>
            <a:pPr marL="0" indent="0">
              <a:buNone/>
            </a:pPr>
            <a:r>
              <a:rPr lang="en-US" sz="1200" dirty="0">
                <a:solidFill>
                  <a:srgbClr val="5B6B82"/>
                </a:solidFill>
                <a:latin typeface="Calibri" pitchFamily="34" charset="0"/>
                <a:ea typeface="Calibri" pitchFamily="34" charset="-122"/>
                <a:cs typeface="Calibri" pitchFamily="34" charset="-120"/>
              </a:rPr>
              <a:t>The range of frequencies a medium can carry, or loosely, the maximum data rate a link can support — measured in Hz (frequency) or bits per second (data capacity).</a:t>
            </a:r>
            <a:endParaRPr lang="en-US" sz="1200" dirty="0"/>
          </a:p>
        </p:txBody>
      </p:sp>
      <p:sp>
        <p:nvSpPr>
          <p:cNvPr id="9" name="Shape 6"/>
          <p:cNvSpPr/>
          <p:nvPr/>
        </p:nvSpPr>
        <p:spPr>
          <a:xfrm>
            <a:off x="6263640" y="1691640"/>
            <a:ext cx="5349240" cy="1874520"/>
          </a:xfrm>
          <a:prstGeom prst="roundRect">
            <a:avLst>
              <a:gd name="adj" fmla="val 3902"/>
            </a:avLst>
          </a:prstGeom>
          <a:solidFill>
            <a:srgbClr val="F7FAFD"/>
          </a:solidFill>
          <a:ln/>
          <a:effectLst>
            <a:outerShdw blurRad="88900" dist="25400" dir="5400000" algn="bl" rotWithShape="0">
              <a:srgbClr val="0B2545">
                <a:alpha val="10000"/>
              </a:srgbClr>
            </a:outerShdw>
          </a:effectLst>
        </p:spPr>
        <p:txBody>
          <a:bodyPr/>
          <a:lstStyle/>
          <a:p>
            <a:endParaRPr/>
          </a:p>
        </p:txBody>
      </p:sp>
      <p:sp>
        <p:nvSpPr>
          <p:cNvPr id="10" name="Text 7"/>
          <p:cNvSpPr/>
          <p:nvPr/>
        </p:nvSpPr>
        <p:spPr>
          <a:xfrm>
            <a:off x="6537960" y="1874520"/>
            <a:ext cx="4800600" cy="365760"/>
          </a:xfrm>
          <a:prstGeom prst="rect">
            <a:avLst/>
          </a:prstGeom>
          <a:noFill/>
          <a:ln/>
        </p:spPr>
        <p:txBody>
          <a:bodyPr wrap="square" lIns="0" tIns="0" rIns="0" bIns="0" rtlCol="0" anchor="ctr"/>
          <a:lstStyle/>
          <a:p>
            <a:pPr marL="0" indent="0">
              <a:buNone/>
            </a:pPr>
            <a:r>
              <a:rPr lang="en-US" sz="1550" b="1" dirty="0">
                <a:solidFill>
                  <a:srgbClr val="0B2545"/>
                </a:solidFill>
                <a:latin typeface="Calibri" pitchFamily="34" charset="0"/>
                <a:ea typeface="Calibri" pitchFamily="34" charset="-122"/>
                <a:cs typeface="Calibri" pitchFamily="34" charset="-120"/>
              </a:rPr>
              <a:t>Bit Rate</a:t>
            </a:r>
            <a:endParaRPr lang="en-US" sz="1550" dirty="0"/>
          </a:p>
        </p:txBody>
      </p:sp>
      <p:sp>
        <p:nvSpPr>
          <p:cNvPr id="11" name="Text 8"/>
          <p:cNvSpPr/>
          <p:nvPr/>
        </p:nvSpPr>
        <p:spPr>
          <a:xfrm>
            <a:off x="6537960" y="2286000"/>
            <a:ext cx="4800600" cy="1188720"/>
          </a:xfrm>
          <a:prstGeom prst="rect">
            <a:avLst/>
          </a:prstGeom>
          <a:noFill/>
          <a:ln/>
        </p:spPr>
        <p:txBody>
          <a:bodyPr wrap="square" lIns="0" tIns="0" rIns="0" bIns="0" rtlCol="0" anchor="t"/>
          <a:lstStyle/>
          <a:p>
            <a:pPr marL="0" indent="0">
              <a:buNone/>
            </a:pPr>
            <a:r>
              <a:rPr lang="en-US" sz="1200" dirty="0">
                <a:solidFill>
                  <a:srgbClr val="5B6B82"/>
                </a:solidFill>
                <a:latin typeface="Calibri" pitchFamily="34" charset="0"/>
                <a:ea typeface="Calibri" pitchFamily="34" charset="-122"/>
                <a:cs typeface="Calibri" pitchFamily="34" charset="-120"/>
              </a:rPr>
              <a:t>The number of bits transmitted per second (bps) — determines how fast data actually moves across the link.</a:t>
            </a:r>
            <a:endParaRPr lang="en-US" sz="1200" dirty="0"/>
          </a:p>
        </p:txBody>
      </p:sp>
      <p:sp>
        <p:nvSpPr>
          <p:cNvPr id="12" name="Shape 9"/>
          <p:cNvSpPr/>
          <p:nvPr/>
        </p:nvSpPr>
        <p:spPr>
          <a:xfrm>
            <a:off x="548640" y="3840480"/>
            <a:ext cx="5349240" cy="1874520"/>
          </a:xfrm>
          <a:prstGeom prst="roundRect">
            <a:avLst>
              <a:gd name="adj" fmla="val 3902"/>
            </a:avLst>
          </a:prstGeom>
          <a:solidFill>
            <a:srgbClr val="F7FAFD"/>
          </a:solidFill>
          <a:ln/>
          <a:effectLst>
            <a:outerShdw blurRad="88900" dist="25400" dir="5400000" algn="bl" rotWithShape="0">
              <a:srgbClr val="0B2545">
                <a:alpha val="10000"/>
              </a:srgbClr>
            </a:outerShdw>
          </a:effectLst>
        </p:spPr>
        <p:txBody>
          <a:bodyPr/>
          <a:lstStyle/>
          <a:p>
            <a:endParaRPr/>
          </a:p>
        </p:txBody>
      </p:sp>
      <p:sp>
        <p:nvSpPr>
          <p:cNvPr id="13" name="Text 10"/>
          <p:cNvSpPr/>
          <p:nvPr/>
        </p:nvSpPr>
        <p:spPr>
          <a:xfrm>
            <a:off x="822960" y="4023360"/>
            <a:ext cx="4800600" cy="365760"/>
          </a:xfrm>
          <a:prstGeom prst="rect">
            <a:avLst/>
          </a:prstGeom>
          <a:noFill/>
          <a:ln/>
        </p:spPr>
        <p:txBody>
          <a:bodyPr wrap="square" lIns="0" tIns="0" rIns="0" bIns="0" rtlCol="0" anchor="ctr"/>
          <a:lstStyle/>
          <a:p>
            <a:pPr marL="0" indent="0">
              <a:buNone/>
            </a:pPr>
            <a:r>
              <a:rPr lang="en-US" sz="1550" b="1" dirty="0">
                <a:solidFill>
                  <a:srgbClr val="0B2545"/>
                </a:solidFill>
                <a:latin typeface="Calibri" pitchFamily="34" charset="0"/>
                <a:ea typeface="Calibri" pitchFamily="34" charset="-122"/>
                <a:cs typeface="Calibri" pitchFamily="34" charset="-120"/>
              </a:rPr>
              <a:t>Analog vs Digital Signal</a:t>
            </a:r>
            <a:endParaRPr lang="en-US" sz="1550" dirty="0"/>
          </a:p>
        </p:txBody>
      </p:sp>
      <p:sp>
        <p:nvSpPr>
          <p:cNvPr id="14" name="Text 11"/>
          <p:cNvSpPr/>
          <p:nvPr/>
        </p:nvSpPr>
        <p:spPr>
          <a:xfrm>
            <a:off x="822960" y="4434840"/>
            <a:ext cx="4800600" cy="1188720"/>
          </a:xfrm>
          <a:prstGeom prst="rect">
            <a:avLst/>
          </a:prstGeom>
          <a:noFill/>
          <a:ln/>
        </p:spPr>
        <p:txBody>
          <a:bodyPr wrap="square" lIns="0" tIns="0" rIns="0" bIns="0" rtlCol="0" anchor="t"/>
          <a:lstStyle/>
          <a:p>
            <a:pPr marL="0" indent="0">
              <a:buNone/>
            </a:pPr>
            <a:r>
              <a:rPr lang="en-US" sz="1200" dirty="0">
                <a:solidFill>
                  <a:srgbClr val="5B6B82"/>
                </a:solidFill>
                <a:latin typeface="Calibri" pitchFamily="34" charset="0"/>
                <a:ea typeface="Calibri" pitchFamily="34" charset="-122"/>
                <a:cs typeface="Calibri" pitchFamily="34" charset="-120"/>
              </a:rPr>
              <a:t>Analog signals vary continuously (e.g. traditional telephone voice); digital signals take discrete values (0s and 1s) — most modern networks are digital.</a:t>
            </a:r>
            <a:endParaRPr lang="en-US" sz="1200" dirty="0"/>
          </a:p>
        </p:txBody>
      </p:sp>
      <p:sp>
        <p:nvSpPr>
          <p:cNvPr id="15" name="Shape 12"/>
          <p:cNvSpPr/>
          <p:nvPr/>
        </p:nvSpPr>
        <p:spPr>
          <a:xfrm>
            <a:off x="6263640" y="3840480"/>
            <a:ext cx="5349240" cy="1874520"/>
          </a:xfrm>
          <a:prstGeom prst="roundRect">
            <a:avLst>
              <a:gd name="adj" fmla="val 3902"/>
            </a:avLst>
          </a:prstGeom>
          <a:solidFill>
            <a:srgbClr val="F7FAFD"/>
          </a:solidFill>
          <a:ln/>
          <a:effectLst>
            <a:outerShdw blurRad="88900" dist="25400" dir="5400000" algn="bl" rotWithShape="0">
              <a:srgbClr val="0B2545">
                <a:alpha val="10000"/>
              </a:srgbClr>
            </a:outerShdw>
          </a:effectLst>
        </p:spPr>
        <p:txBody>
          <a:bodyPr/>
          <a:lstStyle/>
          <a:p>
            <a:endParaRPr/>
          </a:p>
        </p:txBody>
      </p:sp>
      <p:sp>
        <p:nvSpPr>
          <p:cNvPr id="16" name="Text 13"/>
          <p:cNvSpPr/>
          <p:nvPr/>
        </p:nvSpPr>
        <p:spPr>
          <a:xfrm>
            <a:off x="6537960" y="4023360"/>
            <a:ext cx="4800600" cy="365760"/>
          </a:xfrm>
          <a:prstGeom prst="rect">
            <a:avLst/>
          </a:prstGeom>
          <a:noFill/>
          <a:ln/>
        </p:spPr>
        <p:txBody>
          <a:bodyPr wrap="square" lIns="0" tIns="0" rIns="0" bIns="0" rtlCol="0" anchor="ctr"/>
          <a:lstStyle/>
          <a:p>
            <a:pPr marL="0" indent="0">
              <a:buNone/>
            </a:pPr>
            <a:r>
              <a:rPr lang="en-US" sz="1550" b="1" dirty="0">
                <a:solidFill>
                  <a:srgbClr val="0B2545"/>
                </a:solidFill>
                <a:latin typeface="Calibri" pitchFamily="34" charset="0"/>
                <a:ea typeface="Calibri" pitchFamily="34" charset="-122"/>
                <a:cs typeface="Calibri" pitchFamily="34" charset="-120"/>
              </a:rPr>
              <a:t>Attenuation &amp; Noise</a:t>
            </a:r>
            <a:endParaRPr lang="en-US" sz="1550" dirty="0"/>
          </a:p>
        </p:txBody>
      </p:sp>
      <p:sp>
        <p:nvSpPr>
          <p:cNvPr id="17" name="Text 14"/>
          <p:cNvSpPr/>
          <p:nvPr/>
        </p:nvSpPr>
        <p:spPr>
          <a:xfrm>
            <a:off x="6537960" y="4434840"/>
            <a:ext cx="4800600" cy="1188720"/>
          </a:xfrm>
          <a:prstGeom prst="rect">
            <a:avLst/>
          </a:prstGeom>
          <a:noFill/>
          <a:ln/>
        </p:spPr>
        <p:txBody>
          <a:bodyPr wrap="square" lIns="0" tIns="0" rIns="0" bIns="0" rtlCol="0" anchor="t"/>
          <a:lstStyle/>
          <a:p>
            <a:pPr marL="0" indent="0">
              <a:buNone/>
            </a:pPr>
            <a:r>
              <a:rPr lang="en-US" sz="1200" dirty="0">
                <a:solidFill>
                  <a:srgbClr val="5B6B82"/>
                </a:solidFill>
                <a:latin typeface="Calibri" pitchFamily="34" charset="0"/>
                <a:ea typeface="Calibri" pitchFamily="34" charset="-122"/>
                <a:cs typeface="Calibri" pitchFamily="34" charset="-120"/>
              </a:rPr>
              <a:t>Attenuation is signal weakening over distance; noise is unwanted interference — both physical layer engineers must design around.</a:t>
            </a:r>
            <a:endParaRPr lang="en-US" sz="1200" dirty="0"/>
          </a:p>
        </p:txBody>
      </p:sp>
      <p:sp>
        <p:nvSpPr>
          <p:cNvPr id="18" name="Text 15"/>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TOPIC 7 · PHYSICAL LAYER</a:t>
            </a:r>
            <a:endParaRPr lang="en-US" sz="1000" dirty="0"/>
          </a:p>
        </p:txBody>
      </p:sp>
      <p:sp>
        <p:nvSpPr>
          <p:cNvPr id="19" name="TextBox 18"/>
          <p:cNvSpPr txBox="1"/>
          <p:nvPr/>
        </p:nvSpPr>
        <p:spPr>
          <a:xfrm>
            <a:off x="11792000" y="6638000"/>
            <a:ext cx="200000" cy="100000"/>
          </a:xfrm>
          <a:prstGeom prst="rect">
            <a:avLst/>
          </a:prstGeom>
          <a:noFill/>
        </p:spPr>
        <p:txBody>
          <a:bodyPr wrap="none">
            <a:spAutoFit/>
          </a:bodyPr>
          <a:lstStyle/>
          <a:p>
            <a:pPr>
              <a:defRPr sz="1000"/>
            </a:pPr>
            <a:r>
              <a:t>51</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4" name="Text 1"/>
          <p:cNvSpPr/>
          <p:nvPr/>
        </p:nvSpPr>
        <p:spPr>
          <a:xfrm>
            <a:off x="1371600" y="457200"/>
            <a:ext cx="8229600" cy="320040"/>
          </a:xfrm>
          <a:prstGeom prst="rect">
            <a:avLst/>
          </a:prstGeom>
          <a:noFill/>
          <a:ln/>
        </p:spPr>
        <p:txBody>
          <a:bodyPr wrap="square" lIns="0" tIns="0" rIns="0" bIns="0" rtlCol="0" anchor="ctr"/>
          <a:lstStyle/>
          <a:p>
            <a:pPr marL="0" indent="0">
              <a:buNone/>
            </a:pPr>
            <a:r>
              <a:rPr lang="en-US" sz="1300" b="1" kern="0" spc="150" dirty="0">
                <a:solidFill>
                  <a:srgbClr val="E07A2C"/>
                </a:solidFill>
                <a:latin typeface="Calibri" pitchFamily="34" charset="0"/>
                <a:ea typeface="Calibri" pitchFamily="34" charset="-122"/>
                <a:cs typeface="Calibri" pitchFamily="34" charset="-120"/>
              </a:rPr>
              <a:t>BRAINSTORMING ACTIVITY</a:t>
            </a:r>
            <a:endParaRPr lang="en-US" sz="1300" dirty="0"/>
          </a:p>
        </p:txBody>
      </p:sp>
      <p:sp>
        <p:nvSpPr>
          <p:cNvPr id="5" name="Text 2"/>
          <p:cNvSpPr/>
          <p:nvPr/>
        </p:nvSpPr>
        <p:spPr>
          <a:xfrm>
            <a:off x="548640" y="868680"/>
            <a:ext cx="10789920" cy="777240"/>
          </a:xfrm>
          <a:prstGeom prst="rect">
            <a:avLst/>
          </a:prstGeom>
          <a:noFill/>
          <a:ln/>
        </p:spPr>
        <p:txBody>
          <a:bodyPr wrap="square" lIns="0" tIns="0" rIns="0" bIns="0" rtlCol="0" anchor="ctr"/>
          <a:lstStyle/>
          <a:p>
            <a:pPr marL="0" indent="0">
              <a:buNone/>
            </a:pPr>
            <a:r>
              <a:rPr lang="en-US" sz="2700" b="1" dirty="0">
                <a:solidFill>
                  <a:srgbClr val="13315C"/>
                </a:solidFill>
                <a:latin typeface="Bookman Old Style" pitchFamily="34" charset="0"/>
                <a:ea typeface="Bookman Old Style" pitchFamily="34" charset="-122"/>
                <a:cs typeface="Bookman Old Style" pitchFamily="34" charset="-120"/>
              </a:rPr>
              <a:t>Media Selection Challenge</a:t>
            </a:r>
            <a:endParaRPr lang="en-US" sz="2700" dirty="0"/>
          </a:p>
        </p:txBody>
      </p:sp>
      <p:sp>
        <p:nvSpPr>
          <p:cNvPr id="6" name="Shape 3"/>
          <p:cNvSpPr/>
          <p:nvPr/>
        </p:nvSpPr>
        <p:spPr>
          <a:xfrm>
            <a:off x="548640" y="1783080"/>
            <a:ext cx="11064240" cy="4434840"/>
          </a:xfrm>
          <a:prstGeom prst="roundRect">
            <a:avLst>
              <a:gd name="adj" fmla="val 1649"/>
            </a:avLst>
          </a:prstGeom>
          <a:solidFill>
            <a:srgbClr val="FFFFFF"/>
          </a:solidFill>
          <a:ln/>
          <a:effectLst>
            <a:outerShdw blurRad="88900" dist="25400" dir="5400000" algn="bl" rotWithShape="0">
              <a:srgbClr val="0B2545">
                <a:alpha val="10000"/>
              </a:srgbClr>
            </a:outerShdw>
          </a:effectLst>
        </p:spPr>
        <p:txBody>
          <a:bodyPr/>
          <a:lstStyle/>
          <a:p>
            <a:endParaRPr/>
          </a:p>
        </p:txBody>
      </p:sp>
      <p:sp>
        <p:nvSpPr>
          <p:cNvPr id="7" name="Text 4"/>
          <p:cNvSpPr/>
          <p:nvPr/>
        </p:nvSpPr>
        <p:spPr>
          <a:xfrm>
            <a:off x="914400" y="2057400"/>
            <a:ext cx="10332720" cy="3931920"/>
          </a:xfrm>
          <a:prstGeom prst="rect">
            <a:avLst/>
          </a:prstGeom>
          <a:noFill/>
          <a:ln/>
        </p:spPr>
        <p:txBody>
          <a:bodyPr wrap="square" lIns="0" tIns="0" rIns="0" bIns="0" rtlCol="0" anchor="t"/>
          <a:lstStyle/>
          <a:p>
            <a:pPr marL="342900" indent="-342900">
              <a:lnSpc>
                <a:spcPct val="110000"/>
              </a:lnSpc>
              <a:spcAft>
                <a:spcPts val="1300"/>
              </a:spcAft>
              <a:buSzPct val="100000"/>
              <a:buChar char="▸"/>
            </a:pPr>
            <a:r>
              <a:rPr lang="en-US" sz="1550" dirty="0">
                <a:solidFill>
                  <a:srgbClr val="13315C"/>
                </a:solidFill>
                <a:latin typeface="Calibri" pitchFamily="34" charset="0"/>
                <a:ea typeface="Calibri" pitchFamily="34" charset="-122"/>
                <a:cs typeface="Calibri" pitchFamily="34" charset="-120"/>
              </a:rPr>
              <a:t>In groups, you are network consultants. For each scenario below, choose the best transmission medium and justify it in one sentence:</a:t>
            </a:r>
            <a:endParaRPr lang="en-US" sz="1550" dirty="0"/>
          </a:p>
          <a:p>
            <a:pPr marL="342900" indent="-342900">
              <a:lnSpc>
                <a:spcPct val="110000"/>
              </a:lnSpc>
              <a:spcAft>
                <a:spcPts val="1300"/>
              </a:spcAft>
              <a:buSzPct val="100000"/>
              <a:buChar char="▸"/>
            </a:pPr>
            <a:r>
              <a:rPr lang="en-US" sz="1550" dirty="0">
                <a:solidFill>
                  <a:srgbClr val="13315C"/>
                </a:solidFill>
                <a:latin typeface="Calibri" pitchFamily="34" charset="0"/>
                <a:ea typeface="Calibri" pitchFamily="34" charset="-122"/>
                <a:cs typeface="Calibri" pitchFamily="34" charset="-120"/>
              </a:rPr>
              <a:t>(a) Connecting two office buildings 2 km apart, needing very high bandwidth and immunity to lightning/electrical interference.</a:t>
            </a:r>
            <a:endParaRPr lang="en-US" sz="1550" dirty="0"/>
          </a:p>
          <a:p>
            <a:pPr marL="342900" indent="-342900">
              <a:lnSpc>
                <a:spcPct val="110000"/>
              </a:lnSpc>
              <a:spcAft>
                <a:spcPts val="1300"/>
              </a:spcAft>
              <a:buSzPct val="100000"/>
              <a:buChar char="▸"/>
            </a:pPr>
            <a:r>
              <a:rPr lang="en-US" sz="1550" dirty="0">
                <a:solidFill>
                  <a:srgbClr val="13315C"/>
                </a:solidFill>
                <a:latin typeface="Calibri" pitchFamily="34" charset="0"/>
                <a:ea typeface="Calibri" pitchFamily="34" charset="-122"/>
                <a:cs typeface="Calibri" pitchFamily="34" charset="-120"/>
              </a:rPr>
              <a:t>(b) Providing internet access to student laptops moving freely around a hostel common room.</a:t>
            </a:r>
            <a:endParaRPr lang="en-US" sz="1550" dirty="0"/>
          </a:p>
          <a:p>
            <a:pPr marL="342900" indent="-342900">
              <a:lnSpc>
                <a:spcPct val="110000"/>
              </a:lnSpc>
              <a:spcAft>
                <a:spcPts val="1300"/>
              </a:spcAft>
              <a:buSzPct val="100000"/>
              <a:buChar char="▸"/>
            </a:pPr>
            <a:r>
              <a:rPr lang="en-US" sz="1550" dirty="0">
                <a:solidFill>
                  <a:srgbClr val="13315C"/>
                </a:solidFill>
                <a:latin typeface="Calibri" pitchFamily="34" charset="0"/>
                <a:ea typeface="Calibri" pitchFamily="34" charset="-122"/>
                <a:cs typeface="Calibri" pitchFamily="34" charset="-120"/>
              </a:rPr>
              <a:t>(c) Connecting a desktop PC to a switch 5 meters away in a low-interference office.</a:t>
            </a:r>
            <a:endParaRPr lang="en-US" sz="1550" dirty="0"/>
          </a:p>
          <a:p>
            <a:pPr marL="342900" indent="-342900">
              <a:lnSpc>
                <a:spcPct val="110000"/>
              </a:lnSpc>
              <a:spcAft>
                <a:spcPts val="1300"/>
              </a:spcAft>
              <a:buSzPct val="100000"/>
              <a:buChar char="▸"/>
            </a:pPr>
            <a:r>
              <a:rPr lang="en-US" sz="1550" dirty="0">
                <a:solidFill>
                  <a:srgbClr val="13315C"/>
                </a:solidFill>
                <a:latin typeface="Calibri" pitchFamily="34" charset="0"/>
                <a:ea typeface="Calibri" pitchFamily="34" charset="-122"/>
                <a:cs typeface="Calibri" pitchFamily="34" charset="-120"/>
              </a:rPr>
              <a:t>(d) Linking two ground stations to a satellite in orbit.</a:t>
            </a:r>
            <a:endParaRPr lang="en-US" sz="1550" dirty="0"/>
          </a:p>
          <a:p>
            <a:pPr marL="342900" indent="-342900">
              <a:lnSpc>
                <a:spcPct val="110000"/>
              </a:lnSpc>
              <a:spcAft>
                <a:spcPts val="1300"/>
              </a:spcAft>
              <a:buSzPct val="100000"/>
              <a:buChar char="▸"/>
            </a:pPr>
            <a:r>
              <a:rPr lang="en-US" sz="1550" dirty="0">
                <a:solidFill>
                  <a:srgbClr val="13315C"/>
                </a:solidFill>
                <a:latin typeface="Calibri" pitchFamily="34" charset="0"/>
                <a:ea typeface="Calibri" pitchFamily="34" charset="-122"/>
                <a:cs typeface="Calibri" pitchFamily="34" charset="-120"/>
              </a:rPr>
              <a:t>Discuss: which choice would change if cost was the ONLY factor instead of performance?</a:t>
            </a:r>
            <a:endParaRPr lang="en-US" sz="1550" dirty="0"/>
          </a:p>
        </p:txBody>
      </p:sp>
      <p:sp>
        <p:nvSpPr>
          <p:cNvPr id="8" name="Text 5"/>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TOPIC 7 · ACTIVITY</a:t>
            </a:r>
            <a:endParaRPr lang="en-US" sz="1000" dirty="0"/>
          </a:p>
        </p:txBody>
      </p:sp>
      <p:sp>
        <p:nvSpPr>
          <p:cNvPr id="9" name="TextBox 8"/>
          <p:cNvSpPr txBox="1"/>
          <p:nvPr/>
        </p:nvSpPr>
        <p:spPr>
          <a:xfrm>
            <a:off x="11792000" y="6638000"/>
            <a:ext cx="200000" cy="100000"/>
          </a:xfrm>
          <a:prstGeom prst="rect">
            <a:avLst/>
          </a:prstGeom>
          <a:noFill/>
        </p:spPr>
        <p:txBody>
          <a:bodyPr wrap="none">
            <a:spAutoFit/>
          </a:bodyPr>
          <a:lstStyle/>
          <a:p>
            <a:pPr>
              <a:defRPr sz="1000"/>
            </a:pPr>
            <a:r>
              <a:t>52</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5">
    <p:bg>
      <p:bgPr>
        <a:solidFill>
          <a:srgbClr val="002060"/>
        </a:solidFill>
        <a:effectLst/>
      </p:bgPr>
    </p:bg>
    <p:spTree>
      <p:nvGrpSpPr>
        <p:cNvPr id="1" name=""/>
        <p:cNvGrpSpPr/>
        <p:nvPr/>
      </p:nvGrpSpPr>
      <p:grpSpPr>
        <a:xfrm>
          <a:off x="0" y="0"/>
          <a:ext cx="0" cy="0"/>
          <a:chOff x="0" y="0"/>
          <a:chExt cx="0" cy="0"/>
        </a:xfrm>
      </p:grpSpPr>
      <p:sp>
        <p:nvSpPr>
          <p:cNvPr id="2" name="Shape 0"/>
          <p:cNvSpPr/>
          <p:nvPr/>
        </p:nvSpPr>
        <p:spPr>
          <a:xfrm>
            <a:off x="9692640" y="914400"/>
            <a:ext cx="914400" cy="548640"/>
          </a:xfrm>
          <a:prstGeom prst="line">
            <a:avLst/>
          </a:prstGeom>
          <a:noFill/>
          <a:ln w="12700">
            <a:solidFill>
              <a:srgbClr val="1E3A66"/>
            </a:solidFill>
            <a:prstDash val="solid"/>
          </a:ln>
        </p:spPr>
        <p:txBody>
          <a:bodyPr/>
          <a:lstStyle/>
          <a:p>
            <a:endParaRPr/>
          </a:p>
        </p:txBody>
      </p:sp>
      <p:sp>
        <p:nvSpPr>
          <p:cNvPr id="3" name="Shape 1"/>
          <p:cNvSpPr/>
          <p:nvPr/>
        </p:nvSpPr>
        <p:spPr>
          <a:xfrm>
            <a:off x="9692640" y="914400"/>
            <a:ext cx="1645920" cy="0"/>
          </a:xfrm>
          <a:prstGeom prst="line">
            <a:avLst/>
          </a:prstGeom>
          <a:noFill/>
          <a:ln w="12700">
            <a:solidFill>
              <a:srgbClr val="1E3A66"/>
            </a:solidFill>
            <a:prstDash val="solid"/>
          </a:ln>
        </p:spPr>
        <p:txBody>
          <a:bodyPr/>
          <a:lstStyle/>
          <a:p>
            <a:endParaRPr/>
          </a:p>
        </p:txBody>
      </p:sp>
      <p:sp>
        <p:nvSpPr>
          <p:cNvPr id="4" name="Shape 2"/>
          <p:cNvSpPr/>
          <p:nvPr/>
        </p:nvSpPr>
        <p:spPr>
          <a:xfrm>
            <a:off x="9692640" y="914400"/>
            <a:ext cx="548640" cy="1371600"/>
          </a:xfrm>
          <a:prstGeom prst="line">
            <a:avLst/>
          </a:prstGeom>
          <a:noFill/>
          <a:ln w="12700">
            <a:solidFill>
              <a:srgbClr val="1E3A66"/>
            </a:solidFill>
            <a:prstDash val="solid"/>
          </a:ln>
        </p:spPr>
        <p:txBody>
          <a:bodyPr/>
          <a:lstStyle/>
          <a:p>
            <a:endParaRPr/>
          </a:p>
        </p:txBody>
      </p:sp>
      <p:sp>
        <p:nvSpPr>
          <p:cNvPr id="5" name="Shape 3"/>
          <p:cNvSpPr/>
          <p:nvPr/>
        </p:nvSpPr>
        <p:spPr>
          <a:xfrm>
            <a:off x="9692640" y="914400"/>
            <a:ext cx="1828800" cy="1463040"/>
          </a:xfrm>
          <a:prstGeom prst="line">
            <a:avLst/>
          </a:prstGeom>
          <a:noFill/>
          <a:ln w="12700">
            <a:solidFill>
              <a:srgbClr val="1E3A66"/>
            </a:solidFill>
            <a:prstDash val="solid"/>
          </a:ln>
        </p:spPr>
        <p:txBody>
          <a:bodyPr/>
          <a:lstStyle/>
          <a:p>
            <a:endParaRPr/>
          </a:p>
        </p:txBody>
      </p:sp>
      <p:sp>
        <p:nvSpPr>
          <p:cNvPr id="6" name="Shape 4"/>
          <p:cNvSpPr/>
          <p:nvPr/>
        </p:nvSpPr>
        <p:spPr>
          <a:xfrm>
            <a:off x="9692640" y="914400"/>
            <a:ext cx="0" cy="1097280"/>
          </a:xfrm>
          <a:prstGeom prst="line">
            <a:avLst/>
          </a:prstGeom>
          <a:noFill/>
          <a:ln w="12700">
            <a:solidFill>
              <a:srgbClr val="1E3A66"/>
            </a:solidFill>
            <a:prstDash val="solid"/>
          </a:ln>
        </p:spPr>
        <p:txBody>
          <a:bodyPr/>
          <a:lstStyle/>
          <a:p>
            <a:endParaRPr/>
          </a:p>
        </p:txBody>
      </p:sp>
      <p:sp>
        <p:nvSpPr>
          <p:cNvPr id="7" name="Shape 5"/>
          <p:cNvSpPr/>
          <p:nvPr/>
        </p:nvSpPr>
        <p:spPr>
          <a:xfrm>
            <a:off x="10607040" y="1463040"/>
            <a:ext cx="731520" cy="0"/>
          </a:xfrm>
          <a:prstGeom prst="line">
            <a:avLst/>
          </a:prstGeom>
          <a:noFill/>
          <a:ln w="12700">
            <a:solidFill>
              <a:srgbClr val="1E3A66"/>
            </a:solidFill>
            <a:prstDash val="solid"/>
          </a:ln>
        </p:spPr>
        <p:txBody>
          <a:bodyPr/>
          <a:lstStyle/>
          <a:p>
            <a:endParaRPr/>
          </a:p>
        </p:txBody>
      </p:sp>
      <p:sp>
        <p:nvSpPr>
          <p:cNvPr id="8" name="Shape 6"/>
          <p:cNvSpPr/>
          <p:nvPr/>
        </p:nvSpPr>
        <p:spPr>
          <a:xfrm>
            <a:off x="10607040" y="1463040"/>
            <a:ext cx="0" cy="822960"/>
          </a:xfrm>
          <a:prstGeom prst="line">
            <a:avLst/>
          </a:prstGeom>
          <a:noFill/>
          <a:ln w="12700">
            <a:solidFill>
              <a:srgbClr val="1E3A66"/>
            </a:solidFill>
            <a:prstDash val="solid"/>
          </a:ln>
        </p:spPr>
        <p:txBody>
          <a:bodyPr/>
          <a:lstStyle/>
          <a:p>
            <a:endParaRPr/>
          </a:p>
        </p:txBody>
      </p:sp>
      <p:sp>
        <p:nvSpPr>
          <p:cNvPr id="9" name="Shape 7"/>
          <p:cNvSpPr/>
          <p:nvPr/>
        </p:nvSpPr>
        <p:spPr>
          <a:xfrm>
            <a:off x="10607040" y="1463040"/>
            <a:ext cx="914400" cy="914400"/>
          </a:xfrm>
          <a:prstGeom prst="line">
            <a:avLst/>
          </a:prstGeom>
          <a:noFill/>
          <a:ln w="12700">
            <a:solidFill>
              <a:srgbClr val="1E3A66"/>
            </a:solidFill>
            <a:prstDash val="solid"/>
          </a:ln>
        </p:spPr>
        <p:txBody>
          <a:bodyPr/>
          <a:lstStyle/>
          <a:p>
            <a:endParaRPr/>
          </a:p>
        </p:txBody>
      </p:sp>
      <p:sp>
        <p:nvSpPr>
          <p:cNvPr id="10" name="Shape 8"/>
          <p:cNvSpPr/>
          <p:nvPr/>
        </p:nvSpPr>
        <p:spPr>
          <a:xfrm>
            <a:off x="10607040" y="1463040"/>
            <a:ext cx="0" cy="548640"/>
          </a:xfrm>
          <a:prstGeom prst="line">
            <a:avLst/>
          </a:prstGeom>
          <a:noFill/>
          <a:ln w="12700">
            <a:solidFill>
              <a:srgbClr val="1E3A66"/>
            </a:solidFill>
            <a:prstDash val="solid"/>
          </a:ln>
        </p:spPr>
        <p:txBody>
          <a:bodyPr/>
          <a:lstStyle/>
          <a:p>
            <a:endParaRPr/>
          </a:p>
        </p:txBody>
      </p:sp>
      <p:sp>
        <p:nvSpPr>
          <p:cNvPr id="11" name="Shape 9"/>
          <p:cNvSpPr/>
          <p:nvPr/>
        </p:nvSpPr>
        <p:spPr>
          <a:xfrm>
            <a:off x="11338560" y="822960"/>
            <a:ext cx="0" cy="1463040"/>
          </a:xfrm>
          <a:prstGeom prst="line">
            <a:avLst/>
          </a:prstGeom>
          <a:noFill/>
          <a:ln w="12700">
            <a:solidFill>
              <a:srgbClr val="1E3A66"/>
            </a:solidFill>
            <a:prstDash val="solid"/>
          </a:ln>
        </p:spPr>
        <p:txBody>
          <a:bodyPr/>
          <a:lstStyle/>
          <a:p>
            <a:endParaRPr/>
          </a:p>
        </p:txBody>
      </p:sp>
      <p:sp>
        <p:nvSpPr>
          <p:cNvPr id="12" name="Shape 10"/>
          <p:cNvSpPr/>
          <p:nvPr/>
        </p:nvSpPr>
        <p:spPr>
          <a:xfrm>
            <a:off x="11338560" y="822960"/>
            <a:ext cx="182880" cy="1554480"/>
          </a:xfrm>
          <a:prstGeom prst="line">
            <a:avLst/>
          </a:prstGeom>
          <a:noFill/>
          <a:ln w="12700">
            <a:solidFill>
              <a:srgbClr val="1E3A66"/>
            </a:solidFill>
            <a:prstDash val="solid"/>
          </a:ln>
        </p:spPr>
        <p:txBody>
          <a:bodyPr/>
          <a:lstStyle/>
          <a:p>
            <a:endParaRPr/>
          </a:p>
        </p:txBody>
      </p:sp>
      <p:sp>
        <p:nvSpPr>
          <p:cNvPr id="13" name="Shape 11"/>
          <p:cNvSpPr/>
          <p:nvPr/>
        </p:nvSpPr>
        <p:spPr>
          <a:xfrm>
            <a:off x="11338560" y="822960"/>
            <a:ext cx="0" cy="1188720"/>
          </a:xfrm>
          <a:prstGeom prst="line">
            <a:avLst/>
          </a:prstGeom>
          <a:noFill/>
          <a:ln w="12700">
            <a:solidFill>
              <a:srgbClr val="1E3A66"/>
            </a:solidFill>
            <a:prstDash val="solid"/>
          </a:ln>
        </p:spPr>
        <p:txBody>
          <a:bodyPr/>
          <a:lstStyle/>
          <a:p>
            <a:endParaRPr/>
          </a:p>
        </p:txBody>
      </p:sp>
      <p:sp>
        <p:nvSpPr>
          <p:cNvPr id="14" name="Shape 12"/>
          <p:cNvSpPr/>
          <p:nvPr/>
        </p:nvSpPr>
        <p:spPr>
          <a:xfrm>
            <a:off x="10241280" y="2286000"/>
            <a:ext cx="1280160" cy="91440"/>
          </a:xfrm>
          <a:prstGeom prst="line">
            <a:avLst/>
          </a:prstGeom>
          <a:noFill/>
          <a:ln w="12700">
            <a:solidFill>
              <a:srgbClr val="1E3A66"/>
            </a:solidFill>
            <a:prstDash val="solid"/>
          </a:ln>
        </p:spPr>
        <p:txBody>
          <a:bodyPr/>
          <a:lstStyle/>
          <a:p>
            <a:endParaRPr/>
          </a:p>
        </p:txBody>
      </p:sp>
      <p:sp>
        <p:nvSpPr>
          <p:cNvPr id="15" name="Shape 13"/>
          <p:cNvSpPr/>
          <p:nvPr/>
        </p:nvSpPr>
        <p:spPr>
          <a:xfrm>
            <a:off x="10241280" y="2286000"/>
            <a:ext cx="0" cy="0"/>
          </a:xfrm>
          <a:prstGeom prst="line">
            <a:avLst/>
          </a:prstGeom>
          <a:noFill/>
          <a:ln w="12700">
            <a:solidFill>
              <a:srgbClr val="1E3A66"/>
            </a:solidFill>
            <a:prstDash val="solid"/>
          </a:ln>
        </p:spPr>
        <p:txBody>
          <a:bodyPr/>
          <a:lstStyle/>
          <a:p>
            <a:endParaRPr/>
          </a:p>
        </p:txBody>
      </p:sp>
      <p:sp>
        <p:nvSpPr>
          <p:cNvPr id="16" name="Shape 14"/>
          <p:cNvSpPr/>
          <p:nvPr/>
        </p:nvSpPr>
        <p:spPr>
          <a:xfrm>
            <a:off x="11521440" y="2377440"/>
            <a:ext cx="0" cy="0"/>
          </a:xfrm>
          <a:prstGeom prst="line">
            <a:avLst/>
          </a:prstGeom>
          <a:noFill/>
          <a:ln w="12700">
            <a:solidFill>
              <a:srgbClr val="1E3A66"/>
            </a:solidFill>
            <a:prstDash val="solid"/>
          </a:ln>
        </p:spPr>
        <p:txBody>
          <a:bodyPr/>
          <a:lstStyle/>
          <a:p>
            <a:endParaRPr/>
          </a:p>
        </p:txBody>
      </p:sp>
      <p:sp>
        <p:nvSpPr>
          <p:cNvPr id="17" name="Shape 15"/>
          <p:cNvSpPr/>
          <p:nvPr/>
        </p:nvSpPr>
        <p:spPr>
          <a:xfrm>
            <a:off x="9637776" y="859536"/>
            <a:ext cx="109728" cy="109728"/>
          </a:xfrm>
          <a:prstGeom prst="ellipse">
            <a:avLst/>
          </a:prstGeom>
          <a:solidFill>
            <a:srgbClr val="00B4D8"/>
          </a:solidFill>
          <a:ln/>
        </p:spPr>
        <p:txBody>
          <a:bodyPr/>
          <a:lstStyle/>
          <a:p>
            <a:endParaRPr/>
          </a:p>
        </p:txBody>
      </p:sp>
      <p:sp>
        <p:nvSpPr>
          <p:cNvPr id="18" name="Shape 16"/>
          <p:cNvSpPr/>
          <p:nvPr/>
        </p:nvSpPr>
        <p:spPr>
          <a:xfrm>
            <a:off x="10552176" y="1408176"/>
            <a:ext cx="109728" cy="109728"/>
          </a:xfrm>
          <a:prstGeom prst="ellipse">
            <a:avLst/>
          </a:prstGeom>
          <a:solidFill>
            <a:srgbClr val="00B4D8"/>
          </a:solidFill>
          <a:ln/>
        </p:spPr>
        <p:txBody>
          <a:bodyPr/>
          <a:lstStyle/>
          <a:p>
            <a:endParaRPr/>
          </a:p>
        </p:txBody>
      </p:sp>
      <p:sp>
        <p:nvSpPr>
          <p:cNvPr id="19" name="Shape 17"/>
          <p:cNvSpPr/>
          <p:nvPr/>
        </p:nvSpPr>
        <p:spPr>
          <a:xfrm>
            <a:off x="11283696" y="768096"/>
            <a:ext cx="109728" cy="109728"/>
          </a:xfrm>
          <a:prstGeom prst="ellipse">
            <a:avLst/>
          </a:prstGeom>
          <a:solidFill>
            <a:srgbClr val="00B4D8"/>
          </a:solidFill>
          <a:ln/>
        </p:spPr>
        <p:txBody>
          <a:bodyPr/>
          <a:lstStyle/>
          <a:p>
            <a:endParaRPr/>
          </a:p>
        </p:txBody>
      </p:sp>
      <p:sp>
        <p:nvSpPr>
          <p:cNvPr id="20" name="Shape 18"/>
          <p:cNvSpPr/>
          <p:nvPr/>
        </p:nvSpPr>
        <p:spPr>
          <a:xfrm>
            <a:off x="10186416" y="2231136"/>
            <a:ext cx="109728" cy="109728"/>
          </a:xfrm>
          <a:prstGeom prst="ellipse">
            <a:avLst/>
          </a:prstGeom>
          <a:solidFill>
            <a:srgbClr val="00B4D8"/>
          </a:solidFill>
          <a:ln/>
        </p:spPr>
        <p:txBody>
          <a:bodyPr/>
          <a:lstStyle/>
          <a:p>
            <a:endParaRPr/>
          </a:p>
        </p:txBody>
      </p:sp>
      <p:sp>
        <p:nvSpPr>
          <p:cNvPr id="21" name="Shape 19"/>
          <p:cNvSpPr/>
          <p:nvPr/>
        </p:nvSpPr>
        <p:spPr>
          <a:xfrm>
            <a:off x="11466576" y="2322576"/>
            <a:ext cx="109728" cy="109728"/>
          </a:xfrm>
          <a:prstGeom prst="ellipse">
            <a:avLst/>
          </a:prstGeom>
          <a:solidFill>
            <a:srgbClr val="00B4D8"/>
          </a:solidFill>
          <a:ln/>
        </p:spPr>
        <p:txBody>
          <a:bodyPr/>
          <a:lstStyle/>
          <a:p>
            <a:endParaRPr/>
          </a:p>
        </p:txBody>
      </p:sp>
      <p:sp>
        <p:nvSpPr>
          <p:cNvPr id="22" name="Shape 20"/>
          <p:cNvSpPr/>
          <p:nvPr/>
        </p:nvSpPr>
        <p:spPr>
          <a:xfrm>
            <a:off x="9272016" y="1956816"/>
            <a:ext cx="109728" cy="109728"/>
          </a:xfrm>
          <a:prstGeom prst="ellipse">
            <a:avLst/>
          </a:prstGeom>
          <a:solidFill>
            <a:srgbClr val="00B4D8"/>
          </a:solidFill>
          <a:ln/>
        </p:spPr>
        <p:txBody>
          <a:bodyPr/>
          <a:lstStyle/>
          <a:p>
            <a:endParaRPr/>
          </a:p>
        </p:txBody>
      </p:sp>
      <p:sp>
        <p:nvSpPr>
          <p:cNvPr id="23" name="Text 21"/>
          <p:cNvSpPr/>
          <p:nvPr/>
        </p:nvSpPr>
        <p:spPr>
          <a:xfrm>
            <a:off x="822960" y="2148840"/>
            <a:ext cx="5486400" cy="365760"/>
          </a:xfrm>
          <a:prstGeom prst="rect">
            <a:avLst/>
          </a:prstGeom>
          <a:noFill/>
          <a:ln/>
        </p:spPr>
        <p:txBody>
          <a:bodyPr wrap="square" lIns="0" tIns="0" rIns="0" bIns="0" rtlCol="0" anchor="ctr"/>
          <a:lstStyle/>
          <a:p>
            <a:pPr marL="0" indent="0">
              <a:buNone/>
            </a:pPr>
            <a:r>
              <a:rPr lang="en-US" sz="1600" b="1" kern="0" spc="300" dirty="0">
                <a:solidFill>
                  <a:srgbClr val="00B4D8"/>
                </a:solidFill>
                <a:latin typeface="Calibri" pitchFamily="34" charset="0"/>
                <a:ea typeface="Calibri" pitchFamily="34" charset="-122"/>
                <a:cs typeface="Calibri" pitchFamily="34" charset="-120"/>
              </a:rPr>
              <a:t>TOPIC 8</a:t>
            </a:r>
            <a:endParaRPr lang="en-US" sz="1600" dirty="0"/>
          </a:p>
        </p:txBody>
      </p:sp>
      <p:sp>
        <p:nvSpPr>
          <p:cNvPr id="24" name="Text 22"/>
          <p:cNvSpPr/>
          <p:nvPr/>
        </p:nvSpPr>
        <p:spPr>
          <a:xfrm>
            <a:off x="777240" y="2514600"/>
            <a:ext cx="9601200" cy="1463040"/>
          </a:xfrm>
          <a:prstGeom prst="rect">
            <a:avLst/>
          </a:prstGeom>
          <a:noFill/>
          <a:ln/>
        </p:spPr>
        <p:txBody>
          <a:bodyPr wrap="square" lIns="0" tIns="0" rIns="0" bIns="0" rtlCol="0" anchor="t"/>
          <a:lstStyle/>
          <a:p>
            <a:pPr marL="0" indent="0">
              <a:buNone/>
            </a:pPr>
            <a:r>
              <a:rPr lang="en-US" sz="4000" b="1" dirty="0">
                <a:solidFill>
                  <a:srgbClr val="FFFFFF"/>
                </a:solidFill>
                <a:latin typeface="Bookman Old Style" pitchFamily="34" charset="0"/>
                <a:ea typeface="Bookman Old Style" pitchFamily="34" charset="-122"/>
                <a:cs typeface="Bookman Old Style" pitchFamily="34" charset="-120"/>
              </a:rPr>
              <a:t>Internet Architecture</a:t>
            </a:r>
            <a:endParaRPr lang="en-US" sz="4000" dirty="0"/>
          </a:p>
        </p:txBody>
      </p:sp>
      <p:sp>
        <p:nvSpPr>
          <p:cNvPr id="25" name="Text 23"/>
          <p:cNvSpPr/>
          <p:nvPr/>
        </p:nvSpPr>
        <p:spPr>
          <a:xfrm>
            <a:off x="822960" y="3794760"/>
            <a:ext cx="8686800" cy="822960"/>
          </a:xfrm>
          <a:prstGeom prst="rect">
            <a:avLst/>
          </a:prstGeom>
          <a:noFill/>
          <a:ln/>
        </p:spPr>
        <p:txBody>
          <a:bodyPr wrap="square" lIns="0" tIns="0" rIns="0" bIns="0" rtlCol="0" anchor="t"/>
          <a:lstStyle/>
          <a:p>
            <a:pPr marL="0" indent="0">
              <a:buNone/>
            </a:pPr>
            <a:r>
              <a:rPr lang="en-US" sz="1600" dirty="0">
                <a:solidFill>
                  <a:srgbClr val="C9D8EC"/>
                </a:solidFill>
                <a:latin typeface="Calibri" pitchFamily="34" charset="0"/>
                <a:ea typeface="Calibri" pitchFamily="34" charset="-122"/>
                <a:cs typeface="Calibri" pitchFamily="34" charset="-120"/>
              </a:rPr>
              <a:t>The hourglass philosophy that let the Internet scale and evolve.</a:t>
            </a:r>
            <a:endParaRPr lang="en-US" sz="1600" dirty="0"/>
          </a:p>
        </p:txBody>
      </p:sp>
      <p:sp>
        <p:nvSpPr>
          <p:cNvPr id="31" name="Text 27"/>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9FB3CC"/>
                </a:solidFill>
                <a:latin typeface="Calibri" pitchFamily="34" charset="0"/>
                <a:ea typeface="Calibri" pitchFamily="34" charset="-122"/>
                <a:cs typeface="Calibri" pitchFamily="34" charset="-120"/>
              </a:rPr>
              <a:t>TOPIC 8</a:t>
            </a:r>
            <a:endParaRPr lang="en-US" sz="1000" dirty="0"/>
          </a:p>
        </p:txBody>
      </p:sp>
      <p:sp>
        <p:nvSpPr>
          <p:cNvPr id="32" name="TextBox 31"/>
          <p:cNvSpPr txBox="1"/>
          <p:nvPr/>
        </p:nvSpPr>
        <p:spPr>
          <a:xfrm>
            <a:off x="11792000" y="6638000"/>
            <a:ext cx="200000" cy="100000"/>
          </a:xfrm>
          <a:prstGeom prst="rect">
            <a:avLst/>
          </a:prstGeom>
          <a:noFill/>
        </p:spPr>
        <p:txBody>
          <a:bodyPr wrap="none">
            <a:spAutoFit/>
          </a:bodyPr>
          <a:lstStyle/>
          <a:p>
            <a:pPr>
              <a:defRPr sz="1000"/>
            </a:pPr>
            <a:r>
              <a:t>53</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0091AD"/>
                </a:solidFill>
                <a:latin typeface="Calibri" pitchFamily="34" charset="0"/>
                <a:ea typeface="Calibri" pitchFamily="34" charset="-122"/>
                <a:cs typeface="Calibri" pitchFamily="34" charset="-120"/>
              </a:rPr>
              <a:t>TOPIC 8 · INTERNET ARCHITECTURE</a:t>
            </a:r>
            <a:endParaRPr lang="en-US" sz="1200" dirty="0"/>
          </a:p>
        </p:txBody>
      </p:sp>
      <p:sp>
        <p:nvSpPr>
          <p:cNvPr id="3" name="Text 1"/>
          <p:cNvSpPr/>
          <p:nvPr/>
        </p:nvSpPr>
        <p:spPr>
          <a:xfrm>
            <a:off x="548640" y="566928"/>
            <a:ext cx="10424160" cy="822960"/>
          </a:xfrm>
          <a:prstGeom prst="rect">
            <a:avLst/>
          </a:prstGeom>
          <a:noFill/>
          <a:ln/>
        </p:spPr>
        <p:txBody>
          <a:bodyPr wrap="square" lIns="0" tIns="0" rIns="0" bIns="0" rtlCol="0" anchor="t"/>
          <a:lstStyle/>
          <a:p>
            <a:pPr marL="0" indent="0">
              <a:buNone/>
            </a:pPr>
            <a:r>
              <a:rPr lang="en-US" sz="3000" b="1" dirty="0">
                <a:solidFill>
                  <a:srgbClr val="13315C"/>
                </a:solidFill>
                <a:latin typeface="Bookman Old Style" pitchFamily="34" charset="0"/>
                <a:ea typeface="Bookman Old Style" pitchFamily="34" charset="-122"/>
                <a:cs typeface="Bookman Old Style" pitchFamily="34" charset="-120"/>
              </a:rPr>
              <a:t>Origins: From ARPANET to the Internet</a:t>
            </a:r>
            <a:endParaRPr lang="en-US" sz="3000" dirty="0"/>
          </a:p>
        </p:txBody>
      </p:sp>
      <p:sp>
        <p:nvSpPr>
          <p:cNvPr id="6" name="Text 3"/>
          <p:cNvSpPr/>
          <p:nvPr/>
        </p:nvSpPr>
        <p:spPr>
          <a:xfrm>
            <a:off x="548640" y="1418098"/>
            <a:ext cx="11064240" cy="4389120"/>
          </a:xfrm>
          <a:prstGeom prst="rect">
            <a:avLst/>
          </a:prstGeom>
          <a:noFill/>
          <a:ln/>
        </p:spPr>
        <p:txBody>
          <a:bodyPr wrap="square" lIns="0" tIns="0" rIns="0" bIns="0" rtlCol="0" anchor="t"/>
          <a:lstStyle/>
          <a:p>
            <a:pPr marL="342900" indent="-342900">
              <a:lnSpc>
                <a:spcPct val="108000"/>
              </a:lnSpc>
              <a:spcAft>
                <a:spcPts val="1200"/>
              </a:spcAft>
              <a:buSzPct val="100000"/>
              <a:buChar char="●"/>
            </a:pPr>
            <a:r>
              <a:rPr lang="en-US" sz="2800" dirty="0">
                <a:solidFill>
                  <a:srgbClr val="13315C"/>
                </a:solidFill>
                <a:latin typeface="Calibri" pitchFamily="34" charset="0"/>
                <a:ea typeface="Calibri" pitchFamily="34" charset="-122"/>
                <a:cs typeface="Calibri" pitchFamily="34" charset="-120"/>
              </a:rPr>
              <a:t>The Internet architecture evolved from experience with the ARPANET, an earlier packet-switched network.</a:t>
            </a:r>
            <a:endParaRPr lang="en-US" sz="2800" dirty="0"/>
          </a:p>
          <a:p>
            <a:pPr marL="342900" indent="-342900">
              <a:lnSpc>
                <a:spcPct val="108000"/>
              </a:lnSpc>
              <a:spcAft>
                <a:spcPts val="1200"/>
              </a:spcAft>
              <a:buSzPct val="100000"/>
              <a:buChar char="●"/>
            </a:pPr>
            <a:r>
              <a:rPr lang="en-US" sz="2800" dirty="0">
                <a:solidFill>
                  <a:srgbClr val="13315C"/>
                </a:solidFill>
                <a:latin typeface="Calibri" pitchFamily="34" charset="0"/>
                <a:ea typeface="Calibri" pitchFamily="34" charset="-122"/>
                <a:cs typeface="Calibri" pitchFamily="34" charset="-120"/>
              </a:rPr>
              <a:t>Both the ARPANET and the Internet were funded by ARPA (Advanced Research Projects Agency), part of the U.S. Department of Defense.</a:t>
            </a:r>
            <a:endParaRPr lang="en-US" sz="2800" dirty="0"/>
          </a:p>
          <a:p>
            <a:pPr marL="342900" indent="-342900">
              <a:lnSpc>
                <a:spcPct val="108000"/>
              </a:lnSpc>
              <a:spcAft>
                <a:spcPts val="1200"/>
              </a:spcAft>
              <a:buSzPct val="100000"/>
              <a:buChar char="●"/>
            </a:pPr>
            <a:r>
              <a:rPr lang="en-US" sz="2800" dirty="0">
                <a:solidFill>
                  <a:srgbClr val="13315C"/>
                </a:solidFill>
                <a:latin typeface="Calibri" pitchFamily="34" charset="0"/>
                <a:ea typeface="Calibri" pitchFamily="34" charset="-122"/>
                <a:cs typeface="Calibri" pitchFamily="34" charset="-120"/>
              </a:rPr>
              <a:t>The Internet and ARPANET existed before the OSI architecture — lessons learned building them heavily influenced the OSI reference model, not the other way around.</a:t>
            </a:r>
            <a:endParaRPr lang="en-US" sz="2800" dirty="0"/>
          </a:p>
          <a:p>
            <a:pPr marL="342900" indent="-342900">
              <a:lnSpc>
                <a:spcPct val="108000"/>
              </a:lnSpc>
              <a:spcAft>
                <a:spcPts val="1200"/>
              </a:spcAft>
              <a:buSzPct val="100000"/>
              <a:buChar char="●"/>
            </a:pPr>
            <a:r>
              <a:rPr lang="en-US" sz="2800" dirty="0">
                <a:solidFill>
                  <a:srgbClr val="13315C"/>
                </a:solidFill>
                <a:latin typeface="Calibri" pitchFamily="34" charset="0"/>
                <a:ea typeface="Calibri" pitchFamily="34" charset="-122"/>
                <a:cs typeface="Calibri" pitchFamily="34" charset="-120"/>
              </a:rPr>
              <a:t>The Internet architecture is also called the TCP/IP architecture, named after its two most central protocols.</a:t>
            </a:r>
            <a:endParaRPr lang="en-US" sz="2800" dirty="0"/>
          </a:p>
        </p:txBody>
      </p:sp>
      <p:sp>
        <p:nvSpPr>
          <p:cNvPr id="7" name="Text 4"/>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TOPIC 8 · INTERNET ARCHITECTURE</a:t>
            </a:r>
            <a:endParaRPr lang="en-US" sz="1000" dirty="0"/>
          </a:p>
        </p:txBody>
      </p:sp>
      <p:sp>
        <p:nvSpPr>
          <p:cNvPr id="8" name="TextBox 7"/>
          <p:cNvSpPr txBox="1"/>
          <p:nvPr/>
        </p:nvSpPr>
        <p:spPr>
          <a:xfrm>
            <a:off x="11792000" y="6638000"/>
            <a:ext cx="200000" cy="100000"/>
          </a:xfrm>
          <a:prstGeom prst="rect">
            <a:avLst/>
          </a:prstGeom>
          <a:noFill/>
        </p:spPr>
        <p:txBody>
          <a:bodyPr wrap="none">
            <a:spAutoFit/>
          </a:bodyPr>
          <a:lstStyle/>
          <a:p>
            <a:pPr>
              <a:defRPr sz="1000"/>
            </a:pPr>
            <a:r>
              <a:t>54</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48640" y="-48768"/>
            <a:ext cx="9144000" cy="274320"/>
          </a:xfrm>
          <a:prstGeom prst="rect">
            <a:avLst/>
          </a:prstGeom>
          <a:noFill/>
          <a:ln/>
        </p:spPr>
        <p:txBody>
          <a:bodyPr wrap="square" lIns="0" tIns="0" rIns="0" bIns="0" rtlCol="0" anchor="ctr"/>
          <a:lstStyle/>
          <a:p>
            <a:pPr marL="0" indent="0">
              <a:buNone/>
            </a:pPr>
            <a:r>
              <a:rPr lang="en-US" sz="1200" b="1" kern="0" spc="200" dirty="0">
                <a:solidFill>
                  <a:srgbClr val="0091AD"/>
                </a:solidFill>
                <a:latin typeface="Calibri" pitchFamily="34" charset="0"/>
                <a:ea typeface="Calibri" pitchFamily="34" charset="-122"/>
                <a:cs typeface="Calibri" pitchFamily="34" charset="-120"/>
              </a:rPr>
              <a:t>TOPIC 8 · INTERNET ARCHITECTURE</a:t>
            </a:r>
            <a:endParaRPr lang="en-US" sz="1200" dirty="0"/>
          </a:p>
        </p:txBody>
      </p:sp>
      <p:sp>
        <p:nvSpPr>
          <p:cNvPr id="3" name="Text 1"/>
          <p:cNvSpPr/>
          <p:nvPr/>
        </p:nvSpPr>
        <p:spPr>
          <a:xfrm>
            <a:off x="548640" y="323088"/>
            <a:ext cx="10424160" cy="822960"/>
          </a:xfrm>
          <a:prstGeom prst="rect">
            <a:avLst/>
          </a:prstGeom>
          <a:noFill/>
          <a:ln/>
        </p:spPr>
        <p:txBody>
          <a:bodyPr wrap="square" lIns="0" tIns="0" rIns="0" bIns="0" rtlCol="0" anchor="t"/>
          <a:lstStyle/>
          <a:p>
            <a:pPr marL="0" indent="0">
              <a:buNone/>
            </a:pPr>
            <a:r>
              <a:rPr lang="en-US" sz="3000" b="1" dirty="0">
                <a:solidFill>
                  <a:srgbClr val="13315C"/>
                </a:solidFill>
                <a:latin typeface="Bookman Old Style" pitchFamily="34" charset="0"/>
                <a:ea typeface="Bookman Old Style" pitchFamily="34" charset="-122"/>
                <a:cs typeface="Bookman Old Style" pitchFamily="34" charset="-120"/>
              </a:rPr>
              <a:t>The Hourglass Model</a:t>
            </a:r>
            <a:endParaRPr lang="en-US" sz="3000" dirty="0"/>
          </a:p>
        </p:txBody>
      </p:sp>
      <p:pic>
        <p:nvPicPr>
          <p:cNvPr id="5" name="Image 0" descr="preencoded.png"/>
          <p:cNvPicPr>
            <a:picLocks noChangeAspect="1"/>
          </p:cNvPicPr>
          <p:nvPr/>
        </p:nvPicPr>
        <p:blipFill>
          <a:blip r:embed="rId3"/>
          <a:stretch>
            <a:fillRect/>
          </a:stretch>
        </p:blipFill>
        <p:spPr>
          <a:xfrm>
            <a:off x="11028121" y="466801"/>
            <a:ext cx="575158" cy="575158"/>
          </a:xfrm>
          <a:prstGeom prst="rect">
            <a:avLst/>
          </a:prstGeom>
        </p:spPr>
        <p:style>
          <a:lnRef idx="2">
            <a:schemeClr val="accent1"/>
          </a:lnRef>
          <a:fillRef idx="1">
            <a:schemeClr val="lt1"/>
          </a:fillRef>
          <a:effectRef idx="0">
            <a:schemeClr val="accent1"/>
          </a:effectRef>
          <a:fontRef idx="minor">
            <a:schemeClr val="dk1"/>
          </a:fontRef>
        </p:style>
      </p:pic>
      <p:sp>
        <p:nvSpPr>
          <p:cNvPr id="6" name="Text 3"/>
          <p:cNvSpPr/>
          <p:nvPr/>
        </p:nvSpPr>
        <p:spPr>
          <a:xfrm>
            <a:off x="158496" y="1002792"/>
            <a:ext cx="6156960" cy="4480560"/>
          </a:xfrm>
          <a:prstGeom prst="rect">
            <a:avLst/>
          </a:prstGeom>
          <a:noFill/>
          <a:ln/>
        </p:spPr>
        <p:txBody>
          <a:bodyPr wrap="square" lIns="0" tIns="0" rIns="0" bIns="0" rtlCol="0" anchor="t"/>
          <a:lstStyle/>
          <a:p>
            <a:pPr marL="342900" indent="-342900">
              <a:lnSpc>
                <a:spcPct val="108000"/>
              </a:lnSpc>
              <a:spcAft>
                <a:spcPts val="1200"/>
              </a:spcAft>
              <a:buSzPct val="100000"/>
              <a:buChar char="●"/>
            </a:pPr>
            <a:r>
              <a:rPr lang="en-US" sz="2000" dirty="0">
                <a:solidFill>
                  <a:srgbClr val="13315C"/>
                </a:solidFill>
                <a:latin typeface="Calibri" pitchFamily="34" charset="0"/>
                <a:ea typeface="Calibri" pitchFamily="34" charset="-122"/>
                <a:cs typeface="Calibri" pitchFamily="34" charset="-120"/>
              </a:rPr>
              <a:t>The Internet protocol graph has an hourglass shape: wide at the top, narrow in the middle, wide at the bottom.</a:t>
            </a:r>
            <a:endParaRPr lang="en-US" sz="2000" dirty="0"/>
          </a:p>
          <a:p>
            <a:pPr marL="342900" indent="-342900">
              <a:lnSpc>
                <a:spcPct val="108000"/>
              </a:lnSpc>
              <a:spcAft>
                <a:spcPts val="1200"/>
              </a:spcAft>
              <a:buSzPct val="100000"/>
              <a:buChar char="●"/>
            </a:pPr>
            <a:r>
              <a:rPr lang="en-US" sz="2000" dirty="0">
                <a:solidFill>
                  <a:srgbClr val="13315C"/>
                </a:solidFill>
                <a:latin typeface="Calibri" pitchFamily="34" charset="0"/>
                <a:ea typeface="Calibri" pitchFamily="34" charset="-122"/>
                <a:cs typeface="Calibri" pitchFamily="34" charset="-120"/>
              </a:rPr>
              <a:t>IP sits at the narrow waist — a single, common method for exchanging packets across many different networks.</a:t>
            </a:r>
            <a:endParaRPr lang="en-US" sz="2000" dirty="0"/>
          </a:p>
          <a:p>
            <a:pPr marL="342900" indent="-342900">
              <a:lnSpc>
                <a:spcPct val="108000"/>
              </a:lnSpc>
              <a:spcAft>
                <a:spcPts val="1200"/>
              </a:spcAft>
              <a:buSzPct val="100000"/>
              <a:buChar char="●"/>
            </a:pPr>
            <a:r>
              <a:rPr lang="en-US" sz="2000" dirty="0">
                <a:solidFill>
                  <a:srgbClr val="13315C"/>
                </a:solidFill>
                <a:latin typeface="Calibri" pitchFamily="34" charset="0"/>
                <a:ea typeface="Calibri" pitchFamily="34" charset="-122"/>
                <a:cs typeface="Calibri" pitchFamily="34" charset="-120"/>
              </a:rPr>
              <a:t>Above IP: arbitrarily many transport protocols (TCP, UDP, ...), each offering a different channel abstraction to applications.</a:t>
            </a:r>
            <a:endParaRPr lang="en-US" sz="2000" dirty="0"/>
          </a:p>
          <a:p>
            <a:pPr marL="342900" indent="-342900">
              <a:lnSpc>
                <a:spcPct val="108000"/>
              </a:lnSpc>
              <a:spcAft>
                <a:spcPts val="1200"/>
              </a:spcAft>
              <a:buSzPct val="100000"/>
              <a:buChar char="●"/>
            </a:pPr>
            <a:r>
              <a:rPr lang="en-US" sz="2000" dirty="0">
                <a:solidFill>
                  <a:srgbClr val="13315C"/>
                </a:solidFill>
                <a:latin typeface="Calibri" pitchFamily="34" charset="0"/>
                <a:ea typeface="Calibri" pitchFamily="34" charset="-122"/>
                <a:cs typeface="Calibri" pitchFamily="34" charset="-120"/>
              </a:rPr>
              <a:t>Below IP: arbitrarily many network technologies (Ethernet, Wi-Fi, fiber, ...) can be used interchangeably.</a:t>
            </a:r>
            <a:endParaRPr lang="en-US" sz="2000" dirty="0"/>
          </a:p>
          <a:p>
            <a:pPr marL="342900" indent="-342900">
              <a:lnSpc>
                <a:spcPct val="108000"/>
              </a:lnSpc>
              <a:spcAft>
                <a:spcPts val="1200"/>
              </a:spcAft>
              <a:buSzPct val="100000"/>
              <a:buChar char="●"/>
            </a:pPr>
            <a:r>
              <a:rPr lang="en-US" sz="2000" b="1" dirty="0">
                <a:solidFill>
                  <a:srgbClr val="13315C"/>
                </a:solidFill>
                <a:latin typeface="Calibri" pitchFamily="34" charset="0"/>
                <a:ea typeface="Calibri" pitchFamily="34" charset="-122"/>
                <a:cs typeface="Calibri" pitchFamily="34" charset="-120"/>
              </a:rPr>
              <a:t>This separates 'delivering messages host-to-host' from 'providing a useful process-to-process service' — the central philosophy of the architecture.</a:t>
            </a:r>
            <a:endParaRPr lang="en-US" sz="2000" dirty="0"/>
          </a:p>
        </p:txBody>
      </p:sp>
      <p:sp>
        <p:nvSpPr>
          <p:cNvPr id="7" name="Shape 4"/>
          <p:cNvSpPr/>
          <p:nvPr/>
        </p:nvSpPr>
        <p:spPr>
          <a:xfrm>
            <a:off x="7040880" y="1737360"/>
            <a:ext cx="4206240" cy="777240"/>
          </a:xfrm>
          <a:prstGeom prst="rect">
            <a:avLst/>
          </a:prstGeom>
          <a:solidFill>
            <a:srgbClr val="0B2545"/>
          </a:solidFill>
          <a:ln/>
        </p:spPr>
        <p:txBody>
          <a:bodyPr/>
          <a:lstStyle/>
          <a:p>
            <a:endParaRPr/>
          </a:p>
        </p:txBody>
      </p:sp>
      <p:sp>
        <p:nvSpPr>
          <p:cNvPr id="8" name="Text 5"/>
          <p:cNvSpPr/>
          <p:nvPr/>
        </p:nvSpPr>
        <p:spPr>
          <a:xfrm>
            <a:off x="7040880" y="1737360"/>
            <a:ext cx="4206240" cy="77724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HTTP  FTP  SMTP  DNS ...</a:t>
            </a:r>
            <a:endParaRPr lang="en-US" sz="1150" dirty="0"/>
          </a:p>
        </p:txBody>
      </p:sp>
      <p:sp>
        <p:nvSpPr>
          <p:cNvPr id="9" name="Shape 6"/>
          <p:cNvSpPr/>
          <p:nvPr/>
        </p:nvSpPr>
        <p:spPr>
          <a:xfrm>
            <a:off x="7498080" y="2624328"/>
            <a:ext cx="3291840" cy="640080"/>
          </a:xfrm>
          <a:prstGeom prst="rect">
            <a:avLst/>
          </a:prstGeom>
          <a:solidFill>
            <a:srgbClr val="0091AD"/>
          </a:solidFill>
          <a:ln/>
        </p:spPr>
        <p:txBody>
          <a:bodyPr/>
          <a:lstStyle/>
          <a:p>
            <a:endParaRPr/>
          </a:p>
        </p:txBody>
      </p:sp>
      <p:sp>
        <p:nvSpPr>
          <p:cNvPr id="10" name="Text 7"/>
          <p:cNvSpPr/>
          <p:nvPr/>
        </p:nvSpPr>
        <p:spPr>
          <a:xfrm>
            <a:off x="7498080" y="2624328"/>
            <a:ext cx="3291840" cy="64008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TCP    UDP</a:t>
            </a:r>
            <a:endParaRPr lang="en-US" sz="1150" dirty="0"/>
          </a:p>
        </p:txBody>
      </p:sp>
      <p:sp>
        <p:nvSpPr>
          <p:cNvPr id="11" name="Shape 8"/>
          <p:cNvSpPr/>
          <p:nvPr/>
        </p:nvSpPr>
        <p:spPr>
          <a:xfrm>
            <a:off x="8549640" y="3374136"/>
            <a:ext cx="1188720" cy="594360"/>
          </a:xfrm>
          <a:prstGeom prst="rect">
            <a:avLst/>
          </a:prstGeom>
          <a:solidFill>
            <a:srgbClr val="E07A2C"/>
          </a:solidFill>
          <a:ln/>
        </p:spPr>
        <p:txBody>
          <a:bodyPr/>
          <a:lstStyle/>
          <a:p>
            <a:endParaRPr/>
          </a:p>
        </p:txBody>
      </p:sp>
      <p:sp>
        <p:nvSpPr>
          <p:cNvPr id="12" name="Text 9"/>
          <p:cNvSpPr/>
          <p:nvPr/>
        </p:nvSpPr>
        <p:spPr>
          <a:xfrm>
            <a:off x="8549640" y="3374136"/>
            <a:ext cx="1188720" cy="5943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IP</a:t>
            </a:r>
            <a:endParaRPr lang="en-US" sz="1400" dirty="0"/>
          </a:p>
        </p:txBody>
      </p:sp>
      <p:sp>
        <p:nvSpPr>
          <p:cNvPr id="13" name="Shape 10"/>
          <p:cNvSpPr/>
          <p:nvPr/>
        </p:nvSpPr>
        <p:spPr>
          <a:xfrm>
            <a:off x="7498080" y="4078224"/>
            <a:ext cx="3291840" cy="640080"/>
          </a:xfrm>
          <a:prstGeom prst="rect">
            <a:avLst/>
          </a:prstGeom>
          <a:solidFill>
            <a:srgbClr val="00B4D8"/>
          </a:solidFill>
          <a:ln/>
        </p:spPr>
        <p:txBody>
          <a:bodyPr/>
          <a:lstStyle/>
          <a:p>
            <a:endParaRPr/>
          </a:p>
        </p:txBody>
      </p:sp>
      <p:sp>
        <p:nvSpPr>
          <p:cNvPr id="14" name="Text 11"/>
          <p:cNvSpPr/>
          <p:nvPr/>
        </p:nvSpPr>
        <p:spPr>
          <a:xfrm>
            <a:off x="7498080" y="4078224"/>
            <a:ext cx="3291840" cy="6400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Data Link / Network Interface</a:t>
            </a:r>
            <a:endParaRPr lang="en-US" sz="1100" dirty="0"/>
          </a:p>
        </p:txBody>
      </p:sp>
      <p:sp>
        <p:nvSpPr>
          <p:cNvPr id="15" name="Shape 12"/>
          <p:cNvSpPr/>
          <p:nvPr/>
        </p:nvSpPr>
        <p:spPr>
          <a:xfrm>
            <a:off x="7040880" y="4828032"/>
            <a:ext cx="4206240" cy="777240"/>
          </a:xfrm>
          <a:prstGeom prst="rect">
            <a:avLst/>
          </a:prstGeom>
          <a:solidFill>
            <a:srgbClr val="8FA8C9"/>
          </a:solidFill>
          <a:ln/>
        </p:spPr>
        <p:txBody>
          <a:bodyPr/>
          <a:lstStyle/>
          <a:p>
            <a:endParaRPr/>
          </a:p>
        </p:txBody>
      </p:sp>
      <p:sp>
        <p:nvSpPr>
          <p:cNvPr id="16" name="Text 13"/>
          <p:cNvSpPr/>
          <p:nvPr/>
        </p:nvSpPr>
        <p:spPr>
          <a:xfrm>
            <a:off x="7040880" y="4828032"/>
            <a:ext cx="4206240" cy="77724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Ethernet   Wi-Fi   Fiber   ...</a:t>
            </a:r>
            <a:endParaRPr lang="en-US" sz="1150" dirty="0"/>
          </a:p>
        </p:txBody>
      </p:sp>
      <p:sp>
        <p:nvSpPr>
          <p:cNvPr id="17" name="Text 14"/>
          <p:cNvSpPr/>
          <p:nvPr/>
        </p:nvSpPr>
        <p:spPr>
          <a:xfrm>
            <a:off x="7040880" y="5696712"/>
            <a:ext cx="4206240" cy="365760"/>
          </a:xfrm>
          <a:prstGeom prst="rect">
            <a:avLst/>
          </a:prstGeom>
          <a:noFill/>
          <a:ln/>
        </p:spPr>
        <p:txBody>
          <a:bodyPr wrap="square" lIns="0" tIns="0" rIns="0" bIns="0" rtlCol="0" anchor="ctr"/>
          <a:lstStyle/>
          <a:p>
            <a:pPr marL="0" indent="0" algn="ctr">
              <a:buNone/>
            </a:pPr>
            <a:r>
              <a:rPr lang="en-US" sz="1050" i="1" dirty="0">
                <a:solidFill>
                  <a:srgbClr val="5B6B82"/>
                </a:solidFill>
                <a:latin typeface="Calibri" pitchFamily="34" charset="0"/>
                <a:ea typeface="Calibri" pitchFamily="34" charset="-122"/>
                <a:cs typeface="Calibri" pitchFamily="34" charset="-120"/>
              </a:rPr>
              <a:t>Narrow waist = one common protocol (IP) everything above and below can rely on.</a:t>
            </a:r>
            <a:endParaRPr lang="en-US" sz="1050" dirty="0"/>
          </a:p>
        </p:txBody>
      </p:sp>
      <p:sp>
        <p:nvSpPr>
          <p:cNvPr id="18" name="Text 15"/>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TOPIC 8 · INTERNET ARCHITECTURE</a:t>
            </a:r>
            <a:endParaRPr lang="en-US" sz="1000" dirty="0"/>
          </a:p>
        </p:txBody>
      </p:sp>
      <p:sp>
        <p:nvSpPr>
          <p:cNvPr id="19" name="TextBox 18"/>
          <p:cNvSpPr txBox="1"/>
          <p:nvPr/>
        </p:nvSpPr>
        <p:spPr>
          <a:xfrm>
            <a:off x="11792000" y="6638000"/>
            <a:ext cx="200000" cy="100000"/>
          </a:xfrm>
          <a:prstGeom prst="rect">
            <a:avLst/>
          </a:prstGeom>
          <a:noFill/>
        </p:spPr>
        <p:txBody>
          <a:bodyPr wrap="none">
            <a:spAutoFit/>
          </a:bodyPr>
          <a:lstStyle/>
          <a:p>
            <a:pPr>
              <a:defRPr sz="1000"/>
            </a:pPr>
            <a:r>
              <a:t>55</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0091AD"/>
                </a:solidFill>
                <a:latin typeface="Calibri" pitchFamily="34" charset="0"/>
                <a:ea typeface="Calibri" pitchFamily="34" charset="-122"/>
                <a:cs typeface="Calibri" pitchFamily="34" charset="-120"/>
              </a:rPr>
              <a:t>TOPIC 8 · INTERNET ARCHITECTURE</a:t>
            </a:r>
            <a:endParaRPr lang="en-US" sz="1200" dirty="0"/>
          </a:p>
        </p:txBody>
      </p:sp>
      <p:sp>
        <p:nvSpPr>
          <p:cNvPr id="3" name="Text 1"/>
          <p:cNvSpPr/>
          <p:nvPr/>
        </p:nvSpPr>
        <p:spPr>
          <a:xfrm>
            <a:off x="548640" y="566928"/>
            <a:ext cx="10424160" cy="822960"/>
          </a:xfrm>
          <a:prstGeom prst="rect">
            <a:avLst/>
          </a:prstGeom>
          <a:noFill/>
          <a:ln/>
        </p:spPr>
        <p:txBody>
          <a:bodyPr wrap="square" lIns="0" tIns="0" rIns="0" bIns="0" rtlCol="0" anchor="t"/>
          <a:lstStyle/>
          <a:p>
            <a:pPr marL="0" indent="0">
              <a:buNone/>
            </a:pPr>
            <a:r>
              <a:rPr lang="en-US" sz="3000" b="1" dirty="0">
                <a:solidFill>
                  <a:srgbClr val="13315C"/>
                </a:solidFill>
                <a:latin typeface="Bookman Old Style" pitchFamily="34" charset="0"/>
                <a:ea typeface="Bookman Old Style" pitchFamily="34" charset="-122"/>
                <a:cs typeface="Bookman Old Style" pitchFamily="34" charset="-120"/>
              </a:rPr>
              <a:t>Three Key Features of Internet Architecture</a:t>
            </a:r>
            <a:endParaRPr lang="en-US" sz="3000" dirty="0"/>
          </a:p>
        </p:txBody>
      </p:sp>
      <p:sp>
        <p:nvSpPr>
          <p:cNvPr id="6" name="Text 3"/>
          <p:cNvSpPr/>
          <p:nvPr/>
        </p:nvSpPr>
        <p:spPr>
          <a:xfrm>
            <a:off x="563880" y="1389888"/>
            <a:ext cx="11064240" cy="4572000"/>
          </a:xfrm>
          <a:prstGeom prst="rect">
            <a:avLst/>
          </a:prstGeom>
          <a:noFill/>
          <a:ln/>
        </p:spPr>
        <p:txBody>
          <a:bodyPr wrap="square" lIns="0" tIns="0" rIns="0" bIns="0" rtlCol="0" anchor="t"/>
          <a:lstStyle/>
          <a:p>
            <a:pPr marL="342900" indent="-342900">
              <a:lnSpc>
                <a:spcPct val="108000"/>
              </a:lnSpc>
              <a:spcAft>
                <a:spcPts val="1200"/>
              </a:spcAft>
              <a:buSzPct val="100000"/>
              <a:buChar char="●"/>
            </a:pPr>
            <a:r>
              <a:rPr lang="en-US" sz="2800" b="1" dirty="0">
                <a:solidFill>
                  <a:srgbClr val="13315C"/>
                </a:solidFill>
                <a:latin typeface="Calibri" pitchFamily="34" charset="0"/>
                <a:ea typeface="Calibri" pitchFamily="34" charset="-122"/>
                <a:cs typeface="Calibri" pitchFamily="34" charset="-120"/>
              </a:rPr>
              <a:t>1. No strict layering enforced:</a:t>
            </a:r>
            <a:endParaRPr lang="en-US" sz="2800" dirty="0"/>
          </a:p>
          <a:p>
            <a:pPr marL="685800" lvl="1" indent="-342900">
              <a:lnSpc>
                <a:spcPct val="108000"/>
              </a:lnSpc>
              <a:spcAft>
                <a:spcPts val="600"/>
              </a:spcAft>
              <a:buSzPct val="100000"/>
              <a:buChar char="–"/>
            </a:pPr>
            <a:r>
              <a:rPr lang="en-US" sz="2400" dirty="0">
                <a:solidFill>
                  <a:srgbClr val="13315C"/>
                </a:solidFill>
                <a:latin typeface="Calibri" pitchFamily="34" charset="0"/>
                <a:ea typeface="Calibri" pitchFamily="34" charset="-122"/>
                <a:cs typeface="Calibri" pitchFamily="34" charset="-120"/>
              </a:rPr>
              <a:t>Applications are free to bypass defined transport layers and use IP (or even an underlying network) directly; programmers can define entirely new channel abstractions.</a:t>
            </a:r>
            <a:endParaRPr lang="en-US" sz="2800" dirty="0"/>
          </a:p>
          <a:p>
            <a:pPr marL="342900" indent="-342900">
              <a:lnSpc>
                <a:spcPct val="108000"/>
              </a:lnSpc>
              <a:spcAft>
                <a:spcPts val="1200"/>
              </a:spcAft>
              <a:buSzPct val="100000"/>
              <a:buChar char="●"/>
            </a:pPr>
            <a:r>
              <a:rPr lang="en-US" sz="2800" b="1" dirty="0">
                <a:solidFill>
                  <a:srgbClr val="13315C"/>
                </a:solidFill>
                <a:latin typeface="Calibri" pitchFamily="34" charset="0"/>
                <a:ea typeface="Calibri" pitchFamily="34" charset="-122"/>
                <a:cs typeface="Calibri" pitchFamily="34" charset="-120"/>
              </a:rPr>
              <a:t>2. The hourglass philosophy:</a:t>
            </a:r>
            <a:endParaRPr lang="en-US" sz="2800" dirty="0"/>
          </a:p>
          <a:p>
            <a:pPr marL="685800" lvl="1" indent="-342900">
              <a:lnSpc>
                <a:spcPct val="108000"/>
              </a:lnSpc>
              <a:spcAft>
                <a:spcPts val="600"/>
              </a:spcAft>
              <a:buSzPct val="100000"/>
              <a:buChar char="–"/>
            </a:pPr>
            <a:r>
              <a:rPr lang="en-US" sz="2400" dirty="0">
                <a:solidFill>
                  <a:srgbClr val="13315C"/>
                </a:solidFill>
                <a:latin typeface="Calibri" pitchFamily="34" charset="0"/>
                <a:ea typeface="Calibri" pitchFamily="34" charset="-122"/>
                <a:cs typeface="Calibri" pitchFamily="34" charset="-120"/>
              </a:rPr>
              <a:t>IP is the focal point — a common way to exchange packets across many networks, cleanly separating host-to-host delivery from process-to-process service.</a:t>
            </a:r>
            <a:endParaRPr lang="en-US" sz="2800" dirty="0"/>
          </a:p>
          <a:p>
            <a:pPr marL="342900" indent="-342900">
              <a:lnSpc>
                <a:spcPct val="108000"/>
              </a:lnSpc>
              <a:spcAft>
                <a:spcPts val="1200"/>
              </a:spcAft>
              <a:buSzPct val="100000"/>
              <a:buChar char="●"/>
            </a:pPr>
            <a:r>
              <a:rPr lang="en-US" sz="2800" b="1" dirty="0">
                <a:solidFill>
                  <a:srgbClr val="13315C"/>
                </a:solidFill>
                <a:latin typeface="Calibri" pitchFamily="34" charset="0"/>
                <a:ea typeface="Calibri" pitchFamily="34" charset="-122"/>
                <a:cs typeface="Calibri" pitchFamily="34" charset="-120"/>
              </a:rPr>
              <a:t>3. Specification + working implementation required:</a:t>
            </a:r>
            <a:endParaRPr lang="en-US" sz="2800" dirty="0"/>
          </a:p>
          <a:p>
            <a:pPr marL="685800" lvl="1" indent="-342900">
              <a:lnSpc>
                <a:spcPct val="108000"/>
              </a:lnSpc>
              <a:spcAft>
                <a:spcPts val="600"/>
              </a:spcAft>
              <a:buSzPct val="100000"/>
              <a:buChar char="–"/>
            </a:pPr>
            <a:r>
              <a:rPr lang="en-US" sz="2400" dirty="0">
                <a:solidFill>
                  <a:srgbClr val="13315C"/>
                </a:solidFill>
                <a:latin typeface="Calibri" pitchFamily="34" charset="0"/>
                <a:ea typeface="Calibri" pitchFamily="34" charset="-122"/>
                <a:cs typeface="Calibri" pitchFamily="34" charset="-120"/>
              </a:rPr>
              <a:t>For the IETF to adopt a new protocol, there must be both a written specification AND at least one (preferably two) working implementations.</a:t>
            </a:r>
            <a:endParaRPr lang="en-US" sz="2800" dirty="0"/>
          </a:p>
        </p:txBody>
      </p:sp>
      <p:sp>
        <p:nvSpPr>
          <p:cNvPr id="7" name="Text 4"/>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TOPIC 8 · INTERNET ARCHITECTURE</a:t>
            </a:r>
            <a:endParaRPr lang="en-US" sz="1000" dirty="0"/>
          </a:p>
        </p:txBody>
      </p:sp>
      <p:sp>
        <p:nvSpPr>
          <p:cNvPr id="8" name="TextBox 7"/>
          <p:cNvSpPr txBox="1"/>
          <p:nvPr/>
        </p:nvSpPr>
        <p:spPr>
          <a:xfrm>
            <a:off x="11792000" y="6638000"/>
            <a:ext cx="200000" cy="100000"/>
          </a:xfrm>
          <a:prstGeom prst="rect">
            <a:avLst/>
          </a:prstGeom>
          <a:noFill/>
        </p:spPr>
        <p:txBody>
          <a:bodyPr wrap="none">
            <a:spAutoFit/>
          </a:bodyPr>
          <a:lstStyle/>
          <a:p>
            <a:pPr>
              <a:defRPr sz="1000"/>
            </a:pPr>
            <a:r>
              <a:t>56</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0091AD"/>
                </a:solidFill>
                <a:latin typeface="Calibri" pitchFamily="34" charset="0"/>
                <a:ea typeface="Calibri" pitchFamily="34" charset="-122"/>
                <a:cs typeface="Calibri" pitchFamily="34" charset="-120"/>
              </a:rPr>
              <a:t>TOPIC 8 · INTERNET ARCHITECTURE</a:t>
            </a:r>
            <a:endParaRPr lang="en-US" sz="1200" dirty="0"/>
          </a:p>
        </p:txBody>
      </p:sp>
      <p:sp>
        <p:nvSpPr>
          <p:cNvPr id="3" name="Text 1"/>
          <p:cNvSpPr/>
          <p:nvPr/>
        </p:nvSpPr>
        <p:spPr>
          <a:xfrm>
            <a:off x="548640" y="566928"/>
            <a:ext cx="10424160" cy="822960"/>
          </a:xfrm>
          <a:prstGeom prst="rect">
            <a:avLst/>
          </a:prstGeom>
          <a:noFill/>
          <a:ln/>
        </p:spPr>
        <p:txBody>
          <a:bodyPr wrap="square" lIns="0" tIns="0" rIns="0" bIns="0" rtlCol="0" anchor="t"/>
          <a:lstStyle/>
          <a:p>
            <a:pPr marL="0" indent="0">
              <a:buNone/>
            </a:pPr>
            <a:r>
              <a:rPr lang="en-US" sz="3000" b="1" dirty="0">
                <a:solidFill>
                  <a:srgbClr val="13315C"/>
                </a:solidFill>
                <a:latin typeface="Bookman Old Style" pitchFamily="34" charset="0"/>
                <a:ea typeface="Bookman Old Style" pitchFamily="34" charset="-122"/>
                <a:cs typeface="Bookman Old Style" pitchFamily="34" charset="-120"/>
              </a:rPr>
              <a:t>IETF &amp; 'Rough Consensus and Running Code'</a:t>
            </a:r>
            <a:endParaRPr lang="en-US" sz="3000" dirty="0"/>
          </a:p>
        </p:txBody>
      </p:sp>
      <p:sp>
        <p:nvSpPr>
          <p:cNvPr id="6" name="Text 3"/>
          <p:cNvSpPr/>
          <p:nvPr/>
        </p:nvSpPr>
        <p:spPr>
          <a:xfrm>
            <a:off x="563880" y="1389888"/>
            <a:ext cx="11064240" cy="2011680"/>
          </a:xfrm>
          <a:prstGeom prst="rect">
            <a:avLst/>
          </a:prstGeom>
          <a:noFill/>
          <a:ln/>
        </p:spPr>
        <p:txBody>
          <a:bodyPr wrap="square" lIns="0" tIns="0" rIns="0" bIns="0" rtlCol="0" anchor="t"/>
          <a:lstStyle/>
          <a:p>
            <a:pPr marL="342900" indent="-342900">
              <a:lnSpc>
                <a:spcPct val="108000"/>
              </a:lnSpc>
              <a:spcAft>
                <a:spcPts val="1200"/>
              </a:spcAft>
              <a:buSzPct val="100000"/>
              <a:buChar char="●"/>
            </a:pPr>
            <a:r>
              <a:rPr lang="en-US" sz="2400" dirty="0">
                <a:solidFill>
                  <a:srgbClr val="13315C"/>
                </a:solidFill>
                <a:latin typeface="Calibri" pitchFamily="34" charset="0"/>
                <a:ea typeface="Calibri" pitchFamily="34" charset="-122"/>
                <a:cs typeface="Calibri" pitchFamily="34" charset="-120"/>
              </a:rPr>
              <a:t>The IETF (Internet Engineering Task Force) is the primary standardization body for the Internet architecture and many of its core protocols (TCP, UDP, IP, DNS, BGP).</a:t>
            </a:r>
            <a:endParaRPr lang="en-US" sz="2400" dirty="0"/>
          </a:p>
          <a:p>
            <a:pPr marL="342900" indent="-342900">
              <a:lnSpc>
                <a:spcPct val="108000"/>
              </a:lnSpc>
              <a:spcAft>
                <a:spcPts val="1200"/>
              </a:spcAft>
              <a:buSzPct val="100000"/>
              <a:buChar char="●"/>
            </a:pPr>
            <a:r>
              <a:rPr lang="en-US" sz="2400" dirty="0">
                <a:solidFill>
                  <a:srgbClr val="13315C"/>
                </a:solidFill>
                <a:latin typeface="Calibri" pitchFamily="34" charset="0"/>
                <a:ea typeface="Calibri" pitchFamily="34" charset="-122"/>
                <a:cs typeface="Calibri" pitchFamily="34" charset="-120"/>
              </a:rPr>
              <a:t>The Internet architecture also embraces protocols from other bodies: IEEE (802.3 Ethernet, 802.11 Wi-Fi), W3C (HTTP/HTML), 3GPP (4G/5G), ITU-T (H.264 video).</a:t>
            </a:r>
            <a:endParaRPr lang="en-US" sz="2400" dirty="0"/>
          </a:p>
          <a:p>
            <a:pPr marL="342900" indent="-342900">
              <a:lnSpc>
                <a:spcPct val="108000"/>
              </a:lnSpc>
              <a:spcAft>
                <a:spcPts val="1200"/>
              </a:spcAft>
              <a:buSzPct val="100000"/>
              <a:buChar char="●"/>
            </a:pPr>
            <a:r>
              <a:rPr lang="en-US" sz="2400" dirty="0">
                <a:solidFill>
                  <a:srgbClr val="13315C"/>
                </a:solidFill>
                <a:latin typeface="Calibri" pitchFamily="34" charset="0"/>
                <a:ea typeface="Calibri" pitchFamily="34" charset="-122"/>
                <a:cs typeface="Calibri" pitchFamily="34" charset="-120"/>
              </a:rPr>
              <a:t>IANA (Internet Assigned Numbers Authority), a department of ICANN, hands out the unique identifiers protocols need to interoperate.</a:t>
            </a:r>
            <a:endParaRPr lang="en-US" sz="2400" dirty="0"/>
          </a:p>
        </p:txBody>
      </p:sp>
      <p:sp>
        <p:nvSpPr>
          <p:cNvPr id="7" name="Shape 4"/>
          <p:cNvSpPr/>
          <p:nvPr/>
        </p:nvSpPr>
        <p:spPr>
          <a:xfrm>
            <a:off x="822960" y="4424334"/>
            <a:ext cx="10515600" cy="1417320"/>
          </a:xfrm>
          <a:prstGeom prst="roundRect">
            <a:avLst>
              <a:gd name="adj" fmla="val 5161"/>
            </a:avLst>
          </a:prstGeom>
          <a:solidFill>
            <a:srgbClr val="0B2545"/>
          </a:solidFill>
          <a:ln/>
          <a:effectLst>
            <a:outerShdw blurRad="88900" dist="25400" dir="5400000" algn="bl" rotWithShape="0">
              <a:srgbClr val="0B2545">
                <a:alpha val="10000"/>
              </a:srgbClr>
            </a:outerShdw>
          </a:effectLst>
        </p:spPr>
        <p:txBody>
          <a:bodyPr/>
          <a:lstStyle/>
          <a:p>
            <a:endParaRPr/>
          </a:p>
        </p:txBody>
      </p:sp>
      <p:sp>
        <p:nvSpPr>
          <p:cNvPr id="8" name="Text 5"/>
          <p:cNvSpPr/>
          <p:nvPr/>
        </p:nvSpPr>
        <p:spPr>
          <a:xfrm>
            <a:off x="1188720" y="4503420"/>
            <a:ext cx="9784080" cy="1417320"/>
          </a:xfrm>
          <a:prstGeom prst="rect">
            <a:avLst/>
          </a:prstGeom>
          <a:noFill/>
          <a:ln/>
        </p:spPr>
        <p:txBody>
          <a:bodyPr wrap="square" lIns="0" tIns="0" rIns="0" bIns="0" rtlCol="0" anchor="ctr"/>
          <a:lstStyle/>
          <a:p>
            <a:pPr marL="0" indent="0">
              <a:buNone/>
            </a:pPr>
            <a:r>
              <a:rPr lang="en-US" sz="1600" i="1" dirty="0">
                <a:solidFill>
                  <a:srgbClr val="FFFFFF"/>
                </a:solidFill>
                <a:latin typeface="Calibri" pitchFamily="34" charset="0"/>
                <a:ea typeface="Calibri" pitchFamily="34" charset="-122"/>
                <a:cs typeface="Calibri" pitchFamily="34" charset="-120"/>
              </a:rPr>
              <a:t>“We reject kings, presidents, and voting.</a:t>
            </a:r>
            <a:endParaRPr lang="en-US" sz="1600" dirty="0"/>
          </a:p>
          <a:p>
            <a:pPr marL="0" indent="0">
              <a:buNone/>
            </a:pPr>
            <a:r>
              <a:rPr lang="en-US" sz="1600" i="1" dirty="0">
                <a:solidFill>
                  <a:srgbClr val="FFFFFF"/>
                </a:solidFill>
                <a:latin typeface="Calibri" pitchFamily="34" charset="0"/>
                <a:ea typeface="Calibri" pitchFamily="34" charset="-122"/>
                <a:cs typeface="Calibri" pitchFamily="34" charset="-120"/>
              </a:rPr>
              <a:t>We believe in rough consensus and running code.”</a:t>
            </a:r>
            <a:endParaRPr lang="en-US" sz="1600" dirty="0"/>
          </a:p>
          <a:p>
            <a:pPr marL="0" indent="0">
              <a:buNone/>
            </a:pPr>
            <a:r>
              <a:rPr lang="en-US" sz="1200" dirty="0">
                <a:solidFill>
                  <a:srgbClr val="C9D8EC"/>
                </a:solidFill>
                <a:latin typeface="Calibri" pitchFamily="34" charset="0"/>
                <a:ea typeface="Calibri" pitchFamily="34" charset="-122"/>
                <a:cs typeface="Calibri" pitchFamily="34" charset="-120"/>
              </a:rPr>
              <a:t>— David Clark, widely quoted at IETF meetings</a:t>
            </a:r>
            <a:endParaRPr lang="en-US" sz="1600" dirty="0"/>
          </a:p>
        </p:txBody>
      </p:sp>
      <p:sp>
        <p:nvSpPr>
          <p:cNvPr id="9" name="Text 6"/>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TOPIC 8 · INTERNET ARCHITECTURE</a:t>
            </a:r>
            <a:endParaRPr lang="en-US" sz="1000" dirty="0"/>
          </a:p>
        </p:txBody>
      </p:sp>
      <p:sp>
        <p:nvSpPr>
          <p:cNvPr id="10" name="TextBox 9"/>
          <p:cNvSpPr txBox="1"/>
          <p:nvPr/>
        </p:nvSpPr>
        <p:spPr>
          <a:xfrm>
            <a:off x="11792000" y="6638000"/>
            <a:ext cx="200000" cy="100000"/>
          </a:xfrm>
          <a:prstGeom prst="rect">
            <a:avLst/>
          </a:prstGeom>
          <a:noFill/>
        </p:spPr>
        <p:txBody>
          <a:bodyPr wrap="none">
            <a:spAutoFit/>
          </a:bodyPr>
          <a:lstStyle/>
          <a:p>
            <a:pPr>
              <a:defRPr sz="1000"/>
            </a:pPr>
            <a:r>
              <a:t>57</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4" name="Text 1"/>
          <p:cNvSpPr/>
          <p:nvPr/>
        </p:nvSpPr>
        <p:spPr>
          <a:xfrm>
            <a:off x="1371600" y="457200"/>
            <a:ext cx="8229600" cy="320040"/>
          </a:xfrm>
          <a:prstGeom prst="rect">
            <a:avLst/>
          </a:prstGeom>
          <a:noFill/>
          <a:ln/>
        </p:spPr>
        <p:txBody>
          <a:bodyPr wrap="square" lIns="0" tIns="0" rIns="0" bIns="0" rtlCol="0" anchor="ctr"/>
          <a:lstStyle/>
          <a:p>
            <a:pPr marL="0" indent="0">
              <a:buNone/>
            </a:pPr>
            <a:r>
              <a:rPr lang="en-US" b="1" kern="0" spc="150" dirty="0">
                <a:solidFill>
                  <a:srgbClr val="E07A2C"/>
                </a:solidFill>
                <a:latin typeface="Calibri" pitchFamily="34" charset="0"/>
                <a:ea typeface="Calibri" pitchFamily="34" charset="-122"/>
                <a:cs typeface="Calibri" pitchFamily="34" charset="-120"/>
              </a:rPr>
              <a:t>BRAINSTORMING ACTIVITY</a:t>
            </a:r>
            <a:endParaRPr lang="en-US" dirty="0"/>
          </a:p>
        </p:txBody>
      </p:sp>
      <p:sp>
        <p:nvSpPr>
          <p:cNvPr id="5" name="Text 2"/>
          <p:cNvSpPr/>
          <p:nvPr/>
        </p:nvSpPr>
        <p:spPr>
          <a:xfrm>
            <a:off x="548640" y="868680"/>
            <a:ext cx="10789920" cy="777240"/>
          </a:xfrm>
          <a:prstGeom prst="rect">
            <a:avLst/>
          </a:prstGeom>
          <a:noFill/>
          <a:ln/>
        </p:spPr>
        <p:txBody>
          <a:bodyPr wrap="square" lIns="0" tIns="0" rIns="0" bIns="0" rtlCol="0" anchor="ctr"/>
          <a:lstStyle/>
          <a:p>
            <a:pPr marL="0" indent="0">
              <a:buNone/>
            </a:pPr>
            <a:r>
              <a:rPr lang="en-US" sz="2700" b="1" dirty="0">
                <a:solidFill>
                  <a:srgbClr val="13315C"/>
                </a:solidFill>
                <a:latin typeface="Bookman Old Style" pitchFamily="34" charset="0"/>
                <a:ea typeface="Bookman Old Style" pitchFamily="34" charset="-122"/>
                <a:cs typeface="Bookman Old Style" pitchFamily="34" charset="-120"/>
              </a:rPr>
              <a:t>Redesign the Hourglass</a:t>
            </a:r>
            <a:endParaRPr lang="en-US" sz="2700" dirty="0"/>
          </a:p>
        </p:txBody>
      </p:sp>
      <p:sp>
        <p:nvSpPr>
          <p:cNvPr id="6" name="Shape 3"/>
          <p:cNvSpPr/>
          <p:nvPr/>
        </p:nvSpPr>
        <p:spPr>
          <a:xfrm>
            <a:off x="548640" y="1783080"/>
            <a:ext cx="11064240" cy="4434840"/>
          </a:xfrm>
          <a:prstGeom prst="roundRect">
            <a:avLst>
              <a:gd name="adj" fmla="val 1649"/>
            </a:avLst>
          </a:prstGeom>
          <a:solidFill>
            <a:srgbClr val="FFFFFF"/>
          </a:solidFill>
          <a:ln/>
          <a:effectLst>
            <a:outerShdw blurRad="88900" dist="25400" dir="5400000" algn="bl" rotWithShape="0">
              <a:srgbClr val="0B2545">
                <a:alpha val="10000"/>
              </a:srgbClr>
            </a:outerShdw>
          </a:effectLst>
        </p:spPr>
        <p:txBody>
          <a:bodyPr/>
          <a:lstStyle/>
          <a:p>
            <a:endParaRPr/>
          </a:p>
        </p:txBody>
      </p:sp>
      <p:sp>
        <p:nvSpPr>
          <p:cNvPr id="7" name="Text 4"/>
          <p:cNvSpPr/>
          <p:nvPr/>
        </p:nvSpPr>
        <p:spPr>
          <a:xfrm>
            <a:off x="914400" y="2057400"/>
            <a:ext cx="10332720" cy="3931920"/>
          </a:xfrm>
          <a:prstGeom prst="rect">
            <a:avLst/>
          </a:prstGeom>
          <a:noFill/>
          <a:ln/>
        </p:spPr>
        <p:txBody>
          <a:bodyPr wrap="square" lIns="0" tIns="0" rIns="0" bIns="0" rtlCol="0" anchor="t"/>
          <a:lstStyle/>
          <a:p>
            <a:pPr marL="342900" indent="-342900">
              <a:lnSpc>
                <a:spcPct val="110000"/>
              </a:lnSpc>
              <a:spcAft>
                <a:spcPts val="1300"/>
              </a:spcAft>
              <a:buSzPct val="100000"/>
              <a:buChar char="▸"/>
            </a:pPr>
            <a:r>
              <a:rPr lang="en-US" sz="2000" dirty="0">
                <a:solidFill>
                  <a:srgbClr val="13315C"/>
                </a:solidFill>
                <a:latin typeface="Calibri" pitchFamily="34" charset="0"/>
                <a:ea typeface="Calibri" pitchFamily="34" charset="-122"/>
                <a:cs typeface="Calibri" pitchFamily="34" charset="-120"/>
              </a:rPr>
              <a:t>In groups, discuss: why is it important that the 'waist' of the hourglass (IP) stays narrow — i.e., why not add lots of features directly into IP itself?</a:t>
            </a:r>
            <a:endParaRPr lang="en-US" sz="2000" dirty="0"/>
          </a:p>
          <a:p>
            <a:pPr marL="342900" indent="-342900">
              <a:lnSpc>
                <a:spcPct val="110000"/>
              </a:lnSpc>
              <a:spcAft>
                <a:spcPts val="1300"/>
              </a:spcAft>
              <a:buSzPct val="100000"/>
              <a:buChar char="▸"/>
            </a:pPr>
            <a:r>
              <a:rPr lang="en-US" sz="2000" dirty="0">
                <a:solidFill>
                  <a:srgbClr val="13315C"/>
                </a:solidFill>
                <a:latin typeface="Calibri" pitchFamily="34" charset="0"/>
                <a:ea typeface="Calibri" pitchFamily="34" charset="-122"/>
                <a:cs typeface="Calibri" pitchFamily="34" charset="-120"/>
              </a:rPr>
              <a:t>Brainstorm: what would happen to Internet innovation if a new physical network technology required rewriting every application? Connect this to the hourglass's separation of concerns.</a:t>
            </a:r>
            <a:endParaRPr lang="en-US" sz="2000" dirty="0"/>
          </a:p>
          <a:p>
            <a:pPr marL="342900" indent="-342900">
              <a:lnSpc>
                <a:spcPct val="110000"/>
              </a:lnSpc>
              <a:spcAft>
                <a:spcPts val="1300"/>
              </a:spcAft>
              <a:buSzPct val="100000"/>
              <a:buChar char="▸"/>
            </a:pPr>
            <a:r>
              <a:rPr lang="en-US" sz="2000" dirty="0">
                <a:solidFill>
                  <a:srgbClr val="13315C"/>
                </a:solidFill>
                <a:latin typeface="Calibri" pitchFamily="34" charset="0"/>
                <a:ea typeface="Calibri" pitchFamily="34" charset="-122"/>
                <a:cs typeface="Calibri" pitchFamily="34" charset="-120"/>
              </a:rPr>
              <a:t>Discuss one modern technology that sits ABOVE the transport layer (e.g. a new streaming protocol) and one that sits BELOW IP (e.g. a new wireless standard) — explain why neither required changes to IP itself.</a:t>
            </a:r>
            <a:endParaRPr lang="en-US" sz="2000" dirty="0"/>
          </a:p>
          <a:p>
            <a:pPr marL="342900" indent="-342900">
              <a:lnSpc>
                <a:spcPct val="110000"/>
              </a:lnSpc>
              <a:spcAft>
                <a:spcPts val="1300"/>
              </a:spcAft>
              <a:buSzPct val="100000"/>
              <a:buChar char="▸"/>
            </a:pPr>
            <a:r>
              <a:rPr lang="en-US" sz="2000" dirty="0">
                <a:solidFill>
                  <a:srgbClr val="13315C"/>
                </a:solidFill>
                <a:latin typeface="Calibri" pitchFamily="34" charset="0"/>
                <a:ea typeface="Calibri" pitchFamily="34" charset="-122"/>
                <a:cs typeface="Calibri" pitchFamily="34" charset="-120"/>
              </a:rPr>
              <a:t>Debate: is a narrow, stable waist still the right design for the Internet today, given the huge diversity of modern devices (IoT, mobile, satellites)? Give one argument for and one against.</a:t>
            </a:r>
            <a:endParaRPr lang="en-US" sz="2000" dirty="0"/>
          </a:p>
        </p:txBody>
      </p:sp>
      <p:sp>
        <p:nvSpPr>
          <p:cNvPr id="8" name="TextBox 7"/>
          <p:cNvSpPr txBox="1"/>
          <p:nvPr/>
        </p:nvSpPr>
        <p:spPr>
          <a:xfrm>
            <a:off x="11792000" y="6638000"/>
            <a:ext cx="200000" cy="100000"/>
          </a:xfrm>
          <a:prstGeom prst="rect">
            <a:avLst/>
          </a:prstGeom>
          <a:noFill/>
        </p:spPr>
        <p:txBody>
          <a:bodyPr wrap="none">
            <a:spAutoFit/>
          </a:bodyPr>
          <a:lstStyle/>
          <a:p>
            <a:pPr>
              <a:defRPr sz="1000"/>
            </a:pPr>
            <a:r>
              <a:t>58</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3" name="Text 1"/>
          <p:cNvSpPr/>
          <p:nvPr/>
        </p:nvSpPr>
        <p:spPr>
          <a:xfrm>
            <a:off x="548640" y="566928"/>
            <a:ext cx="10424160" cy="822960"/>
          </a:xfrm>
          <a:prstGeom prst="rect">
            <a:avLst/>
          </a:prstGeom>
          <a:noFill/>
          <a:ln/>
        </p:spPr>
        <p:txBody>
          <a:bodyPr wrap="square" lIns="0" tIns="0" rIns="0" bIns="0" rtlCol="0" anchor="t"/>
          <a:lstStyle/>
          <a:p>
            <a:pPr marL="0" indent="0">
              <a:buNone/>
            </a:pPr>
            <a:r>
              <a:rPr lang="en-US" sz="3000" b="1" dirty="0">
                <a:solidFill>
                  <a:srgbClr val="13315C"/>
                </a:solidFill>
                <a:latin typeface="Bookman Old Style" pitchFamily="34" charset="0"/>
                <a:ea typeface="Bookman Old Style" pitchFamily="34" charset="-122"/>
                <a:cs typeface="Bookman Old Style" pitchFamily="34" charset="-120"/>
              </a:rPr>
              <a:t>Self-Assessment: Practice Questions</a:t>
            </a:r>
            <a:endParaRPr lang="en-US" sz="3000" dirty="0"/>
          </a:p>
        </p:txBody>
      </p:sp>
      <p:sp>
        <p:nvSpPr>
          <p:cNvPr id="6" name="Text 3"/>
          <p:cNvSpPr/>
          <p:nvPr/>
        </p:nvSpPr>
        <p:spPr>
          <a:xfrm>
            <a:off x="548640" y="1600200"/>
            <a:ext cx="11064240" cy="4572000"/>
          </a:xfrm>
          <a:prstGeom prst="rect">
            <a:avLst/>
          </a:prstGeom>
          <a:noFill/>
          <a:ln/>
        </p:spPr>
        <p:txBody>
          <a:bodyPr wrap="square" lIns="0" tIns="0" rIns="0" bIns="0" rtlCol="0" anchor="t"/>
          <a:lstStyle/>
          <a:p>
            <a:pPr marL="342900" indent="-342900">
              <a:lnSpc>
                <a:spcPct val="108000"/>
              </a:lnSpc>
              <a:spcAft>
                <a:spcPts val="1200"/>
              </a:spcAft>
              <a:buSzPct val="100000"/>
              <a:buChar char="●"/>
            </a:pPr>
            <a:r>
              <a:rPr lang="en-US" sz="2000" dirty="0">
                <a:solidFill>
                  <a:srgbClr val="13315C"/>
                </a:solidFill>
                <a:latin typeface="Calibri" pitchFamily="34" charset="0"/>
                <a:ea typeface="Calibri" pitchFamily="34" charset="-122"/>
                <a:cs typeface="Calibri" pitchFamily="34" charset="-120"/>
              </a:rPr>
              <a:t>1. Explain the difference between a protocol's service interface and its peer interface, using an example.</a:t>
            </a:r>
            <a:endParaRPr lang="en-US" sz="2000" dirty="0"/>
          </a:p>
          <a:p>
            <a:pPr marL="342900" indent="-342900">
              <a:lnSpc>
                <a:spcPct val="108000"/>
              </a:lnSpc>
              <a:spcAft>
                <a:spcPts val="1200"/>
              </a:spcAft>
              <a:buSzPct val="100000"/>
              <a:buChar char="●"/>
            </a:pPr>
            <a:r>
              <a:rPr lang="en-US" sz="2000" dirty="0">
                <a:solidFill>
                  <a:srgbClr val="13315C"/>
                </a:solidFill>
                <a:latin typeface="Calibri" pitchFamily="34" charset="0"/>
                <a:ea typeface="Calibri" pitchFamily="34" charset="-122"/>
                <a:cs typeface="Calibri" pitchFamily="34" charset="-120"/>
              </a:rPr>
              <a:t>2. Why does the Internet architecture avoid enforcing strict layering, unlike the OSI model?</a:t>
            </a:r>
            <a:endParaRPr lang="en-US" sz="2000" dirty="0"/>
          </a:p>
          <a:p>
            <a:pPr marL="342900" indent="-342900">
              <a:lnSpc>
                <a:spcPct val="108000"/>
              </a:lnSpc>
              <a:spcAft>
                <a:spcPts val="1200"/>
              </a:spcAft>
              <a:buSzPct val="100000"/>
              <a:buChar char="●"/>
            </a:pPr>
            <a:r>
              <a:rPr lang="en-US" sz="2000" dirty="0">
                <a:solidFill>
                  <a:srgbClr val="13315C"/>
                </a:solidFill>
                <a:latin typeface="Calibri" pitchFamily="34" charset="0"/>
                <a:ea typeface="Calibri" pitchFamily="34" charset="-122"/>
                <a:cs typeface="Calibri" pitchFamily="34" charset="-120"/>
              </a:rPr>
              <a:t>3. Draw the encapsulated message that results when application data passes through RRP and then HHP.</a:t>
            </a:r>
            <a:endParaRPr lang="en-US" sz="2000" dirty="0"/>
          </a:p>
          <a:p>
            <a:pPr marL="342900" indent="-342900">
              <a:lnSpc>
                <a:spcPct val="108000"/>
              </a:lnSpc>
              <a:spcAft>
                <a:spcPts val="1200"/>
              </a:spcAft>
              <a:buSzPct val="100000"/>
              <a:buChar char="●"/>
            </a:pPr>
            <a:r>
              <a:rPr lang="en-US" sz="2000" dirty="0">
                <a:solidFill>
                  <a:srgbClr val="13315C"/>
                </a:solidFill>
                <a:latin typeface="Calibri" pitchFamily="34" charset="0"/>
                <a:ea typeface="Calibri" pitchFamily="34" charset="-122"/>
                <a:cs typeface="Calibri" pitchFamily="34" charset="-120"/>
              </a:rPr>
              <a:t>4. Compare a star topology and a mesh topology in terms of cost and fault tolerance.</a:t>
            </a:r>
            <a:endParaRPr lang="en-US" sz="2000" dirty="0"/>
          </a:p>
          <a:p>
            <a:pPr marL="342900" indent="-342900">
              <a:lnSpc>
                <a:spcPct val="108000"/>
              </a:lnSpc>
              <a:spcAft>
                <a:spcPts val="1200"/>
              </a:spcAft>
              <a:buSzPct val="100000"/>
              <a:buChar char="●"/>
            </a:pPr>
            <a:r>
              <a:rPr lang="en-US" sz="2000" dirty="0">
                <a:solidFill>
                  <a:srgbClr val="13315C"/>
                </a:solidFill>
                <a:latin typeface="Calibri" pitchFamily="34" charset="0"/>
                <a:ea typeface="Calibri" pitchFamily="34" charset="-122"/>
                <a:cs typeface="Calibri" pitchFamily="34" charset="-120"/>
              </a:rPr>
              <a:t>5. What is a demux key, and why can't all protocols agree on one universal format for it?</a:t>
            </a:r>
            <a:endParaRPr lang="en-US" sz="2000" dirty="0"/>
          </a:p>
          <a:p>
            <a:pPr marL="342900" indent="-342900">
              <a:lnSpc>
                <a:spcPct val="108000"/>
              </a:lnSpc>
              <a:spcAft>
                <a:spcPts val="1200"/>
              </a:spcAft>
              <a:buSzPct val="100000"/>
              <a:buChar char="●"/>
            </a:pPr>
            <a:r>
              <a:rPr lang="en-US" sz="2000" dirty="0">
                <a:solidFill>
                  <a:srgbClr val="13315C"/>
                </a:solidFill>
                <a:latin typeface="Calibri" pitchFamily="34" charset="0"/>
                <a:ea typeface="Calibri" pitchFamily="34" charset="-122"/>
                <a:cs typeface="Calibri" pitchFamily="34" charset="-120"/>
              </a:rPr>
              <a:t>6. Map each OSI layer to its corresponding TCP/IP layer, noting which OSI layers are combined.</a:t>
            </a:r>
            <a:endParaRPr lang="en-US" sz="2000" dirty="0"/>
          </a:p>
          <a:p>
            <a:pPr marL="342900" indent="-342900">
              <a:lnSpc>
                <a:spcPct val="108000"/>
              </a:lnSpc>
              <a:spcAft>
                <a:spcPts val="1200"/>
              </a:spcAft>
              <a:buSzPct val="100000"/>
              <a:buChar char="●"/>
            </a:pPr>
            <a:r>
              <a:rPr lang="en-US" sz="2000" dirty="0">
                <a:solidFill>
                  <a:srgbClr val="13315C"/>
                </a:solidFill>
                <a:latin typeface="Calibri" pitchFamily="34" charset="0"/>
                <a:ea typeface="Calibri" pitchFamily="34" charset="-122"/>
                <a:cs typeface="Calibri" pitchFamily="34" charset="-120"/>
              </a:rPr>
              <a:t>7. Explain why IP is described as the 'narrow waist' of the Internet's hourglass architecture.</a:t>
            </a:r>
            <a:endParaRPr lang="en-US" sz="2000" dirty="0"/>
          </a:p>
          <a:p>
            <a:pPr marL="342900" indent="-342900">
              <a:lnSpc>
                <a:spcPct val="108000"/>
              </a:lnSpc>
              <a:spcAft>
                <a:spcPts val="1200"/>
              </a:spcAft>
              <a:buSzPct val="100000"/>
              <a:buChar char="●"/>
            </a:pPr>
            <a:r>
              <a:rPr lang="en-US" sz="2000" dirty="0">
                <a:solidFill>
                  <a:srgbClr val="13315C"/>
                </a:solidFill>
                <a:latin typeface="Calibri" pitchFamily="34" charset="0"/>
                <a:ea typeface="Calibri" pitchFamily="34" charset="-122"/>
                <a:cs typeface="Calibri" pitchFamily="34" charset="-120"/>
              </a:rPr>
              <a:t>8. List two guided and two unguided transmission media, with one use case each.</a:t>
            </a:r>
            <a:endParaRPr lang="en-US" sz="2000" dirty="0"/>
          </a:p>
        </p:txBody>
      </p:sp>
      <p:sp>
        <p:nvSpPr>
          <p:cNvPr id="7" name="TextBox 6"/>
          <p:cNvSpPr txBox="1"/>
          <p:nvPr/>
        </p:nvSpPr>
        <p:spPr>
          <a:xfrm>
            <a:off x="11792000" y="6638000"/>
            <a:ext cx="200000" cy="100000"/>
          </a:xfrm>
          <a:prstGeom prst="rect">
            <a:avLst/>
          </a:prstGeom>
          <a:noFill/>
        </p:spPr>
        <p:txBody>
          <a:bodyPr wrap="none">
            <a:spAutoFit/>
          </a:bodyPr>
          <a:lstStyle/>
          <a:p>
            <a:pPr>
              <a:defRPr sz="1000"/>
            </a:pPr>
            <a:r>
              <a:t>59</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D5AD489C-9BAC-1B51-9646-E80EE67D524F}"/>
            </a:ext>
          </a:extLst>
        </p:cNvPr>
        <p:cNvGrpSpPr/>
        <p:nvPr/>
      </p:nvGrpSpPr>
      <p:grpSpPr>
        <a:xfrm>
          <a:off x="0" y="0"/>
          <a:ext cx="0" cy="0"/>
          <a:chOff x="0" y="0"/>
          <a:chExt cx="0" cy="0"/>
        </a:xfrm>
      </p:grpSpPr>
      <p:sp>
        <p:nvSpPr>
          <p:cNvPr id="15" name="Shape 13">
            <a:extLst>
              <a:ext uri="{FF2B5EF4-FFF2-40B4-BE49-F238E27FC236}">
                <a16:creationId xmlns:a16="http://schemas.microsoft.com/office/drawing/2014/main" id="{BCD2FF64-5C88-1CDF-76DF-A3E1A5B62ADC}"/>
              </a:ext>
            </a:extLst>
          </p:cNvPr>
          <p:cNvSpPr/>
          <p:nvPr/>
        </p:nvSpPr>
        <p:spPr>
          <a:xfrm>
            <a:off x="10241280" y="2286000"/>
            <a:ext cx="0" cy="0"/>
          </a:xfrm>
          <a:prstGeom prst="line">
            <a:avLst/>
          </a:prstGeom>
          <a:noFill/>
          <a:ln w="12700">
            <a:solidFill>
              <a:srgbClr val="1E3A66"/>
            </a:solidFill>
            <a:prstDash val="solid"/>
          </a:ln>
        </p:spPr>
        <p:txBody>
          <a:bodyPr/>
          <a:lstStyle/>
          <a:p>
            <a:endParaRPr/>
          </a:p>
        </p:txBody>
      </p:sp>
      <p:sp>
        <p:nvSpPr>
          <p:cNvPr id="16" name="Shape 14">
            <a:extLst>
              <a:ext uri="{FF2B5EF4-FFF2-40B4-BE49-F238E27FC236}">
                <a16:creationId xmlns:a16="http://schemas.microsoft.com/office/drawing/2014/main" id="{6C8ADABE-D5D5-6252-D7C6-A18ECB7236AF}"/>
              </a:ext>
            </a:extLst>
          </p:cNvPr>
          <p:cNvSpPr/>
          <p:nvPr/>
        </p:nvSpPr>
        <p:spPr>
          <a:xfrm>
            <a:off x="11521440" y="2377440"/>
            <a:ext cx="0" cy="0"/>
          </a:xfrm>
          <a:prstGeom prst="line">
            <a:avLst/>
          </a:prstGeom>
          <a:noFill/>
          <a:ln w="12700">
            <a:solidFill>
              <a:srgbClr val="1E3A66"/>
            </a:solidFill>
            <a:prstDash val="solid"/>
          </a:ln>
        </p:spPr>
        <p:txBody>
          <a:bodyPr/>
          <a:lstStyle/>
          <a:p>
            <a:endParaRPr/>
          </a:p>
        </p:txBody>
      </p:sp>
      <p:sp>
        <p:nvSpPr>
          <p:cNvPr id="23" name="Text 21">
            <a:extLst>
              <a:ext uri="{FF2B5EF4-FFF2-40B4-BE49-F238E27FC236}">
                <a16:creationId xmlns:a16="http://schemas.microsoft.com/office/drawing/2014/main" id="{1914AEF7-F930-F0B2-6D47-350095DEAAAB}"/>
              </a:ext>
            </a:extLst>
          </p:cNvPr>
          <p:cNvSpPr/>
          <p:nvPr/>
        </p:nvSpPr>
        <p:spPr>
          <a:xfrm>
            <a:off x="912170" y="747912"/>
            <a:ext cx="5486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300" normalizeH="0" baseline="0" noProof="0" dirty="0">
                <a:ln>
                  <a:noFill/>
                </a:ln>
                <a:solidFill>
                  <a:srgbClr val="00B4D8"/>
                </a:solidFill>
                <a:effectLst/>
                <a:uLnTx/>
                <a:uFillTx/>
                <a:latin typeface="Calibri" pitchFamily="34" charset="0"/>
                <a:ea typeface="Calibri" pitchFamily="34" charset="-122"/>
                <a:cs typeface="Calibri" pitchFamily="34" charset="-120"/>
              </a:rPr>
              <a:t>TOPIC  9</a:t>
            </a:r>
            <a:endPar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4" name="Text 22">
            <a:extLst>
              <a:ext uri="{FF2B5EF4-FFF2-40B4-BE49-F238E27FC236}">
                <a16:creationId xmlns:a16="http://schemas.microsoft.com/office/drawing/2014/main" id="{2F599896-4948-9DE5-3A2C-F02EF8CAB0F7}"/>
              </a:ext>
            </a:extLst>
          </p:cNvPr>
          <p:cNvSpPr/>
          <p:nvPr/>
        </p:nvSpPr>
        <p:spPr>
          <a:xfrm>
            <a:off x="830766" y="1120363"/>
            <a:ext cx="9601200" cy="14630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Bookman Old Style" pitchFamily="34" charset="0"/>
                <a:ea typeface="+mn-ea"/>
                <a:cs typeface="+mn-cs"/>
              </a:rPr>
              <a:t> </a:t>
            </a:r>
            <a:endParaRPr kumimoji="0" lang="en-IN"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IN" sz="4000" b="1" i="0" u="none" strike="noStrike" kern="1200" cap="none" spc="0" normalizeH="0" baseline="0" noProof="0" dirty="0">
                <a:ln>
                  <a:noFill/>
                </a:ln>
                <a:solidFill>
                  <a:srgbClr val="FFFFFF"/>
                </a:solidFill>
                <a:effectLst/>
                <a:uLnTx/>
                <a:uFillTx/>
                <a:latin typeface="Bookman Old Style" pitchFamily="34" charset="0"/>
                <a:ea typeface="+mn-ea"/>
                <a:cs typeface="+mn-cs"/>
              </a:rPr>
              <a:t>Application Programming Interface (Sockets) </a:t>
            </a:r>
            <a:r>
              <a:rPr kumimoji="0" lang="en-IN" sz="1800" b="0" i="0" u="none" strike="noStrike" kern="1200" cap="none" spc="0" normalizeH="0" baseline="0" noProof="0" dirty="0">
                <a:ln>
                  <a:noFill/>
                </a:ln>
                <a:solidFill>
                  <a:prstClr val="black"/>
                </a:solidFill>
                <a:effectLst/>
                <a:uLnTx/>
                <a:uFillTx/>
                <a:latin typeface="Aptos" panose="0211000402020202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5" name="Text 23">
            <a:extLst>
              <a:ext uri="{FF2B5EF4-FFF2-40B4-BE49-F238E27FC236}">
                <a16:creationId xmlns:a16="http://schemas.microsoft.com/office/drawing/2014/main" id="{14F63D1F-A161-9484-CA19-5C938117A31D}"/>
              </a:ext>
            </a:extLst>
          </p:cNvPr>
          <p:cNvSpPr/>
          <p:nvPr/>
        </p:nvSpPr>
        <p:spPr>
          <a:xfrm>
            <a:off x="457200" y="3863117"/>
            <a:ext cx="10789919" cy="1463039"/>
          </a:xfrm>
          <a:prstGeom prst="rect">
            <a:avLst/>
          </a:prstGeom>
          <a:solidFill>
            <a:schemeClr val="bg2">
              <a:lumMod val="50000"/>
            </a:schemeClr>
          </a:solid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C9D8EC"/>
                </a:solidFill>
                <a:effectLst/>
                <a:uLnTx/>
                <a:uFillTx/>
                <a:latin typeface="Calibri" pitchFamily="34" charset="0"/>
                <a:ea typeface="Calibri" pitchFamily="34" charset="-122"/>
                <a:cs typeface="Calibri" pitchFamily="34" charset="-120"/>
              </a:rPr>
              <a:t>API (Application Programming Interface) acts as a bridge between an application and network services</a:t>
            </a:r>
            <a:r>
              <a:rPr kumimoji="0" lang="en-US" sz="2400" b="0" i="0" u="none" strike="noStrike" kern="1200" cap="none" spc="0" normalizeH="0" baseline="0" noProof="0" dirty="0">
                <a:ln>
                  <a:noFill/>
                </a:ln>
                <a:solidFill>
                  <a:srgbClr val="C9D8EC"/>
                </a:solidFill>
                <a:effectLst/>
                <a:uLnTx/>
                <a:uFillTx/>
                <a:latin typeface="Calibri" pitchFamily="34" charset="0"/>
                <a:ea typeface="Calibri" pitchFamily="34" charset="-122"/>
                <a:cs typeface="Calibri" pitchFamily="34" charset="-12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C9D8EC"/>
                </a:solidFill>
                <a:effectLst/>
                <a:uLnTx/>
                <a:uFillTx/>
                <a:latin typeface="Calibri" pitchFamily="34" charset="0"/>
                <a:ea typeface="Calibri" pitchFamily="34" charset="-122"/>
                <a:cs typeface="Calibri" pitchFamily="34" charset="-120"/>
              </a:rPr>
              <a:t>It enables applications to send requests and receive responses over a network using standard interfaces.</a:t>
            </a:r>
            <a:endParaRPr kumimoji="0" lang="en-US" sz="2400" b="0" i="0" u="none" strike="noStrike" kern="1200" cap="none" spc="0" normalizeH="0" baseline="0" noProof="0" dirty="0">
              <a:ln>
                <a:noFill/>
              </a:ln>
              <a:solidFill>
                <a:srgbClr val="C9D8EC"/>
              </a:solidFill>
              <a:effectLst/>
              <a:uLnTx/>
              <a:uFillTx/>
              <a:latin typeface="Calibri" pitchFamily="34" charset="0"/>
              <a:ea typeface="Calibri" pitchFamily="34" charset="-122"/>
              <a:cs typeface="Calibri" pitchFamily="34" charset="-120"/>
            </a:endParaRPr>
          </a:p>
        </p:txBody>
      </p:sp>
      <p:sp>
        <p:nvSpPr>
          <p:cNvPr id="26" name="TextBox 25"/>
          <p:cNvSpPr txBox="1"/>
          <p:nvPr/>
        </p:nvSpPr>
        <p:spPr>
          <a:xfrm>
            <a:off x="11792000" y="6638000"/>
            <a:ext cx="200000" cy="100000"/>
          </a:xfrm>
          <a:prstGeom prst="rect">
            <a:avLst/>
          </a:prstGeom>
          <a:noFill/>
        </p:spPr>
        <p:txBody>
          <a:bodyPr wrap="none">
            <a:spAutoFit/>
          </a:bodyPr>
          <a:lstStyle/>
          <a:p>
            <a:pPr>
              <a:defRPr sz="1000"/>
            </a:pPr>
            <a:r>
              <a:t>60</a:t>
            </a:r>
          </a:p>
        </p:txBody>
      </p:sp>
    </p:spTree>
    <p:extLst>
      <p:ext uri="{BB962C8B-B14F-4D97-AF65-F5344CB8AC3E}">
        <p14:creationId xmlns:p14="http://schemas.microsoft.com/office/powerpoint/2010/main" val="110195319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48640" y="367706"/>
            <a:ext cx="10424160" cy="8229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a:noFill/>
                </a:ln>
                <a:solidFill>
                  <a:srgbClr val="13315C"/>
                </a:solidFill>
                <a:effectLst/>
                <a:uLnTx/>
                <a:uFillTx/>
                <a:latin typeface="Bookman Old Style" pitchFamily="34" charset="0"/>
                <a:ea typeface="+mn-ea"/>
                <a:cs typeface="+mn-cs"/>
              </a:rPr>
              <a:t>Software Makes the Internet Powerful</a:t>
            </a:r>
            <a:endParaRPr kumimoji="0" lang="en-US" sz="36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6" name="Text 3"/>
          <p:cNvSpPr/>
          <p:nvPr/>
        </p:nvSpPr>
        <p:spPr>
          <a:xfrm>
            <a:off x="204281" y="1313233"/>
            <a:ext cx="6237375" cy="4893013"/>
          </a:xfrm>
          <a:prstGeom prst="rect">
            <a:avLst/>
          </a:prstGeom>
          <a:noFill/>
          <a:ln/>
        </p:spPr>
        <p:txBody>
          <a:bodyPr wrap="square" lIns="0" tIns="0" rIns="0" bIns="0" rtlCol="0" anchor="t"/>
          <a:lstStyle/>
          <a:p>
            <a:pPr marL="571500" marR="0" lvl="0" indent="-571500" algn="l" defTabSz="914400" rtl="0" eaLnBrk="1" fontAlgn="auto" latinLnBrk="0" hangingPunct="1">
              <a:lnSpc>
                <a:spcPct val="100000"/>
              </a:lnSpc>
              <a:spcBef>
                <a:spcPts val="0"/>
              </a:spcBef>
              <a:spcAft>
                <a:spcPts val="0"/>
              </a:spcAft>
              <a:buClrTx/>
              <a:buSzPct val="125000"/>
              <a:buFont typeface="Arial" panose="020B0604020202020204" pitchFamily="34" charset="0"/>
              <a:buChar char="•"/>
              <a:tabLst/>
              <a:defRPr/>
            </a:pPr>
            <a:r>
              <a:rPr kumimoji="0" lang="en-IN" sz="3600" b="1"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rPr>
              <a:t>Why is the Internet so successful?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000" b="1" i="0" u="none" strike="noStrike" kern="1200" cap="none" spc="0" normalizeH="0" baseline="0" noProof="0" dirty="0">
              <a:ln>
                <a:noFill/>
              </a:ln>
              <a:solidFill>
                <a:prstClr val="black"/>
              </a:solidFill>
              <a:effectLst/>
              <a:uLnTx/>
              <a:uFillTx/>
              <a:latin typeface="Aptos" panose="0211000402020202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50000"/>
              <a:buFont typeface="Courier New" panose="02070309020205020404" pitchFamily="49" charset="0"/>
              <a:buChar char="o"/>
              <a:tabLst/>
              <a:defRPr/>
            </a:pPr>
            <a:r>
              <a:rPr kumimoji="0" lang="en-IN" sz="3200" b="0"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rPr>
              <a:t>The Internet became successful not only because of cables and routers but because of software.</a:t>
            </a:r>
          </a:p>
          <a:p>
            <a:pPr marL="342900" marR="0" lvl="0" indent="-342900" algn="l" defTabSz="914400" rtl="0" eaLnBrk="1" fontAlgn="auto" latinLnBrk="0" hangingPunct="1">
              <a:lnSpc>
                <a:spcPct val="100000"/>
              </a:lnSpc>
              <a:spcBef>
                <a:spcPts val="0"/>
              </a:spcBef>
              <a:spcAft>
                <a:spcPts val="0"/>
              </a:spcAft>
              <a:buClrTx/>
              <a:buSzPct val="50000"/>
              <a:buFont typeface="Courier New" panose="02070309020205020404" pitchFamily="49" charset="0"/>
              <a:buChar char="o"/>
              <a:tabLst/>
              <a:defRPr/>
            </a:pPr>
            <a:r>
              <a:rPr kumimoji="0" lang="en-IN" sz="3200" b="0"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rPr>
              <a:t>Software allows developers to create new applications without changing the Internet infrastructure.</a:t>
            </a:r>
          </a:p>
        </p:txBody>
      </p:sp>
      <p:sp>
        <p:nvSpPr>
          <p:cNvPr id="8" name="Text 5"/>
          <p:cNvSpPr/>
          <p:nvPr/>
        </p:nvSpPr>
        <p:spPr>
          <a:xfrm>
            <a:off x="6675120" y="1691639"/>
            <a:ext cx="4663440" cy="3201373"/>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Program</a:t>
            </a:r>
            <a:endParaRPr kumimoji="0" lang="en-US" sz="13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1" name="Text 8"/>
          <p:cNvSpPr/>
          <p:nvPr/>
        </p:nvSpPr>
        <p:spPr>
          <a:xfrm>
            <a:off x="6675120" y="2606040"/>
            <a:ext cx="4663440" cy="7132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Process-to-Process Channel</a:t>
            </a:r>
            <a:endParaRPr kumimoji="0" lang="en-US" sz="13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E7832A03-EC56-3C80-2545-D8C0E457B975}"/>
              </a:ext>
            </a:extLst>
          </p:cNvPr>
          <p:cNvSpPr txBox="1"/>
          <p:nvPr/>
        </p:nvSpPr>
        <p:spPr>
          <a:xfrm>
            <a:off x="6675120" y="1476692"/>
            <a:ext cx="5182897" cy="3785652"/>
          </a:xfrm>
          <a:prstGeom prst="rect">
            <a:avLst/>
          </a:prstGeom>
          <a:solidFill>
            <a:schemeClr val="bg2">
              <a:lumMod val="75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1" i="0" u="none" strike="noStrike" kern="1200" cap="none" spc="0" normalizeH="0" baseline="0" noProof="0" dirty="0">
                <a:ln>
                  <a:noFill/>
                </a:ln>
                <a:solidFill>
                  <a:prstClr val="black"/>
                </a:solidFill>
                <a:effectLst/>
                <a:uLnTx/>
                <a:uFillTx/>
                <a:latin typeface="Aptos" panose="02110004020202020204"/>
                <a:ea typeface="+mn-ea"/>
                <a:cs typeface="+mn-cs"/>
              </a:rPr>
              <a:t>Examples</a:t>
            </a:r>
          </a:p>
          <a:p>
            <a:pPr marL="622300" marR="0" lvl="0" indent="-3492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400" b="0" i="0" u="none" strike="noStrike" kern="1200" cap="none" spc="0" normalizeH="0" baseline="0" noProof="0" dirty="0">
                <a:ln>
                  <a:noFill/>
                </a:ln>
                <a:solidFill>
                  <a:prstClr val="black"/>
                </a:solidFill>
                <a:effectLst/>
                <a:uLnTx/>
                <a:uFillTx/>
                <a:latin typeface="Aptos" panose="02110004020202020204"/>
                <a:ea typeface="+mn-ea"/>
                <a:cs typeface="+mn-cs"/>
              </a:rPr>
              <a:t>WhatsApp </a:t>
            </a:r>
          </a:p>
          <a:p>
            <a:pPr marL="622300" marR="0" lvl="0" indent="-3492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400" b="0" i="0" u="none" strike="noStrike" kern="1200" cap="none" spc="0" normalizeH="0" baseline="0" noProof="0" dirty="0">
                <a:ln>
                  <a:noFill/>
                </a:ln>
                <a:solidFill>
                  <a:prstClr val="black"/>
                </a:solidFill>
                <a:effectLst/>
                <a:uLnTx/>
                <a:uFillTx/>
                <a:latin typeface="Aptos" panose="02110004020202020204"/>
                <a:ea typeface="+mn-ea"/>
                <a:cs typeface="+mn-cs"/>
              </a:rPr>
              <a:t>YouTube </a:t>
            </a:r>
          </a:p>
          <a:p>
            <a:pPr marL="622300" marR="0" lvl="0" indent="-3492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400" b="0" i="0" u="none" strike="noStrike" kern="1200" cap="none" spc="0" normalizeH="0" baseline="0" noProof="0" dirty="0">
                <a:ln>
                  <a:noFill/>
                </a:ln>
                <a:solidFill>
                  <a:prstClr val="black"/>
                </a:solidFill>
                <a:effectLst/>
                <a:uLnTx/>
                <a:uFillTx/>
                <a:latin typeface="Aptos" panose="02110004020202020204"/>
                <a:ea typeface="+mn-ea"/>
                <a:cs typeface="+mn-cs"/>
              </a:rPr>
              <a:t>Gmail </a:t>
            </a:r>
          </a:p>
          <a:p>
            <a:pPr marL="622300" marR="0" lvl="0" indent="-3492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400" b="0" i="0" u="none" strike="noStrike" kern="1200" cap="none" spc="0" normalizeH="0" baseline="0" noProof="0" dirty="0">
                <a:ln>
                  <a:noFill/>
                </a:ln>
                <a:solidFill>
                  <a:prstClr val="black"/>
                </a:solidFill>
                <a:effectLst/>
                <a:uLnTx/>
                <a:uFillTx/>
                <a:latin typeface="Aptos" panose="02110004020202020204"/>
                <a:ea typeface="+mn-ea"/>
                <a:cs typeface="+mn-cs"/>
              </a:rPr>
              <a:t>Zoom </a:t>
            </a:r>
          </a:p>
          <a:p>
            <a:pPr marL="622300" marR="0" lvl="0" indent="-3492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400" b="0" i="0" u="none" strike="noStrike" kern="1200" cap="none" spc="0" normalizeH="0" baseline="0" noProof="0" dirty="0">
                <a:ln>
                  <a:noFill/>
                </a:ln>
                <a:solidFill>
                  <a:prstClr val="black"/>
                </a:solidFill>
                <a:effectLst/>
                <a:uLnTx/>
                <a:uFillTx/>
                <a:latin typeface="Aptos" panose="02110004020202020204"/>
                <a:ea typeface="+mn-ea"/>
                <a:cs typeface="+mn-cs"/>
              </a:rPr>
              <a:t>Google Maps </a:t>
            </a:r>
          </a:p>
          <a:p>
            <a:pPr marL="622300" marR="0" lvl="0" indent="-3492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400" b="0" i="0" u="none" strike="noStrike" kern="1200" cap="none" spc="0" normalizeH="0" baseline="0" noProof="0" dirty="0">
                <a:ln>
                  <a:noFill/>
                </a:ln>
                <a:solidFill>
                  <a:prstClr val="black"/>
                </a:solidFill>
                <a:effectLst/>
                <a:uLnTx/>
                <a:uFillTx/>
                <a:latin typeface="Aptos" panose="02110004020202020204"/>
                <a:ea typeface="+mn-ea"/>
                <a:cs typeface="+mn-cs"/>
              </a:rPr>
              <a:t>Instagram </a:t>
            </a:r>
          </a:p>
          <a:p>
            <a:pPr marL="349250" marR="0" lvl="0" indent="-34925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Aptos" panose="02110004020202020204"/>
                <a:ea typeface="+mn-ea"/>
                <a:cs typeface="+mn-cs"/>
              </a:rPr>
              <a:t>       All these applications work because they use the same Internet.</a:t>
            </a:r>
          </a:p>
        </p:txBody>
      </p:sp>
      <p:sp>
        <p:nvSpPr>
          <p:cNvPr id="12" name="TextBox 11"/>
          <p:cNvSpPr txBox="1"/>
          <p:nvPr/>
        </p:nvSpPr>
        <p:spPr>
          <a:xfrm>
            <a:off x="11792000" y="6638000"/>
            <a:ext cx="200000" cy="100000"/>
          </a:xfrm>
          <a:prstGeom prst="rect">
            <a:avLst/>
          </a:prstGeom>
          <a:noFill/>
        </p:spPr>
        <p:txBody>
          <a:bodyPr wrap="none">
            <a:spAutoFit/>
          </a:bodyPr>
          <a:lstStyle/>
          <a:p>
            <a:pPr>
              <a:defRPr sz="1000"/>
            </a:pPr>
            <a:r>
              <a:t>61</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48640" y="402336"/>
            <a:ext cx="10424160" cy="8229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srgbClr val="13315C"/>
                </a:solidFill>
                <a:effectLst/>
                <a:uLnTx/>
                <a:uFillTx/>
                <a:latin typeface="Bookman Old Style" pitchFamily="34" charset="0"/>
                <a:ea typeface="+mn-ea"/>
                <a:cs typeface="+mn-cs"/>
              </a:rPr>
              <a:t>What is a Network Application?</a:t>
            </a:r>
            <a:endParaRPr kumimoji="0" lang="en-US" sz="3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6" name="Text 3"/>
          <p:cNvSpPr/>
          <p:nvPr/>
        </p:nvSpPr>
        <p:spPr>
          <a:xfrm>
            <a:off x="548640" y="1081669"/>
            <a:ext cx="5639730" cy="5255124"/>
          </a:xfrm>
          <a:prstGeom prst="rect">
            <a:avLst/>
          </a:prstGeom>
          <a:noFill/>
          <a:ln/>
        </p:spPr>
        <p:txBody>
          <a:bodyPr wrap="square" lIns="0" tIns="0" rIns="0" bIns="0" rtlCol="0" anchor="t"/>
          <a:lstStyle/>
          <a:p>
            <a:pPr marL="342900" marR="0" lvl="0" indent="-342900" algn="l" defTabSz="914400" rtl="0" eaLnBrk="1" fontAlgn="auto" latinLnBrk="0" hangingPunct="1">
              <a:lnSpc>
                <a:spcPct val="108000"/>
              </a:lnSpc>
              <a:spcBef>
                <a:spcPts val="0"/>
              </a:spcBef>
              <a:spcAft>
                <a:spcPts val="1200"/>
              </a:spcAft>
              <a:buClrTx/>
              <a:buSzPct val="100000"/>
              <a:buFontTx/>
              <a:buChar char="●"/>
              <a:tabLst/>
              <a:defRPr/>
            </a:pPr>
            <a:r>
              <a:rPr kumimoji="0" lang="en-IN" sz="2800" b="0"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rPr>
              <a:t>A Network Application is software that communicates with another software over a network.</a:t>
            </a:r>
          </a:p>
          <a:p>
            <a:pPr marL="342900" marR="0" lvl="0" indent="-342900" algn="l" defTabSz="914400" rtl="0" eaLnBrk="1" fontAlgn="auto" latinLnBrk="0" hangingPunct="1">
              <a:lnSpc>
                <a:spcPct val="108000"/>
              </a:lnSpc>
              <a:spcBef>
                <a:spcPts val="0"/>
              </a:spcBef>
              <a:spcAft>
                <a:spcPts val="1200"/>
              </a:spcAft>
              <a:buClrTx/>
              <a:buSzPct val="100000"/>
              <a:buFontTx/>
              <a:buChar char="●"/>
              <a:tabLst/>
              <a:defRPr/>
            </a:pPr>
            <a:endParaRPr kumimoji="0" lang="en-IN" sz="2800" b="0"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endParaRPr>
          </a:p>
          <a:p>
            <a:pPr marL="342900" marR="0" lvl="0" indent="-342900" algn="l" defTabSz="914400" rtl="0" eaLnBrk="1" fontAlgn="auto" latinLnBrk="0" hangingPunct="1">
              <a:lnSpc>
                <a:spcPct val="108000"/>
              </a:lnSpc>
              <a:spcBef>
                <a:spcPts val="0"/>
              </a:spcBef>
              <a:spcAft>
                <a:spcPts val="1200"/>
              </a:spcAft>
              <a:buClrTx/>
              <a:buSzPct val="100000"/>
              <a:buFontTx/>
              <a:buChar char="●"/>
              <a:tabLst/>
              <a:defRPr/>
            </a:pPr>
            <a:endParaRPr kumimoji="0" lang="en-IN" sz="2800" b="0"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endParaRPr>
          </a:p>
          <a:p>
            <a:pPr marL="342900" marR="0" lvl="0" indent="-342900" algn="l" defTabSz="914400" rtl="0" eaLnBrk="1" fontAlgn="auto" latinLnBrk="0" hangingPunct="1">
              <a:lnSpc>
                <a:spcPct val="108000"/>
              </a:lnSpc>
              <a:spcBef>
                <a:spcPts val="0"/>
              </a:spcBef>
              <a:spcAft>
                <a:spcPts val="1200"/>
              </a:spcAft>
              <a:buClrTx/>
              <a:buSzPct val="100000"/>
              <a:buFontTx/>
              <a:buChar char="●"/>
              <a:tabLst/>
              <a:defRPr/>
            </a:pPr>
            <a:endParaRPr kumimoji="0" lang="en-IN" sz="2800" b="0"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endParaRPr>
          </a:p>
          <a:p>
            <a:pPr marL="342900" marR="0" lvl="0" indent="-342900" algn="l" defTabSz="914400" rtl="0" eaLnBrk="1" fontAlgn="auto" latinLnBrk="0" hangingPunct="1">
              <a:lnSpc>
                <a:spcPct val="108000"/>
              </a:lnSpc>
              <a:spcBef>
                <a:spcPts val="0"/>
              </a:spcBef>
              <a:spcAft>
                <a:spcPts val="1200"/>
              </a:spcAft>
              <a:buClrTx/>
              <a:buSzPct val="100000"/>
              <a:buFontTx/>
              <a:buChar char="●"/>
              <a:tabLst/>
              <a:defRPr/>
            </a:pPr>
            <a:endParaRPr kumimoji="0" lang="en-IN" sz="2800" b="0"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endParaRPr>
          </a:p>
          <a:p>
            <a:pPr marL="342900" marR="0" lvl="0" indent="-342900" algn="l" defTabSz="914400" rtl="0" eaLnBrk="1" fontAlgn="auto" latinLnBrk="0" hangingPunct="1">
              <a:lnSpc>
                <a:spcPct val="108000"/>
              </a:lnSpc>
              <a:spcBef>
                <a:spcPts val="0"/>
              </a:spcBef>
              <a:spcAft>
                <a:spcPts val="1200"/>
              </a:spcAft>
              <a:buClrTx/>
              <a:buSzPct val="100000"/>
              <a:buFontTx/>
              <a:buChar char="●"/>
              <a:tabLst/>
              <a:defRPr/>
            </a:pPr>
            <a:endParaRPr kumimoji="0" lang="en-IN" sz="2800" b="0"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endParaRPr>
          </a:p>
          <a:p>
            <a:pPr marL="342900" marR="0" lvl="0" indent="-342900" algn="l" defTabSz="914400" rtl="0" eaLnBrk="1" fontAlgn="auto" latinLnBrk="0" hangingPunct="1">
              <a:lnSpc>
                <a:spcPct val="108000"/>
              </a:lnSpc>
              <a:spcBef>
                <a:spcPts val="0"/>
              </a:spcBef>
              <a:spcAft>
                <a:spcPts val="1200"/>
              </a:spcAft>
              <a:buClrTx/>
              <a:buSzPct val="100000"/>
              <a:buFontTx/>
              <a:buChar char="●"/>
              <a:tabLst/>
              <a:defRPr/>
            </a:pPr>
            <a:endParaRPr kumimoji="0" lang="en-IN" sz="2800" b="0"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endParaRPr>
          </a:p>
          <a:p>
            <a:pPr marL="342900" marR="0" lvl="0" indent="-342900" algn="l" defTabSz="914400" rtl="0" eaLnBrk="1" fontAlgn="auto" latinLnBrk="0" hangingPunct="1">
              <a:lnSpc>
                <a:spcPct val="108000"/>
              </a:lnSpc>
              <a:spcBef>
                <a:spcPts val="0"/>
              </a:spcBef>
              <a:spcAft>
                <a:spcPts val="1200"/>
              </a:spcAft>
              <a:buClrTx/>
              <a:buSzPct val="100000"/>
              <a:buFontTx/>
              <a:buChar char="●"/>
              <a:tabLst/>
              <a:defRPr/>
            </a:pPr>
            <a:endParaRPr kumimoji="0" lang="en-US" sz="2400" b="0"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endParaRPr>
          </a:p>
        </p:txBody>
      </p:sp>
      <p:sp>
        <p:nvSpPr>
          <p:cNvPr id="8" name="Text 5"/>
          <p:cNvSpPr/>
          <p:nvPr/>
        </p:nvSpPr>
        <p:spPr>
          <a:xfrm>
            <a:off x="6492240" y="1828800"/>
            <a:ext cx="493776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Application Program</a:t>
            </a:r>
            <a:endParaRPr kumimoji="0" lang="en-US" sz="13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4" name="Text 11"/>
          <p:cNvSpPr/>
          <p:nvPr/>
        </p:nvSpPr>
        <p:spPr>
          <a:xfrm>
            <a:off x="6492240" y="3886200"/>
            <a:ext cx="493776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Host-to-Host Connectivity</a:t>
            </a:r>
            <a:endParaRPr kumimoji="0" lang="en-US" sz="13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1" name="TextBox 20">
            <a:extLst>
              <a:ext uri="{FF2B5EF4-FFF2-40B4-BE49-F238E27FC236}">
                <a16:creationId xmlns:a16="http://schemas.microsoft.com/office/drawing/2014/main" id="{95C0F15F-698C-3C07-B54B-28F028B633C9}"/>
              </a:ext>
            </a:extLst>
          </p:cNvPr>
          <p:cNvSpPr txBox="1"/>
          <p:nvPr/>
        </p:nvSpPr>
        <p:spPr>
          <a:xfrm>
            <a:off x="244770" y="2477135"/>
            <a:ext cx="609414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Aptos" panose="02110004020202020204"/>
                <a:ea typeface="+mn-ea"/>
                <a:cs typeface="+mn-cs"/>
              </a:rPr>
              <a:t>Examples</a:t>
            </a:r>
          </a:p>
        </p:txBody>
      </p:sp>
      <p:sp>
        <p:nvSpPr>
          <p:cNvPr id="24" name="TextBox 23">
            <a:extLst>
              <a:ext uri="{FF2B5EF4-FFF2-40B4-BE49-F238E27FC236}">
                <a16:creationId xmlns:a16="http://schemas.microsoft.com/office/drawing/2014/main" id="{F4539FD5-E6C0-4A44-FD59-C1E3BBC8AFB8}"/>
              </a:ext>
            </a:extLst>
          </p:cNvPr>
          <p:cNvSpPr txBox="1"/>
          <p:nvPr/>
        </p:nvSpPr>
        <p:spPr>
          <a:xfrm>
            <a:off x="6642780" y="2290883"/>
            <a:ext cx="5091090" cy="3477875"/>
          </a:xfrm>
          <a:prstGeom prst="rect">
            <a:avLst/>
          </a:prstGeom>
          <a:solidFill>
            <a:schemeClr val="bg2">
              <a:lumMod val="90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prstClr val="black"/>
                </a:solidFill>
                <a:effectLst/>
                <a:uLnTx/>
                <a:uFillTx/>
                <a:latin typeface="Aptos" panose="02110004020202020204"/>
                <a:ea typeface="+mn-ea"/>
                <a:cs typeface="+mn-cs"/>
              </a:rPr>
              <a:t>Real-life Example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0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Aptos" panose="02110004020202020204"/>
                <a:ea typeface="+mn-ea"/>
                <a:cs typeface="+mn-cs"/>
              </a:rPr>
              <a:t>When you send "Hello“ through WhatsApp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0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Aptos" panose="02110004020202020204"/>
                <a:ea typeface="+mn-ea"/>
                <a:cs typeface="+mn-cs"/>
              </a:rPr>
              <a:t>your phone application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Aptos" panose="0211000402020202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Aptos" panose="02110004020202020204"/>
                <a:ea typeface="+mn-ea"/>
                <a:cs typeface="+mn-cs"/>
              </a:rPr>
              <a:t>uses the Internet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Aptos" panose="0211000402020202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Aptos" panose="02110004020202020204"/>
                <a:ea typeface="+mn-ea"/>
                <a:cs typeface="+mn-cs"/>
              </a:rPr>
              <a:t>reaches the WhatsApp server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Aptos" panose="0211000402020202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Aptos" panose="02110004020202020204"/>
                <a:ea typeface="+mn-ea"/>
                <a:cs typeface="+mn-cs"/>
              </a:rPr>
              <a:t>server sends it to your friend's phone.</a:t>
            </a:r>
          </a:p>
        </p:txBody>
      </p:sp>
      <p:graphicFrame>
        <p:nvGraphicFramePr>
          <p:cNvPr id="7" name="Table 6">
            <a:extLst>
              <a:ext uri="{FF2B5EF4-FFF2-40B4-BE49-F238E27FC236}">
                <a16:creationId xmlns:a16="http://schemas.microsoft.com/office/drawing/2014/main" id="{6C9A10A0-7811-8F87-BEC8-44F1B9725914}"/>
              </a:ext>
            </a:extLst>
          </p:cNvPr>
          <p:cNvGraphicFramePr>
            <a:graphicFrameLocks noGrp="1"/>
          </p:cNvGraphicFramePr>
          <p:nvPr/>
        </p:nvGraphicFramePr>
        <p:xfrm>
          <a:off x="780585" y="2932541"/>
          <a:ext cx="4620323" cy="2194560"/>
        </p:xfrm>
        <a:graphic>
          <a:graphicData uri="http://schemas.openxmlformats.org/drawingml/2006/table">
            <a:tbl>
              <a:tblPr/>
              <a:tblGrid>
                <a:gridCol w="2300869">
                  <a:extLst>
                    <a:ext uri="{9D8B030D-6E8A-4147-A177-3AD203B41FA5}">
                      <a16:colId xmlns:a16="http://schemas.microsoft.com/office/drawing/2014/main" val="4269235503"/>
                    </a:ext>
                  </a:extLst>
                </a:gridCol>
                <a:gridCol w="2319454">
                  <a:extLst>
                    <a:ext uri="{9D8B030D-6E8A-4147-A177-3AD203B41FA5}">
                      <a16:colId xmlns:a16="http://schemas.microsoft.com/office/drawing/2014/main" val="4034175268"/>
                    </a:ext>
                  </a:extLst>
                </a:gridCol>
              </a:tblGrid>
              <a:tr h="295357">
                <a:tc>
                  <a:txBody>
                    <a:bodyPr/>
                    <a:lstStyle/>
                    <a:p>
                      <a:pPr>
                        <a:buNone/>
                      </a:pPr>
                      <a:r>
                        <a:rPr lang="en-IN" dirty="0"/>
                        <a:t>Application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buNone/>
                      </a:pPr>
                      <a:r>
                        <a:rPr lang="en-IN" dirty="0"/>
                        <a:t>Communicates With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4099288850"/>
                  </a:ext>
                </a:extLst>
              </a:tr>
              <a:tr h="295357">
                <a:tc>
                  <a:txBody>
                    <a:bodyPr/>
                    <a:lstStyle/>
                    <a:p>
                      <a:pPr>
                        <a:buNone/>
                      </a:pPr>
                      <a:r>
                        <a:rPr lang="en-IN" dirty="0"/>
                        <a:t>WhatsApp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WhatsApp Server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0717915"/>
                  </a:ext>
                </a:extLst>
              </a:tr>
              <a:tr h="295357">
                <a:tc>
                  <a:txBody>
                    <a:bodyPr/>
                    <a:lstStyle/>
                    <a:p>
                      <a:pPr>
                        <a:buNone/>
                      </a:pPr>
                      <a:r>
                        <a:rPr lang="en-IN" dirty="0"/>
                        <a:t>Chrome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Web Server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4640997"/>
                  </a:ext>
                </a:extLst>
              </a:tr>
              <a:tr h="295357">
                <a:tc>
                  <a:txBody>
                    <a:bodyPr/>
                    <a:lstStyle/>
                    <a:p>
                      <a:pPr>
                        <a:buNone/>
                      </a:pPr>
                      <a:r>
                        <a:rPr lang="en-IN"/>
                        <a:t>Gmail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Mail Server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1805626"/>
                  </a:ext>
                </a:extLst>
              </a:tr>
              <a:tr h="295357">
                <a:tc>
                  <a:txBody>
                    <a:bodyPr/>
                    <a:lstStyle/>
                    <a:p>
                      <a:pPr>
                        <a:buNone/>
                      </a:pPr>
                      <a:r>
                        <a:rPr lang="en-IN"/>
                        <a:t>Zoom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Zoom Server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60428486"/>
                  </a:ext>
                </a:extLst>
              </a:tr>
              <a:tr h="295357">
                <a:tc>
                  <a:txBody>
                    <a:bodyPr/>
                    <a:lstStyle/>
                    <a:p>
                      <a:pPr>
                        <a:buNone/>
                      </a:pPr>
                      <a:r>
                        <a:rPr lang="en-IN"/>
                        <a:t>PUBG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Game Server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87357111"/>
                  </a:ext>
                </a:extLst>
              </a:tr>
            </a:tbl>
          </a:graphicData>
        </a:graphic>
      </p:graphicFrame>
      <p:sp>
        <p:nvSpPr>
          <p:cNvPr id="25" name="TextBox 24"/>
          <p:cNvSpPr txBox="1"/>
          <p:nvPr/>
        </p:nvSpPr>
        <p:spPr>
          <a:xfrm>
            <a:off x="11792000" y="6638000"/>
            <a:ext cx="200000" cy="100000"/>
          </a:xfrm>
          <a:prstGeom prst="rect">
            <a:avLst/>
          </a:prstGeom>
          <a:noFill/>
        </p:spPr>
        <p:txBody>
          <a:bodyPr wrap="none">
            <a:spAutoFit/>
          </a:bodyPr>
          <a:lstStyle/>
          <a:p>
            <a:pPr>
              <a:defRPr sz="1000"/>
            </a:pPr>
            <a:r>
              <a:t>62</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1051560" y="374904"/>
            <a:ext cx="10424160" cy="8229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a:noFill/>
                </a:ln>
                <a:solidFill>
                  <a:srgbClr val="13315C"/>
                </a:solidFill>
                <a:effectLst/>
                <a:uLnTx/>
                <a:uFillTx/>
                <a:latin typeface="Bookman Old Style" pitchFamily="34" charset="0"/>
                <a:ea typeface="+mn-ea"/>
                <a:cs typeface="+mn-cs"/>
              </a:rPr>
              <a:t>How Applications Communicate?</a:t>
            </a:r>
            <a:endParaRPr kumimoji="0" lang="en-US" sz="36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6" name="Text 3"/>
          <p:cNvSpPr/>
          <p:nvPr/>
        </p:nvSpPr>
        <p:spPr>
          <a:xfrm>
            <a:off x="274320" y="1424217"/>
            <a:ext cx="5821680" cy="4675499"/>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0"/>
              </a:spcBef>
              <a:spcAft>
                <a:spcPts val="0"/>
              </a:spcAft>
              <a:buClrTx/>
              <a:buSzPct val="150000"/>
              <a:buFont typeface="Calibri" panose="020F0502020204030204" pitchFamily="34" charset="0"/>
              <a:buChar char="•"/>
              <a:tabLst/>
              <a:defRPr/>
            </a:pPr>
            <a:r>
              <a:rPr kumimoji="0" lang="en-IN" sz="2800" b="1"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rPr>
              <a:t>Applications do NOT </a:t>
            </a:r>
          </a:p>
          <a:p>
            <a:pPr marL="0" marR="0" lvl="0" indent="0" algn="l" defTabSz="914400" rtl="0" eaLnBrk="1" fontAlgn="auto" latinLnBrk="0" hangingPunct="1">
              <a:lnSpc>
                <a:spcPct val="100000"/>
              </a:lnSpc>
              <a:spcBef>
                <a:spcPts val="0"/>
              </a:spcBef>
              <a:spcAft>
                <a:spcPts val="0"/>
              </a:spcAft>
              <a:buClrTx/>
              <a:buSzPct val="150000"/>
              <a:buFontTx/>
              <a:buNone/>
              <a:tabLst/>
              <a:defRPr/>
            </a:pPr>
            <a:endParaRPr kumimoji="0" lang="en-IN" sz="2800" b="1"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endParaRPr>
          </a:p>
          <a:p>
            <a:pPr marL="803275" marR="0" lvl="0" indent="-342900" algn="l" defTabSz="914400" rtl="0" eaLnBrk="1" fontAlgn="auto" latinLnBrk="0" hangingPunct="1">
              <a:lnSpc>
                <a:spcPct val="100000"/>
              </a:lnSpc>
              <a:spcBef>
                <a:spcPts val="0"/>
              </a:spcBef>
              <a:spcAft>
                <a:spcPts val="0"/>
              </a:spcAft>
              <a:buClrTx/>
              <a:buSzPct val="100000"/>
              <a:buFont typeface="Calibri" panose="020F0502020204030204" pitchFamily="34" charset="0"/>
              <a:buChar char="•"/>
              <a:tabLst/>
              <a:defRPr/>
            </a:pPr>
            <a:r>
              <a:rPr kumimoji="0" lang="en-IN" sz="2800" b="1"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rPr>
              <a:t>touch Ethernet cables </a:t>
            </a:r>
          </a:p>
          <a:p>
            <a:pPr marL="803275" marR="0" lvl="0" indent="-342900" algn="l" defTabSz="914400" rtl="0" eaLnBrk="1" fontAlgn="auto" latinLnBrk="0" hangingPunct="1">
              <a:lnSpc>
                <a:spcPct val="100000"/>
              </a:lnSpc>
              <a:spcBef>
                <a:spcPts val="0"/>
              </a:spcBef>
              <a:spcAft>
                <a:spcPts val="0"/>
              </a:spcAft>
              <a:buClrTx/>
              <a:buSzPct val="100000"/>
              <a:buFont typeface="Calibri" panose="020F0502020204030204" pitchFamily="34" charset="0"/>
              <a:buChar char="•"/>
              <a:tabLst/>
              <a:defRPr/>
            </a:pPr>
            <a:r>
              <a:rPr kumimoji="0" lang="en-IN" sz="2800" b="1"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rPr>
              <a:t>control routers </a:t>
            </a:r>
          </a:p>
          <a:p>
            <a:pPr marL="803275" marR="0" lvl="0" indent="-342900" algn="l" defTabSz="914400" rtl="0" eaLnBrk="1" fontAlgn="auto" latinLnBrk="0" hangingPunct="1">
              <a:lnSpc>
                <a:spcPct val="100000"/>
              </a:lnSpc>
              <a:spcBef>
                <a:spcPts val="0"/>
              </a:spcBef>
              <a:spcAft>
                <a:spcPts val="0"/>
              </a:spcAft>
              <a:buClrTx/>
              <a:buSzPct val="100000"/>
              <a:buFont typeface="Calibri" panose="020F0502020204030204" pitchFamily="34" charset="0"/>
              <a:buChar char="•"/>
              <a:tabLst/>
              <a:defRPr/>
            </a:pPr>
            <a:r>
              <a:rPr kumimoji="0" lang="en-IN" sz="2800" b="1"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rPr>
              <a:t>manage switches </a:t>
            </a:r>
          </a:p>
          <a:p>
            <a:pPr marL="460375" marR="0" lvl="0" indent="0" algn="l" defTabSz="914400" rtl="0" eaLnBrk="1" fontAlgn="auto" latinLnBrk="0" hangingPunct="1">
              <a:lnSpc>
                <a:spcPct val="100000"/>
              </a:lnSpc>
              <a:spcBef>
                <a:spcPts val="0"/>
              </a:spcBef>
              <a:spcAft>
                <a:spcPts val="0"/>
              </a:spcAft>
              <a:buClrTx/>
              <a:buSzPct val="100000"/>
              <a:buFontTx/>
              <a:buNone/>
              <a:tabLst/>
              <a:defRPr/>
            </a:pPr>
            <a:endParaRPr kumimoji="0" lang="en-IN" sz="2800" b="1"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1"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rPr>
              <a:t>Instead, they ask the Operating System for networking services.</a:t>
            </a:r>
          </a:p>
          <a:p>
            <a:pPr marL="342900" marR="0" lvl="0" indent="-342900" algn="l" defTabSz="914400" rtl="0" eaLnBrk="1" fontAlgn="auto" latinLnBrk="0" hangingPunct="1">
              <a:lnSpc>
                <a:spcPct val="100000"/>
              </a:lnSpc>
              <a:spcBef>
                <a:spcPts val="0"/>
              </a:spcBef>
              <a:spcAft>
                <a:spcPts val="0"/>
              </a:spcAft>
              <a:buClrTx/>
              <a:buSzPct val="150000"/>
              <a:buFont typeface="Calibri" panose="020F0502020204030204" pitchFamily="34" charset="0"/>
              <a:buChar char="•"/>
              <a:tabLst/>
              <a:defRPr/>
            </a:pPr>
            <a:endParaRPr kumimoji="0" lang="en-IN" sz="2000" b="1"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endParaRPr>
          </a:p>
          <a:p>
            <a:pPr marL="342900" marR="0" lvl="0" indent="-342900" algn="l" defTabSz="914400" rtl="0" eaLnBrk="1" fontAlgn="auto" latinLnBrk="0" hangingPunct="1">
              <a:lnSpc>
                <a:spcPct val="100000"/>
              </a:lnSpc>
              <a:spcBef>
                <a:spcPts val="0"/>
              </a:spcBef>
              <a:spcAft>
                <a:spcPts val="0"/>
              </a:spcAft>
              <a:buClrTx/>
              <a:buSzPct val="150000"/>
              <a:buFont typeface="Calibri" panose="020F0502020204030204" pitchFamily="34" charset="0"/>
              <a:buChar char="•"/>
              <a:tabLst/>
              <a:defRPr/>
            </a:pPr>
            <a:endParaRPr kumimoji="0" lang="en-IN" sz="2000" b="1"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endParaRPr>
          </a:p>
          <a:p>
            <a:pPr marL="342900" marR="0" lvl="0" indent="-342900" algn="just" defTabSz="914400" rtl="0" eaLnBrk="1" fontAlgn="auto" latinLnBrk="0" hangingPunct="1">
              <a:lnSpc>
                <a:spcPct val="108000"/>
              </a:lnSpc>
              <a:spcBef>
                <a:spcPts val="0"/>
              </a:spcBef>
              <a:spcAft>
                <a:spcPts val="1200"/>
              </a:spcAft>
              <a:buClrTx/>
              <a:buSzPct val="100000"/>
              <a:buFontTx/>
              <a:buChar char="●"/>
              <a:tabLst/>
              <a:defRPr/>
            </a:pPr>
            <a:endParaRPr kumimoji="0" lang="en-US" sz="2000" b="1"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endParaRPr>
          </a:p>
          <a:p>
            <a:pPr marL="342900" marR="0" lvl="0" indent="-342900" algn="just" defTabSz="914400" rtl="0" eaLnBrk="1" fontAlgn="auto" latinLnBrk="0" hangingPunct="1">
              <a:lnSpc>
                <a:spcPct val="108000"/>
              </a:lnSpc>
              <a:spcBef>
                <a:spcPts val="0"/>
              </a:spcBef>
              <a:spcAft>
                <a:spcPts val="1200"/>
              </a:spcAft>
              <a:buClrTx/>
              <a:buSzPct val="100000"/>
              <a:buFontTx/>
              <a:buChar char="●"/>
              <a:tabLst/>
              <a:defRPr/>
            </a:pPr>
            <a:endParaRPr kumimoji="0" lang="en-US" sz="2000" b="1"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endParaRPr>
          </a:p>
          <a:p>
            <a:pPr marL="342900" marR="0" lvl="0" indent="-342900" algn="just" defTabSz="914400" rtl="0" eaLnBrk="1" fontAlgn="auto" latinLnBrk="0" hangingPunct="1">
              <a:lnSpc>
                <a:spcPct val="108000"/>
              </a:lnSpc>
              <a:spcBef>
                <a:spcPts val="0"/>
              </a:spcBef>
              <a:spcAft>
                <a:spcPts val="1200"/>
              </a:spcAft>
              <a:buClrTx/>
              <a:buSzPct val="100000"/>
              <a:buFontTx/>
              <a:buChar char="●"/>
              <a:tabLst/>
              <a:defRPr/>
            </a:pPr>
            <a:endPar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8" name="Text 5"/>
          <p:cNvSpPr/>
          <p:nvPr/>
        </p:nvSpPr>
        <p:spPr>
          <a:xfrm>
            <a:off x="6583680" y="2011680"/>
            <a:ext cx="2240280" cy="10058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Host A</a:t>
            </a:r>
            <a:endParaRPr kumimoji="0" lang="en-US" sz="14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Protocol</a:t>
            </a:r>
            <a:endParaRPr kumimoji="0" lang="en-US" sz="1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0" name="Text 7"/>
          <p:cNvSpPr/>
          <p:nvPr/>
        </p:nvSpPr>
        <p:spPr>
          <a:xfrm>
            <a:off x="9189720" y="2011680"/>
            <a:ext cx="2240280" cy="10058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Host B</a:t>
            </a:r>
            <a:endParaRPr kumimoji="0" lang="en-US" sz="14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Protocol</a:t>
            </a:r>
            <a:endParaRPr kumimoji="0" lang="en-US" sz="1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TextBox 6">
            <a:extLst>
              <a:ext uri="{FF2B5EF4-FFF2-40B4-BE49-F238E27FC236}">
                <a16:creationId xmlns:a16="http://schemas.microsoft.com/office/drawing/2014/main" id="{1C879325-A0F3-C77B-0AC3-E41E867B0223}"/>
              </a:ext>
            </a:extLst>
          </p:cNvPr>
          <p:cNvSpPr txBox="1"/>
          <p:nvPr/>
        </p:nvSpPr>
        <p:spPr>
          <a:xfrm>
            <a:off x="6854655" y="1874728"/>
            <a:ext cx="4575345" cy="3108543"/>
          </a:xfrm>
          <a:prstGeom prst="rect">
            <a:avLst/>
          </a:prstGeom>
          <a:solidFill>
            <a:schemeClr val="bg2">
              <a:lumMod val="90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IN" sz="2800" b="0" i="0" u="none" strike="noStrike" kern="1200" cap="none" spc="0" normalizeH="0" baseline="0" noProof="0" dirty="0">
                <a:ln>
                  <a:noFill/>
                </a:ln>
                <a:solidFill>
                  <a:prstClr val="black"/>
                </a:solidFill>
                <a:effectLst/>
                <a:uLnTx/>
                <a:uFillTx/>
                <a:latin typeface="Aptos" panose="02110004020202020204"/>
                <a:ea typeface="+mn-ea"/>
                <a:cs typeface="+mn-cs"/>
              </a:rPr>
              <a:t>Application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0" i="0" u="none" strike="noStrike" kern="1200" cap="none" spc="0" normalizeH="0" baseline="0" noProof="0" dirty="0">
                <a:ln>
                  <a:noFill/>
                </a:ln>
                <a:solidFill>
                  <a:prstClr val="black"/>
                </a:solidFill>
                <a:effectLst/>
                <a:uLnTx/>
                <a:uFillTx/>
                <a:latin typeface="Aptos" panose="02110004020202020204"/>
                <a:ea typeface="+mn-ea"/>
                <a:cs typeface="+mn-cs"/>
              </a:rPr>
              <a:t>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0" i="0" u="none" strike="noStrike" kern="1200" cap="none" spc="0" normalizeH="0" baseline="0" noProof="0" dirty="0">
                <a:ln>
                  <a:noFill/>
                </a:ln>
                <a:solidFill>
                  <a:prstClr val="black"/>
                </a:solidFill>
                <a:effectLst/>
                <a:uLnTx/>
                <a:uFillTx/>
                <a:latin typeface="Aptos" panose="02110004020202020204"/>
                <a:ea typeface="+mn-ea"/>
                <a:cs typeface="+mn-cs"/>
              </a:rPr>
              <a:t>	Operating System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0" i="0" u="none" strike="noStrike" kern="1200" cap="none" spc="0" normalizeH="0" baseline="0" noProof="0" dirty="0">
                <a:ln>
                  <a:noFill/>
                </a:ln>
                <a:solidFill>
                  <a:prstClr val="black"/>
                </a:solidFill>
                <a:effectLst/>
                <a:uLnTx/>
                <a:uFillTx/>
                <a:latin typeface="Aptos" panose="02110004020202020204"/>
                <a:ea typeface="+mn-ea"/>
                <a:cs typeface="+mn-cs"/>
              </a:rPr>
              <a:t>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0" i="0" u="none" strike="noStrike" kern="1200" cap="none" spc="0" normalizeH="0" baseline="0" noProof="0" dirty="0">
                <a:ln>
                  <a:noFill/>
                </a:ln>
                <a:solidFill>
                  <a:prstClr val="black"/>
                </a:solidFill>
                <a:effectLst/>
                <a:uLnTx/>
                <a:uFillTx/>
                <a:latin typeface="Aptos" panose="02110004020202020204"/>
                <a:ea typeface="+mn-ea"/>
                <a:cs typeface="+mn-cs"/>
              </a:rPr>
              <a:t>	TCP/IP Protocol Stack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0" i="0" u="none" strike="noStrike" kern="1200" cap="none" spc="0" normalizeH="0" baseline="0" noProof="0" dirty="0">
                <a:ln>
                  <a:noFill/>
                </a:ln>
                <a:solidFill>
                  <a:prstClr val="black"/>
                </a:solidFill>
                <a:effectLst/>
                <a:uLnTx/>
                <a:uFillTx/>
                <a:latin typeface="Aptos" panose="02110004020202020204"/>
                <a:ea typeface="+mn-ea"/>
                <a:cs typeface="+mn-cs"/>
              </a:rPr>
              <a:t>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0" i="0" u="none" strike="noStrike" kern="1200" cap="none" spc="0" normalizeH="0" baseline="0" noProof="0" dirty="0">
                <a:ln>
                  <a:noFill/>
                </a:ln>
                <a:solidFill>
                  <a:prstClr val="black"/>
                </a:solidFill>
                <a:effectLst/>
                <a:uLnTx/>
                <a:uFillTx/>
                <a:latin typeface="Aptos" panose="02110004020202020204"/>
                <a:ea typeface="+mn-ea"/>
                <a:cs typeface="+mn-cs"/>
              </a:rPr>
              <a:t>	Internet</a:t>
            </a:r>
            <a:endParaRPr kumimoji="0" lang="en-IN"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1" name="TextBox 10"/>
          <p:cNvSpPr txBox="1"/>
          <p:nvPr/>
        </p:nvSpPr>
        <p:spPr>
          <a:xfrm>
            <a:off x="11792000" y="6638000"/>
            <a:ext cx="200000" cy="100000"/>
          </a:xfrm>
          <a:prstGeom prst="rect">
            <a:avLst/>
          </a:prstGeom>
          <a:noFill/>
        </p:spPr>
        <p:txBody>
          <a:bodyPr wrap="none">
            <a:spAutoFit/>
          </a:bodyPr>
          <a:lstStyle/>
          <a:p>
            <a:pPr>
              <a:defRPr sz="1000"/>
            </a:pPr>
            <a:r>
              <a:t>63</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1051560" y="643425"/>
            <a:ext cx="10424160" cy="8229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srgbClr val="13315C"/>
                </a:solidFill>
                <a:effectLst/>
                <a:uLnTx/>
                <a:uFillTx/>
                <a:latin typeface="Bookman Old Style" pitchFamily="34" charset="0"/>
                <a:ea typeface="+mn-ea"/>
                <a:cs typeface="+mn-cs"/>
              </a:rPr>
              <a:t>What is an API ?</a:t>
            </a:r>
            <a:endParaRPr kumimoji="0" lang="en-US" sz="3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6" name="Text 3"/>
          <p:cNvSpPr/>
          <p:nvPr/>
        </p:nvSpPr>
        <p:spPr>
          <a:xfrm>
            <a:off x="548640" y="1197864"/>
            <a:ext cx="11090445" cy="2905786"/>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800" b="0"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rPr>
              <a:t>API = Application Programming Interface</a:t>
            </a:r>
          </a:p>
          <a:p>
            <a:pPr marL="714375" marR="0" lvl="0" indent="-2682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800" b="0"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rPr>
              <a:t>An API is a set of functions provided by the Operating System.</a:t>
            </a:r>
          </a:p>
          <a:p>
            <a:pPr marL="714375" marR="0" lvl="0" indent="-2682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800" b="0"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rPr>
              <a:t>Applications use these functions to communicate over the network.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0" i="0" u="none" strike="noStrike" kern="1200" cap="none" spc="0" normalizeH="0" baseline="0" noProof="0" dirty="0">
                <a:ln>
                  <a:noFill/>
                </a:ln>
                <a:solidFill>
                  <a:prstClr val="black"/>
                </a:solidFill>
                <a:effectLst/>
                <a:uLnTx/>
                <a:uFillTx/>
                <a:latin typeface="Calibri" pitchFamily="34" charset="0"/>
                <a:ea typeface="Calibri" pitchFamily="34" charset="-122"/>
                <a:cs typeface="Calibri" pitchFamily="34" charset="-120"/>
              </a:rPr>
              <a:t>Example</a:t>
            </a:r>
          </a:p>
          <a:p>
            <a:pPr marL="714375" marR="0" lvl="0" indent="-2682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800" b="0"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rPr>
              <a:t>Instead of building networking from scratch, the application simply asks the OS "Please send this message.“   </a:t>
            </a:r>
          </a:p>
          <a:p>
            <a:pPr marL="714375" marR="0" lvl="0" indent="-2682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800" b="0"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rPr>
              <a:t>The Operating System handles everything.</a:t>
            </a:r>
          </a:p>
          <a:p>
            <a:pPr marL="342900" marR="0" lvl="0" indent="-342900" algn="l" defTabSz="914400" rtl="0" eaLnBrk="1" fontAlgn="auto" latinLnBrk="0" hangingPunct="1">
              <a:lnSpc>
                <a:spcPct val="108000"/>
              </a:lnSpc>
              <a:spcBef>
                <a:spcPts val="0"/>
              </a:spcBef>
              <a:spcAft>
                <a:spcPts val="1200"/>
              </a:spcAft>
              <a:buClrTx/>
              <a:buSzPct val="100000"/>
              <a:buFontTx/>
              <a:buChar char="●"/>
              <a:tabLst/>
              <a:defRPr/>
            </a:pPr>
            <a:endPar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9" name="Text 6"/>
          <p:cNvSpPr/>
          <p:nvPr/>
        </p:nvSpPr>
        <p:spPr>
          <a:xfrm>
            <a:off x="6035040" y="1828800"/>
            <a:ext cx="246888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File App</a:t>
            </a:r>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1" name="Text 8"/>
          <p:cNvSpPr/>
          <p:nvPr/>
        </p:nvSpPr>
        <p:spPr>
          <a:xfrm>
            <a:off x="6035040" y="2514600"/>
            <a:ext cx="1161288"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RRP</a:t>
            </a:r>
            <a:endParaRPr kumimoji="0" lang="en-US" sz="115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3" name="Text 10"/>
          <p:cNvSpPr/>
          <p:nvPr/>
        </p:nvSpPr>
        <p:spPr>
          <a:xfrm>
            <a:off x="7342632" y="2514600"/>
            <a:ext cx="1161288"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MS</a:t>
            </a:r>
            <a:endParaRPr kumimoji="0" lang="en-US" sz="115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5" name="Text 12"/>
          <p:cNvSpPr/>
          <p:nvPr/>
        </p:nvSpPr>
        <p:spPr>
          <a:xfrm>
            <a:off x="6035040" y="3200400"/>
            <a:ext cx="246888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HHP</a:t>
            </a:r>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1" name="Text 18"/>
          <p:cNvSpPr/>
          <p:nvPr/>
        </p:nvSpPr>
        <p:spPr>
          <a:xfrm>
            <a:off x="9235440" y="1828800"/>
            <a:ext cx="246888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File App</a:t>
            </a:r>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3" name="Text 20"/>
          <p:cNvSpPr/>
          <p:nvPr/>
        </p:nvSpPr>
        <p:spPr>
          <a:xfrm>
            <a:off x="9235440" y="2514600"/>
            <a:ext cx="1161288"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RRP</a:t>
            </a:r>
            <a:endParaRPr kumimoji="0" lang="en-US" sz="115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5" name="Text 22"/>
          <p:cNvSpPr/>
          <p:nvPr/>
        </p:nvSpPr>
        <p:spPr>
          <a:xfrm>
            <a:off x="10543032" y="2514600"/>
            <a:ext cx="1161288"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MSP</a:t>
            </a:r>
            <a:endParaRPr kumimoji="0" lang="en-US" sz="115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7" name="Text 24"/>
          <p:cNvSpPr/>
          <p:nvPr/>
        </p:nvSpPr>
        <p:spPr>
          <a:xfrm>
            <a:off x="9235440" y="3200400"/>
            <a:ext cx="246888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HHP</a:t>
            </a:r>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TextBox 6">
            <a:extLst>
              <a:ext uri="{FF2B5EF4-FFF2-40B4-BE49-F238E27FC236}">
                <a16:creationId xmlns:a16="http://schemas.microsoft.com/office/drawing/2014/main" id="{045DE110-A74B-6FCC-E167-63952F1D54DF}"/>
              </a:ext>
            </a:extLst>
          </p:cNvPr>
          <p:cNvSpPr txBox="1"/>
          <p:nvPr/>
        </p:nvSpPr>
        <p:spPr>
          <a:xfrm>
            <a:off x="2896530" y="4291393"/>
            <a:ext cx="6094140" cy="2246769"/>
          </a:xfrm>
          <a:prstGeom prst="rect">
            <a:avLst/>
          </a:prstGeom>
          <a:solidFill>
            <a:schemeClr val="bg2">
              <a:lumMod val="90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1"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rPr>
              <a:t>The Network </a:t>
            </a:r>
            <a:r>
              <a:rPr kumimoji="0" lang="en-IN" sz="2800" b="1" i="0" u="none" strike="noStrike" kern="1200" cap="none" spc="0" normalizeH="0" baseline="0" noProof="0">
                <a:ln>
                  <a:noFill/>
                </a:ln>
                <a:solidFill>
                  <a:srgbClr val="13315C"/>
                </a:solidFill>
                <a:effectLst/>
                <a:uLnTx/>
                <a:uFillTx/>
                <a:latin typeface="Calibri" pitchFamily="34" charset="0"/>
                <a:ea typeface="Calibri" pitchFamily="34" charset="-122"/>
                <a:cs typeface="Calibri" pitchFamily="34" charset="-120"/>
              </a:rPr>
              <a:t>API  </a:t>
            </a:r>
            <a:r>
              <a:rPr kumimoji="0" lang="en-IN" sz="2800" b="1"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rPr>
              <a:t>Concept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800" b="0"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rPr>
              <a:t> Every OS provides an interface to its networking subsystem → Network API</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800" b="0"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rPr>
              <a:t> Most protocols are implemented in software within the OS</a:t>
            </a:r>
          </a:p>
        </p:txBody>
      </p:sp>
      <p:sp>
        <p:nvSpPr>
          <p:cNvPr id="28" name="TextBox 27"/>
          <p:cNvSpPr txBox="1"/>
          <p:nvPr/>
        </p:nvSpPr>
        <p:spPr>
          <a:xfrm>
            <a:off x="11792000" y="6638000"/>
            <a:ext cx="200000" cy="100000"/>
          </a:xfrm>
          <a:prstGeom prst="rect">
            <a:avLst/>
          </a:prstGeom>
          <a:noFill/>
        </p:spPr>
        <p:txBody>
          <a:bodyPr wrap="none">
            <a:spAutoFit/>
          </a:bodyPr>
          <a:lstStyle/>
          <a:p>
            <a:pPr>
              <a:defRPr sz="1000"/>
            </a:pPr>
            <a:r>
              <a:t>64</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48640" y="566928"/>
            <a:ext cx="10424160" cy="8229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srgbClr val="13315C"/>
                </a:solidFill>
                <a:effectLst/>
                <a:uLnTx/>
                <a:uFillTx/>
                <a:latin typeface="Bookman Old Style" pitchFamily="34" charset="0"/>
                <a:ea typeface="+mn-ea"/>
                <a:cs typeface="+mn-cs"/>
              </a:rPr>
              <a:t>What is Socket API? </a:t>
            </a:r>
            <a:endParaRPr kumimoji="0" lang="en-US" sz="3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6" name="Text 3"/>
          <p:cNvSpPr/>
          <p:nvPr/>
        </p:nvSpPr>
        <p:spPr>
          <a:xfrm>
            <a:off x="548640" y="1600200"/>
            <a:ext cx="11064240" cy="4572000"/>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400" b="1"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rPr>
              <a:t>A Socket API is a programming interface used by applications to communicate over a network.</a:t>
            </a:r>
          </a:p>
          <a:p>
            <a:pPr marL="892175" marR="0" lvl="0" indent="-357188"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IN" sz="2000" b="0"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rPr>
              <a:t>It acts as the connection point between Application and Network.</a:t>
            </a:r>
          </a:p>
          <a:p>
            <a:pPr marL="892175" marR="0" lvl="0" indent="-357188"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endParaRPr kumimoji="0" lang="en-IN" sz="2400" b="1"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400" b="1"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rPr>
              <a:t>Why are Sockets Important?</a:t>
            </a:r>
          </a:p>
          <a:p>
            <a:pPr marL="892175" marR="0" lvl="0" indent="-357188"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IN" sz="2000" b="0"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rPr>
              <a:t>Without sockets, every programmer would need to build networking from scratch.</a:t>
            </a:r>
          </a:p>
          <a:p>
            <a:pPr marL="892175" marR="0" lvl="0" indent="-357188"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IN" sz="2000" b="0"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rPr>
              <a:t>Sockets make networking easy.</a:t>
            </a:r>
          </a:p>
          <a:p>
            <a:pPr marL="892175" marR="0" lvl="0" indent="-357188"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IN" sz="2000" b="0"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rPr>
              <a:t>They provide ready-made functions.</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400" b="1"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rPr>
              <a:t>Benefits</a:t>
            </a:r>
          </a:p>
          <a:p>
            <a:pPr marL="892175" marR="0" lvl="0" indent="-357188"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IN" sz="2000" b="0"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rPr>
              <a:t>Easy programming </a:t>
            </a:r>
          </a:p>
          <a:p>
            <a:pPr marL="892175" marR="0" lvl="0" indent="-357188"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IN" sz="2000" b="0"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rPr>
              <a:t>Faster application development </a:t>
            </a:r>
          </a:p>
          <a:p>
            <a:pPr marL="892175" marR="0" lvl="0" indent="-357188"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IN" sz="2000" b="0"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rPr>
              <a:t>Same interface on Windows, Linux and Mac </a:t>
            </a:r>
          </a:p>
          <a:p>
            <a:pPr marL="892175" marR="0" lvl="0" indent="-357188"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IN" sz="2000" b="0"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rPr>
              <a:t>Used in Java, Python and C</a:t>
            </a:r>
          </a:p>
          <a:p>
            <a:pPr marL="892175" marR="0" lvl="0" indent="-357188"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endParaRPr kumimoji="0" lang="en-IN" sz="2000" b="0"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endParaRPr>
          </a:p>
        </p:txBody>
      </p:sp>
      <p:sp>
        <p:nvSpPr>
          <p:cNvPr id="5" name="TextBox 4">
            <a:extLst>
              <a:ext uri="{FF2B5EF4-FFF2-40B4-BE49-F238E27FC236}">
                <a16:creationId xmlns:a16="http://schemas.microsoft.com/office/drawing/2014/main" id="{FFC4E547-7D78-1CB1-E7D1-EAAA84CBD754}"/>
              </a:ext>
            </a:extLst>
          </p:cNvPr>
          <p:cNvSpPr txBox="1"/>
          <p:nvPr/>
        </p:nvSpPr>
        <p:spPr>
          <a:xfrm>
            <a:off x="6080760" y="4050658"/>
            <a:ext cx="5962557" cy="1938992"/>
          </a:xfrm>
          <a:prstGeom prst="rect">
            <a:avLst/>
          </a:prstGeom>
          <a:solidFill>
            <a:schemeClr val="bg2">
              <a:lumMod val="90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400" b="1" i="0" u="none" strike="noStrike" kern="1200" cap="none" spc="0" normalizeH="0" baseline="0" noProof="0" dirty="0">
                <a:ln>
                  <a:noFill/>
                </a:ln>
                <a:solidFill>
                  <a:prstClr val="black"/>
                </a:solidFill>
                <a:effectLst/>
                <a:uLnTx/>
                <a:uFillTx/>
                <a:latin typeface="Aptos" panose="02110004020202020204"/>
                <a:ea typeface="+mn-ea"/>
                <a:cs typeface="+mn-cs"/>
              </a:rPr>
              <a:t> Socket API</a:t>
            </a:r>
            <a:r>
              <a:rPr kumimoji="0" lang="en-IN" sz="2400" b="0" i="0" u="none" strike="noStrike" kern="1200" cap="none" spc="0" normalizeH="0" baseline="0" noProof="0" dirty="0">
                <a:ln>
                  <a:noFill/>
                </a:ln>
                <a:solidFill>
                  <a:prstClr val="black"/>
                </a:solidFill>
                <a:effectLst/>
                <a:uLnTx/>
                <a:uFillTx/>
                <a:latin typeface="Aptos" panose="02110004020202020204"/>
                <a:ea typeface="+mn-ea"/>
                <a:cs typeface="+mn-cs"/>
              </a:rPr>
              <a:t>: Originated in Berkeley Unix (BSD)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400" b="0" i="0" u="none" strike="noStrike" kern="1200" cap="none" spc="0" normalizeH="0" baseline="0" noProof="0" dirty="0">
                <a:ln>
                  <a:noFill/>
                </a:ln>
                <a:solidFill>
                  <a:prstClr val="black"/>
                </a:solidFill>
                <a:effectLst/>
                <a:uLnTx/>
                <a:uFillTx/>
                <a:latin typeface="Aptos" panose="02110004020202020204"/>
                <a:ea typeface="+mn-ea"/>
                <a:cs typeface="+mn-cs"/>
              </a:rPr>
              <a:t> Now supported by virtually all major OSs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400" b="0" i="0" u="none" strike="noStrike" kern="1200" cap="none" spc="0" normalizeH="0" baseline="0" noProof="0" dirty="0">
                <a:ln>
                  <a:noFill/>
                </a:ln>
                <a:solidFill>
                  <a:prstClr val="black"/>
                </a:solidFill>
                <a:effectLst/>
                <a:uLnTx/>
                <a:uFillTx/>
                <a:latin typeface="Aptos" panose="02110004020202020204"/>
                <a:ea typeface="+mn-ea"/>
                <a:cs typeface="+mn-cs"/>
              </a:rPr>
              <a:t> Foundation for language-specific libraries (Java, Python sockets, etc.)</a:t>
            </a:r>
          </a:p>
        </p:txBody>
      </p:sp>
      <p:sp>
        <p:nvSpPr>
          <p:cNvPr id="7" name="TextBox 6"/>
          <p:cNvSpPr txBox="1"/>
          <p:nvPr/>
        </p:nvSpPr>
        <p:spPr>
          <a:xfrm>
            <a:off x="11792000" y="6638000"/>
            <a:ext cx="200000" cy="100000"/>
          </a:xfrm>
          <a:prstGeom prst="rect">
            <a:avLst/>
          </a:prstGeom>
          <a:noFill/>
        </p:spPr>
        <p:txBody>
          <a:bodyPr wrap="none">
            <a:spAutoFit/>
          </a:bodyPr>
          <a:lstStyle/>
          <a:p>
            <a:pPr>
              <a:defRPr sz="1000"/>
            </a:pPr>
            <a:r>
              <a:t>65</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BB8E8-3B9C-DACC-FDA6-D5D4EFAAB6C5}"/>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60CBA485-540B-7F1C-F629-B01B562CF6BE}"/>
              </a:ext>
            </a:extLst>
          </p:cNvPr>
          <p:cNvSpPr/>
          <p:nvPr/>
        </p:nvSpPr>
        <p:spPr>
          <a:xfrm>
            <a:off x="548640" y="367706"/>
            <a:ext cx="10424160" cy="8229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a:noFill/>
                </a:ln>
                <a:solidFill>
                  <a:srgbClr val="13315C"/>
                </a:solidFill>
                <a:effectLst/>
                <a:uLnTx/>
                <a:uFillTx/>
                <a:latin typeface="Bookman Old Style" pitchFamily="34" charset="0"/>
                <a:ea typeface="+mn-ea"/>
                <a:cs typeface="+mn-cs"/>
              </a:rPr>
              <a:t>Significance of the Socket API</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6" name="Text 3">
            <a:extLst>
              <a:ext uri="{FF2B5EF4-FFF2-40B4-BE49-F238E27FC236}">
                <a16:creationId xmlns:a16="http://schemas.microsoft.com/office/drawing/2014/main" id="{01C5B483-7561-455C-FD91-FB874E32F972}"/>
              </a:ext>
            </a:extLst>
          </p:cNvPr>
          <p:cNvSpPr/>
          <p:nvPr/>
        </p:nvSpPr>
        <p:spPr>
          <a:xfrm>
            <a:off x="570942" y="1405494"/>
            <a:ext cx="10578948" cy="4893013"/>
          </a:xfrm>
          <a:prstGeom prst="rect">
            <a:avLst/>
          </a:prstGeom>
          <a:noFill/>
          <a:ln/>
        </p:spPr>
        <p:txBody>
          <a:bodyPr wrap="square" lIns="0" tIns="0" rIns="0" bIns="0" rtlCol="0" anchor="t"/>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3200" b="1"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rPr>
              <a:t>Defines the boundary between: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800" b="0"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rPr>
              <a:t>Applications running on top of the Internet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800" b="0"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rPr>
              <a:t>The internal implementation of the Internet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800" b="0"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rPr>
              <a:t>A stable, well-defined interface → enabled Internet applications to become a multi-billion-dollar industry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800" b="0"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rPr>
              <a:t>Evolution: simple client/server apps (email, FTP, remote login) → today's cloud applications on smartphones</a:t>
            </a:r>
          </a:p>
          <a:p>
            <a:pPr marL="342900" marR="0" lvl="0" indent="-342900" algn="l" defTabSz="914400" rtl="0" eaLnBrk="1" fontAlgn="auto" latinLnBrk="0" hangingPunct="1">
              <a:lnSpc>
                <a:spcPct val="100000"/>
              </a:lnSpc>
              <a:spcBef>
                <a:spcPts val="0"/>
              </a:spcBef>
              <a:spcAft>
                <a:spcPts val="0"/>
              </a:spcAft>
              <a:buClrTx/>
              <a:buSzPct val="150000"/>
              <a:buFont typeface="Calibri" panose="020F0502020204030204" pitchFamily="34" charset="0"/>
              <a:buChar char="•"/>
              <a:tabLst/>
              <a:defRPr/>
            </a:pPr>
            <a:endParaRPr kumimoji="0" lang="en-IN" sz="4400" b="0"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endParaRPr>
          </a:p>
        </p:txBody>
      </p:sp>
      <p:graphicFrame>
        <p:nvGraphicFramePr>
          <p:cNvPr id="7" name="Table 6">
            <a:extLst>
              <a:ext uri="{FF2B5EF4-FFF2-40B4-BE49-F238E27FC236}">
                <a16:creationId xmlns:a16="http://schemas.microsoft.com/office/drawing/2014/main" id="{60BABF1F-8B8C-CD17-6970-FFFE43AC0123}"/>
              </a:ext>
            </a:extLst>
          </p:cNvPr>
          <p:cNvGraphicFramePr>
            <a:graphicFrameLocks noGrp="1"/>
          </p:cNvGraphicFramePr>
          <p:nvPr/>
        </p:nvGraphicFramePr>
        <p:xfrm>
          <a:off x="853440" y="4521460"/>
          <a:ext cx="7889116" cy="1097280"/>
        </p:xfrm>
        <a:graphic>
          <a:graphicData uri="http://schemas.openxmlformats.org/drawingml/2006/table">
            <a:tbl>
              <a:tblPr/>
              <a:tblGrid>
                <a:gridCol w="1200961">
                  <a:extLst>
                    <a:ext uri="{9D8B030D-6E8A-4147-A177-3AD203B41FA5}">
                      <a16:colId xmlns:a16="http://schemas.microsoft.com/office/drawing/2014/main" val="3185937829"/>
                    </a:ext>
                  </a:extLst>
                </a:gridCol>
                <a:gridCol w="6688155">
                  <a:extLst>
                    <a:ext uri="{9D8B030D-6E8A-4147-A177-3AD203B41FA5}">
                      <a16:colId xmlns:a16="http://schemas.microsoft.com/office/drawing/2014/main" val="2205773982"/>
                    </a:ext>
                  </a:extLst>
                </a:gridCol>
              </a:tblGrid>
              <a:tr h="0">
                <a:tc>
                  <a:txBody>
                    <a:bodyPr/>
                    <a:lstStyle/>
                    <a:p>
                      <a:pPr>
                        <a:buNone/>
                      </a:pPr>
                      <a:r>
                        <a:rPr lang="en-IN"/>
                        <a:t>Concept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IN" dirty="0"/>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906183453"/>
                  </a:ext>
                </a:extLst>
              </a:tr>
              <a:tr h="0">
                <a:tc>
                  <a:txBody>
                    <a:bodyPr/>
                    <a:lstStyle/>
                    <a:p>
                      <a:pPr>
                        <a:buNone/>
                      </a:pPr>
                      <a:r>
                        <a:rPr lang="en-IN" b="1"/>
                        <a:t>Protocol</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IN"/>
                        <a:t>Defines the </a:t>
                      </a:r>
                      <a:r>
                        <a:rPr lang="en-IN" i="1"/>
                        <a:t>services</a:t>
                      </a:r>
                      <a:r>
                        <a:rPr lang="en-IN"/>
                        <a:t> offered (e.g., TCP's reliable byte stream)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858754303"/>
                  </a:ext>
                </a:extLst>
              </a:tr>
              <a:tr h="0">
                <a:tc>
                  <a:txBody>
                    <a:bodyPr/>
                    <a:lstStyle/>
                    <a:p>
                      <a:pPr>
                        <a:buNone/>
                      </a:pPr>
                      <a:r>
                        <a:rPr lang="en-IN" b="1"/>
                        <a:t>API</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IN" dirty="0"/>
                        <a:t>Defines the </a:t>
                      </a:r>
                      <a:r>
                        <a:rPr lang="en-IN" i="1" dirty="0"/>
                        <a:t>syntax</a:t>
                      </a:r>
                      <a:r>
                        <a:rPr lang="en-IN" dirty="0"/>
                        <a:t> to invoke those services on a system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528057538"/>
                  </a:ext>
                </a:extLst>
              </a:tr>
            </a:tbl>
          </a:graphicData>
        </a:graphic>
      </p:graphicFrame>
      <p:sp>
        <p:nvSpPr>
          <p:cNvPr id="8" name="TextBox 7"/>
          <p:cNvSpPr txBox="1"/>
          <p:nvPr/>
        </p:nvSpPr>
        <p:spPr>
          <a:xfrm>
            <a:off x="11792000" y="6638000"/>
            <a:ext cx="200000" cy="100000"/>
          </a:xfrm>
          <a:prstGeom prst="rect">
            <a:avLst/>
          </a:prstGeom>
          <a:noFill/>
        </p:spPr>
        <p:txBody>
          <a:bodyPr wrap="none">
            <a:spAutoFit/>
          </a:bodyPr>
          <a:lstStyle/>
          <a:p>
            <a:pPr>
              <a:defRPr sz="1000"/>
            </a:pPr>
            <a:r>
              <a:t>66</a:t>
            </a:r>
          </a:p>
        </p:txBody>
      </p:sp>
    </p:spTree>
    <p:extLst>
      <p:ext uri="{BB962C8B-B14F-4D97-AF65-F5344CB8AC3E}">
        <p14:creationId xmlns:p14="http://schemas.microsoft.com/office/powerpoint/2010/main" val="300622629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EA2BD-0B4C-1A3C-45BA-850ED3B433F1}"/>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08AEC036-E811-9693-2A12-A282BE867263}"/>
              </a:ext>
            </a:extLst>
          </p:cNvPr>
          <p:cNvSpPr/>
          <p:nvPr/>
        </p:nvSpPr>
        <p:spPr>
          <a:xfrm>
            <a:off x="548640" y="367706"/>
            <a:ext cx="10424160" cy="8229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a:noFill/>
                </a:ln>
                <a:solidFill>
                  <a:srgbClr val="13315C"/>
                </a:solidFill>
                <a:effectLst/>
                <a:uLnTx/>
                <a:uFillTx/>
                <a:latin typeface="Bookman Old Style" pitchFamily="34" charset="0"/>
                <a:ea typeface="+mn-ea"/>
                <a:cs typeface="+mn-cs"/>
              </a:rPr>
              <a:t>The Socket - Core Abstraction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6" name="Text 3">
            <a:extLst>
              <a:ext uri="{FF2B5EF4-FFF2-40B4-BE49-F238E27FC236}">
                <a16:creationId xmlns:a16="http://schemas.microsoft.com/office/drawing/2014/main" id="{F022653C-D80D-635D-3DE2-BC7C52AFB21C}"/>
              </a:ext>
            </a:extLst>
          </p:cNvPr>
          <p:cNvSpPr/>
          <p:nvPr/>
        </p:nvSpPr>
        <p:spPr>
          <a:xfrm>
            <a:off x="457200" y="1394342"/>
            <a:ext cx="10091933" cy="4893013"/>
          </a:xfrm>
          <a:prstGeom prst="rect">
            <a:avLst/>
          </a:prstGeom>
          <a:noFill/>
          <a:ln/>
        </p:spPr>
        <p:txBody>
          <a:bodyPr wrap="square" lIns="0" tIns="0" rIns="0" bIns="0" rtlCol="0" anchor="t"/>
          <a:lstStyle/>
          <a:p>
            <a:pPr marL="446088" marR="0" lvl="0" indent="-446088"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IN" sz="2800" b="1" i="0" u="none" strike="noStrike" kern="12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Calibri" panose="020F0502020204030204" pitchFamily="34" charset="0"/>
              </a:rPr>
              <a:t>Definition:</a:t>
            </a:r>
            <a:r>
              <a:rPr kumimoji="0" lang="en-IN" sz="2800" b="0" i="0" u="none" strike="noStrike" kern="12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Calibri" panose="020F0502020204030204" pitchFamily="34" charset="0"/>
              </a:rPr>
              <a:t> The point where a local application process attaches to the network</a:t>
            </a:r>
          </a:p>
          <a:p>
            <a:pPr marL="446088" marR="0" lvl="0" indent="-446088"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endParaRPr kumimoji="0" lang="en-IN" sz="2800" b="0" i="0" u="none" strike="noStrike" kern="12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Calibri" panose="020F0502020204030204" pitchFamily="34" charset="0"/>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800" b="0" i="0" u="none" strike="noStrike" kern="12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Calibri" panose="020F0502020204030204" pitchFamily="34" charset="0"/>
              </a:rPr>
              <a:t>Socket interface provides operations to: </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800" b="1" i="0" u="none" strike="noStrike" kern="12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Calibri" panose="020F0502020204030204" pitchFamily="34" charset="0"/>
              </a:rPr>
              <a:t>Create</a:t>
            </a:r>
            <a:r>
              <a:rPr kumimoji="0" lang="en-IN" sz="2800" b="0" i="0" u="none" strike="noStrike" kern="12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Calibri" panose="020F0502020204030204" pitchFamily="34" charset="0"/>
              </a:rPr>
              <a:t> a socket</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800" b="1" i="0" u="none" strike="noStrike" kern="12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Calibri" panose="020F0502020204030204" pitchFamily="34" charset="0"/>
              </a:rPr>
              <a:t>Attach</a:t>
            </a:r>
            <a:r>
              <a:rPr kumimoji="0" lang="en-IN" sz="2800" b="0" i="0" u="none" strike="noStrike" kern="12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Calibri" panose="020F0502020204030204" pitchFamily="34" charset="0"/>
              </a:rPr>
              <a:t> it to the network</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800" b="1" i="0" u="none" strike="noStrike" kern="12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Calibri" panose="020F0502020204030204" pitchFamily="34" charset="0"/>
              </a:rPr>
              <a:t>Send/receive</a:t>
            </a:r>
            <a:r>
              <a:rPr kumimoji="0" lang="en-IN" sz="2800" b="0" i="0" u="none" strike="noStrike" kern="12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Calibri" panose="020F0502020204030204" pitchFamily="34" charset="0"/>
              </a:rPr>
              <a:t> messages</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800" b="1" i="0" u="none" strike="noStrike" kern="12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Calibri" panose="020F0502020204030204" pitchFamily="34" charset="0"/>
              </a:rPr>
              <a:t>Close</a:t>
            </a:r>
            <a:r>
              <a:rPr kumimoji="0" lang="en-IN" sz="2800" b="0" i="0" u="none" strike="noStrike" kern="12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Calibri" panose="020F0502020204030204" pitchFamily="34" charset="0"/>
              </a:rPr>
              <a:t> the socket</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800" b="0" i="0" u="none" strike="noStrike" kern="12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Calibri" panose="020F0502020204030204" pitchFamily="34" charset="0"/>
              </a:rPr>
              <a:t>Focus: Sockets used with </a:t>
            </a:r>
            <a:r>
              <a:rPr kumimoji="0" lang="en-IN" sz="2800" b="1" i="0" u="none" strike="noStrike" kern="12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Calibri" panose="020F0502020204030204" pitchFamily="34" charset="0"/>
              </a:rPr>
              <a:t>TCP</a:t>
            </a:r>
            <a:r>
              <a:rPr kumimoji="0" lang="en-IN" sz="2800" b="0" i="0" u="none" strike="noStrike" kern="12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Calibri" panose="020F0502020204030204" pitchFamily="34" charset="0"/>
              </a:rPr>
              <a:t> (connection-oriented)</a:t>
            </a:r>
          </a:p>
          <a:p>
            <a:pPr marL="342900" marR="0" lvl="0" indent="-342900" algn="l" defTabSz="914400" rtl="0" eaLnBrk="1" fontAlgn="auto" latinLnBrk="0" hangingPunct="1">
              <a:lnSpc>
                <a:spcPct val="100000"/>
              </a:lnSpc>
              <a:spcBef>
                <a:spcPts val="0"/>
              </a:spcBef>
              <a:spcAft>
                <a:spcPts val="0"/>
              </a:spcAft>
              <a:buClrTx/>
              <a:buSzPct val="150000"/>
              <a:buFont typeface="Calibri" panose="020F0502020204030204" pitchFamily="34" charset="0"/>
              <a:buChar char="•"/>
              <a:tabLst/>
              <a:defRPr/>
            </a:pPr>
            <a:endParaRPr kumimoji="0" lang="en-IN" sz="3200" b="0"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endParaRPr>
          </a:p>
        </p:txBody>
      </p:sp>
      <p:sp>
        <p:nvSpPr>
          <p:cNvPr id="7" name="TextBox 6"/>
          <p:cNvSpPr txBox="1"/>
          <p:nvPr/>
        </p:nvSpPr>
        <p:spPr>
          <a:xfrm>
            <a:off x="11792000" y="6638000"/>
            <a:ext cx="200000" cy="100000"/>
          </a:xfrm>
          <a:prstGeom prst="rect">
            <a:avLst/>
          </a:prstGeom>
          <a:noFill/>
        </p:spPr>
        <p:txBody>
          <a:bodyPr wrap="none">
            <a:spAutoFit/>
          </a:bodyPr>
          <a:lstStyle/>
          <a:p>
            <a:pPr>
              <a:defRPr sz="1000"/>
            </a:pPr>
            <a:r>
              <a:t>67</a:t>
            </a:r>
          </a:p>
        </p:txBody>
      </p:sp>
    </p:spTree>
    <p:extLst>
      <p:ext uri="{BB962C8B-B14F-4D97-AF65-F5344CB8AC3E}">
        <p14:creationId xmlns:p14="http://schemas.microsoft.com/office/powerpoint/2010/main" val="296027628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3DDFD-3474-23E9-559A-D603F695737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43813C2-7E87-0ED9-E766-72AFAF6984D4}"/>
              </a:ext>
            </a:extLst>
          </p:cNvPr>
          <p:cNvSpPr/>
          <p:nvPr/>
        </p:nvSpPr>
        <p:spPr>
          <a:xfrm>
            <a:off x="783401" y="1691639"/>
            <a:ext cx="5891719" cy="393639"/>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 1">
            <a:extLst>
              <a:ext uri="{FF2B5EF4-FFF2-40B4-BE49-F238E27FC236}">
                <a16:creationId xmlns:a16="http://schemas.microsoft.com/office/drawing/2014/main" id="{8DBE2290-AF30-44E6-6F78-DB038CEA8728}"/>
              </a:ext>
            </a:extLst>
          </p:cNvPr>
          <p:cNvSpPr/>
          <p:nvPr/>
        </p:nvSpPr>
        <p:spPr>
          <a:xfrm>
            <a:off x="548640" y="326670"/>
            <a:ext cx="10424160" cy="8229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a:noFill/>
                </a:ln>
                <a:solidFill>
                  <a:srgbClr val="13315C"/>
                </a:solidFill>
                <a:effectLst/>
                <a:uLnTx/>
                <a:uFillTx/>
                <a:latin typeface="Bookman Old Style" pitchFamily="34" charset="0"/>
                <a:ea typeface="+mn-ea"/>
                <a:cs typeface="+mn-cs"/>
              </a:rPr>
              <a:t>Creating a Socket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6" name="Text 3">
            <a:extLst>
              <a:ext uri="{FF2B5EF4-FFF2-40B4-BE49-F238E27FC236}">
                <a16:creationId xmlns:a16="http://schemas.microsoft.com/office/drawing/2014/main" id="{76161D41-1A3A-5E93-D5A9-9EF012FF2183}"/>
              </a:ext>
            </a:extLst>
          </p:cNvPr>
          <p:cNvSpPr/>
          <p:nvPr/>
        </p:nvSpPr>
        <p:spPr>
          <a:xfrm>
            <a:off x="204281" y="1691639"/>
            <a:ext cx="11259173" cy="4514607"/>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           int socket(int domain, int type, int protocol);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dirty="0">
              <a:ln>
                <a:noFill/>
              </a:ln>
              <a:solidFill>
                <a:srgbClr val="156082">
                  <a:lumMod val="75000"/>
                </a:srgbClr>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1"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domain</a:t>
            </a:r>
            <a:r>
              <a:rPr kumimoji="0" lang="en-IN" sz="2400" b="0"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 → protocol family </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PF_INET – Internet family</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PF_UNIX – Unix pipe facility</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PF_PACKET – direct network interface access (bypasses TCP/IP)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1"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type</a:t>
            </a:r>
            <a:r>
              <a:rPr kumimoji="0" lang="en-IN" sz="2400" b="0"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 → communication semantics </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SOCK_STREAM – byte stream (TCP)</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SOCK_DGRAM – message-oriented (UDP)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1"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protocol</a:t>
            </a:r>
            <a:r>
              <a:rPr kumimoji="0" lang="en-IN" sz="2400" b="0"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 → specific protocol (often UNSPEC; PF_INET + SOCK_STREAM implies TCP)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1"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Return value:</a:t>
            </a:r>
            <a:r>
              <a:rPr kumimoji="0" lang="en-IN" sz="2400" b="0"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 socket handle (identifier for future operations)</a:t>
            </a:r>
          </a:p>
        </p:txBody>
      </p:sp>
      <p:sp>
        <p:nvSpPr>
          <p:cNvPr id="8" name="Text 5">
            <a:extLst>
              <a:ext uri="{FF2B5EF4-FFF2-40B4-BE49-F238E27FC236}">
                <a16:creationId xmlns:a16="http://schemas.microsoft.com/office/drawing/2014/main" id="{3B6CD29C-59AE-C80F-E4C4-4A0379ED25DB}"/>
              </a:ext>
            </a:extLst>
          </p:cNvPr>
          <p:cNvSpPr/>
          <p:nvPr/>
        </p:nvSpPr>
        <p:spPr>
          <a:xfrm>
            <a:off x="6675120" y="1691639"/>
            <a:ext cx="4663440" cy="3201373"/>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Program</a:t>
            </a:r>
            <a:endParaRPr kumimoji="0" lang="en-US" sz="13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1" name="Text 8">
            <a:extLst>
              <a:ext uri="{FF2B5EF4-FFF2-40B4-BE49-F238E27FC236}">
                <a16:creationId xmlns:a16="http://schemas.microsoft.com/office/drawing/2014/main" id="{3EB432A6-EC03-2CD1-3912-79931B5ADB39}"/>
              </a:ext>
            </a:extLst>
          </p:cNvPr>
          <p:cNvSpPr/>
          <p:nvPr/>
        </p:nvSpPr>
        <p:spPr>
          <a:xfrm>
            <a:off x="6675120" y="2606040"/>
            <a:ext cx="4663440" cy="7132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Process-to-Process Channel</a:t>
            </a:r>
            <a:endParaRPr kumimoji="0" lang="en-US" sz="13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2" name="TextBox 11"/>
          <p:cNvSpPr txBox="1"/>
          <p:nvPr/>
        </p:nvSpPr>
        <p:spPr>
          <a:xfrm>
            <a:off x="11792000" y="6638000"/>
            <a:ext cx="200000" cy="100000"/>
          </a:xfrm>
          <a:prstGeom prst="rect">
            <a:avLst/>
          </a:prstGeom>
          <a:noFill/>
        </p:spPr>
        <p:txBody>
          <a:bodyPr wrap="none">
            <a:spAutoFit/>
          </a:bodyPr>
          <a:lstStyle/>
          <a:p>
            <a:pPr>
              <a:defRPr sz="1000"/>
            </a:pPr>
            <a:r>
              <a:t>68</a:t>
            </a:r>
          </a:p>
        </p:txBody>
      </p:sp>
    </p:spTree>
    <p:extLst>
      <p:ext uri="{BB962C8B-B14F-4D97-AF65-F5344CB8AC3E}">
        <p14:creationId xmlns:p14="http://schemas.microsoft.com/office/powerpoint/2010/main" val="233981601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A6344-B840-65FA-98D4-42E7BCD0094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19CF4FE-E121-9312-BEFC-9C91A3A0E046}"/>
              </a:ext>
            </a:extLst>
          </p:cNvPr>
          <p:cNvSpPr/>
          <p:nvPr/>
        </p:nvSpPr>
        <p:spPr>
          <a:xfrm>
            <a:off x="1407948" y="2453268"/>
            <a:ext cx="8705544" cy="1059366"/>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 1">
            <a:extLst>
              <a:ext uri="{FF2B5EF4-FFF2-40B4-BE49-F238E27FC236}">
                <a16:creationId xmlns:a16="http://schemas.microsoft.com/office/drawing/2014/main" id="{80C9B82E-2128-51E9-23E9-36A55923F085}"/>
              </a:ext>
            </a:extLst>
          </p:cNvPr>
          <p:cNvSpPr/>
          <p:nvPr/>
        </p:nvSpPr>
        <p:spPr>
          <a:xfrm>
            <a:off x="548640" y="367706"/>
            <a:ext cx="10424160" cy="8229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a:noFill/>
                </a:ln>
                <a:solidFill>
                  <a:srgbClr val="13315C"/>
                </a:solidFill>
                <a:effectLst/>
                <a:uLnTx/>
                <a:uFillTx/>
                <a:latin typeface="Bookman Old Style" pitchFamily="34" charset="0"/>
                <a:ea typeface="+mn-ea"/>
                <a:cs typeface="+mn-cs"/>
              </a:rPr>
              <a:t>Server Side - Passive Open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6" name="Text 3">
            <a:extLst>
              <a:ext uri="{FF2B5EF4-FFF2-40B4-BE49-F238E27FC236}">
                <a16:creationId xmlns:a16="http://schemas.microsoft.com/office/drawing/2014/main" id="{1063309A-CB46-D741-8B0B-C28D30021DD5}"/>
              </a:ext>
            </a:extLst>
          </p:cNvPr>
          <p:cNvSpPr/>
          <p:nvPr/>
        </p:nvSpPr>
        <p:spPr>
          <a:xfrm>
            <a:off x="204280" y="1706137"/>
            <a:ext cx="11705221" cy="4500109"/>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Server prepares to </a:t>
            </a:r>
            <a:r>
              <a:rPr kumimoji="0" lang="en-IN" sz="2400" b="0" i="1"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accept</a:t>
            </a:r>
            <a:r>
              <a:rPr kumimoji="0" lang="en-IN" sz="2400" b="0"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 connections (doesn't establish one itself)</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Three operations: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	         int bind(int socket, struct </a:t>
            </a:r>
            <a:r>
              <a:rPr kumimoji="0" lang="en-IN" sz="2400" b="0" i="0" u="none" strike="noStrike" kern="1200" cap="none" spc="0" normalizeH="0" baseline="0" noProof="0" dirty="0" err="1">
                <a:ln>
                  <a:noFill/>
                </a:ln>
                <a:solidFill>
                  <a:srgbClr val="156082">
                    <a:lumMod val="75000"/>
                  </a:srgbClr>
                </a:solidFill>
                <a:effectLst/>
                <a:uLnTx/>
                <a:uFillTx/>
                <a:latin typeface="Aptos" panose="02110004020202020204"/>
                <a:ea typeface="+mn-ea"/>
                <a:cs typeface="+mn-cs"/>
              </a:rPr>
              <a:t>sockaddr</a:t>
            </a:r>
            <a:r>
              <a:rPr kumimoji="0" lang="en-IN" sz="2400" b="0"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 *address, int </a:t>
            </a:r>
            <a:r>
              <a:rPr kumimoji="0" lang="en-IN" sz="2400" b="0" i="0" u="none" strike="noStrike" kern="1200" cap="none" spc="0" normalizeH="0" baseline="0" noProof="0" dirty="0" err="1">
                <a:ln>
                  <a:noFill/>
                </a:ln>
                <a:solidFill>
                  <a:srgbClr val="156082">
                    <a:lumMod val="75000"/>
                  </a:srgbClr>
                </a:solidFill>
                <a:effectLst/>
                <a:uLnTx/>
                <a:uFillTx/>
                <a:latin typeface="Aptos" panose="02110004020202020204"/>
                <a:ea typeface="+mn-ea"/>
                <a:cs typeface="+mn-cs"/>
              </a:rPr>
              <a:t>addr_len</a:t>
            </a:r>
            <a:r>
              <a:rPr kumimoji="0" lang="en-IN" sz="2400" b="0"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	         int listen(int socket, int backlog);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	         int accept(int socket, struct </a:t>
            </a:r>
            <a:r>
              <a:rPr kumimoji="0" lang="en-IN" sz="2400" b="0" i="0" u="none" strike="noStrike" kern="1200" cap="none" spc="0" normalizeH="0" baseline="0" noProof="0" dirty="0" err="1">
                <a:ln>
                  <a:noFill/>
                </a:ln>
                <a:solidFill>
                  <a:srgbClr val="156082">
                    <a:lumMod val="75000"/>
                  </a:srgbClr>
                </a:solidFill>
                <a:effectLst/>
                <a:uLnTx/>
                <a:uFillTx/>
                <a:latin typeface="Aptos" panose="02110004020202020204"/>
                <a:ea typeface="+mn-ea"/>
                <a:cs typeface="+mn-cs"/>
              </a:rPr>
              <a:t>sockaddr</a:t>
            </a:r>
            <a:r>
              <a:rPr kumimoji="0" lang="en-IN" sz="2400" b="0"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 *address, int *</a:t>
            </a:r>
            <a:r>
              <a:rPr kumimoji="0" lang="en-IN" sz="2400" b="0" i="0" u="none" strike="noStrike" kern="1200" cap="none" spc="0" normalizeH="0" baseline="0" noProof="0" dirty="0" err="1">
                <a:ln>
                  <a:noFill/>
                </a:ln>
                <a:solidFill>
                  <a:srgbClr val="156082">
                    <a:lumMod val="75000"/>
                  </a:srgbClr>
                </a:solidFill>
                <a:effectLst/>
                <a:uLnTx/>
                <a:uFillTx/>
                <a:latin typeface="Aptos" panose="02110004020202020204"/>
                <a:ea typeface="+mn-ea"/>
                <a:cs typeface="+mn-cs"/>
              </a:rPr>
              <a:t>addr_len</a:t>
            </a:r>
            <a:r>
              <a:rPr kumimoji="0" lang="en-IN" sz="2400" b="0"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1"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bind</a:t>
            </a:r>
            <a:r>
              <a:rPr kumimoji="0" lang="en-IN" sz="2400" b="0"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 → attaches socket to local address (IP + </a:t>
            </a:r>
            <a:r>
              <a:rPr kumimoji="0" lang="en-IN" sz="2400" b="1"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port number</a:t>
            </a:r>
            <a:r>
              <a:rPr kumimoji="0" lang="en-IN" sz="2400" b="0"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 </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Ports act as demultiplexing keys</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Well-known ports (e.g., HTTP = port 80)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1"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listen</a:t>
            </a:r>
            <a:r>
              <a:rPr kumimoji="0" lang="en-IN" sz="2400" b="0"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 → sets max number of pending connections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1"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accept</a:t>
            </a:r>
            <a:r>
              <a:rPr kumimoji="0" lang="en-IN" sz="2400" b="0"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 → blocking call; waits for a client to connect </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Returns a </a:t>
            </a:r>
            <a:r>
              <a:rPr kumimoji="0" lang="en-IN" sz="2400" b="1"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new socket</a:t>
            </a:r>
            <a:r>
              <a:rPr kumimoji="0" lang="en-IN" sz="2400" b="0"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 for the established connection</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Original socket remains open for future accept() calls</a:t>
            </a:r>
          </a:p>
          <a:p>
            <a:pPr marL="342900" marR="0" lvl="0" indent="-342900" algn="l" defTabSz="914400" rtl="0" eaLnBrk="1" fontAlgn="auto" latinLnBrk="0" hangingPunct="1">
              <a:lnSpc>
                <a:spcPct val="100000"/>
              </a:lnSpc>
              <a:spcBef>
                <a:spcPts val="0"/>
              </a:spcBef>
              <a:spcAft>
                <a:spcPts val="0"/>
              </a:spcAft>
              <a:buClrTx/>
              <a:buSzPct val="150000"/>
              <a:buFont typeface="Calibri" panose="020F0502020204030204" pitchFamily="34" charset="0"/>
              <a:buChar char="•"/>
              <a:tabLst/>
              <a:defRPr/>
            </a:pPr>
            <a:endParaRPr kumimoji="0" lang="en-IN" sz="4000" b="0" i="0" u="none" strike="noStrike" kern="1200" cap="none" spc="0" normalizeH="0" baseline="0" noProof="0" dirty="0">
              <a:ln>
                <a:noFill/>
              </a:ln>
              <a:solidFill>
                <a:srgbClr val="156082">
                  <a:lumMod val="75000"/>
                </a:srgbClr>
              </a:solidFill>
              <a:effectLst/>
              <a:uLnTx/>
              <a:uFillTx/>
              <a:latin typeface="Calibri" pitchFamily="34" charset="0"/>
              <a:ea typeface="Calibri" pitchFamily="34" charset="-122"/>
              <a:cs typeface="Calibri" pitchFamily="34" charset="-120"/>
            </a:endParaRPr>
          </a:p>
        </p:txBody>
      </p:sp>
      <p:sp>
        <p:nvSpPr>
          <p:cNvPr id="7" name="TextBox 6"/>
          <p:cNvSpPr txBox="1"/>
          <p:nvPr/>
        </p:nvSpPr>
        <p:spPr>
          <a:xfrm>
            <a:off x="11792000" y="6638000"/>
            <a:ext cx="200000" cy="100000"/>
          </a:xfrm>
          <a:prstGeom prst="rect">
            <a:avLst/>
          </a:prstGeom>
          <a:noFill/>
        </p:spPr>
        <p:txBody>
          <a:bodyPr wrap="none">
            <a:spAutoFit/>
          </a:bodyPr>
          <a:lstStyle/>
          <a:p>
            <a:pPr>
              <a:defRPr sz="1000"/>
            </a:pPr>
            <a:r>
              <a:t>69</a:t>
            </a:r>
          </a:p>
        </p:txBody>
      </p:sp>
    </p:spTree>
    <p:extLst>
      <p:ext uri="{BB962C8B-B14F-4D97-AF65-F5344CB8AC3E}">
        <p14:creationId xmlns:p14="http://schemas.microsoft.com/office/powerpoint/2010/main" val="46920164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B0AC4-E3DC-F792-F52C-154041EE4051}"/>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3B98EDC0-0936-2DE3-5221-0564F396D562}"/>
              </a:ext>
            </a:extLst>
          </p:cNvPr>
          <p:cNvSpPr/>
          <p:nvPr/>
        </p:nvSpPr>
        <p:spPr>
          <a:xfrm>
            <a:off x="769434" y="2241395"/>
            <a:ext cx="8541834" cy="468351"/>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 1">
            <a:extLst>
              <a:ext uri="{FF2B5EF4-FFF2-40B4-BE49-F238E27FC236}">
                <a16:creationId xmlns:a16="http://schemas.microsoft.com/office/drawing/2014/main" id="{33668838-745D-374A-90B1-E12E6D5B5D16}"/>
              </a:ext>
            </a:extLst>
          </p:cNvPr>
          <p:cNvSpPr/>
          <p:nvPr/>
        </p:nvSpPr>
        <p:spPr>
          <a:xfrm>
            <a:off x="637850" y="779186"/>
            <a:ext cx="10424160" cy="8229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a:noFill/>
                </a:ln>
                <a:solidFill>
                  <a:srgbClr val="13315C"/>
                </a:solidFill>
                <a:effectLst/>
                <a:uLnTx/>
                <a:uFillTx/>
                <a:latin typeface="Bookman Old Style" pitchFamily="34" charset="0"/>
                <a:ea typeface="+mn-ea"/>
                <a:cs typeface="+mn-cs"/>
              </a:rPr>
              <a:t>Client Side - Active Open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6" name="Text 3">
            <a:extLst>
              <a:ext uri="{FF2B5EF4-FFF2-40B4-BE49-F238E27FC236}">
                <a16:creationId xmlns:a16="http://schemas.microsoft.com/office/drawing/2014/main" id="{3A0DE525-A09D-D3B2-4E4B-E40024020FFF}"/>
              </a:ext>
            </a:extLst>
          </p:cNvPr>
          <p:cNvSpPr/>
          <p:nvPr/>
        </p:nvSpPr>
        <p:spPr>
          <a:xfrm>
            <a:off x="204281" y="1728439"/>
            <a:ext cx="10768519" cy="4477807"/>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3200" b="0" i="0" u="none" strike="noStrike" kern="1200" cap="none" spc="0" normalizeH="0" baseline="0" noProof="0" dirty="0">
              <a:ln>
                <a:noFill/>
              </a:ln>
              <a:solidFill>
                <a:srgbClr val="156082">
                  <a:lumMod val="75000"/>
                </a:srgbClr>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           int connect(int socket, struct </a:t>
            </a:r>
            <a:r>
              <a:rPr kumimoji="0" lang="en-IN" sz="2400" b="0" i="0" u="none" strike="noStrike" kern="1200" cap="none" spc="0" normalizeH="0" baseline="0" noProof="0" dirty="0" err="1">
                <a:ln>
                  <a:noFill/>
                </a:ln>
                <a:solidFill>
                  <a:srgbClr val="156082">
                    <a:lumMod val="75000"/>
                  </a:srgbClr>
                </a:solidFill>
                <a:effectLst/>
                <a:uLnTx/>
                <a:uFillTx/>
                <a:latin typeface="Aptos" panose="02110004020202020204"/>
                <a:ea typeface="+mn-ea"/>
                <a:cs typeface="+mn-cs"/>
              </a:rPr>
              <a:t>sockaddr</a:t>
            </a:r>
            <a:r>
              <a:rPr kumimoji="0" lang="en-IN" sz="2400" b="0"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 *address, int </a:t>
            </a:r>
            <a:r>
              <a:rPr kumimoji="0" lang="en-IN" sz="2400" b="0" i="0" u="none" strike="noStrike" kern="1200" cap="none" spc="0" normalizeH="0" baseline="0" noProof="0" dirty="0" err="1">
                <a:ln>
                  <a:noFill/>
                </a:ln>
                <a:solidFill>
                  <a:srgbClr val="156082">
                    <a:lumMod val="75000"/>
                  </a:srgbClr>
                </a:solidFill>
                <a:effectLst/>
                <a:uLnTx/>
                <a:uFillTx/>
                <a:latin typeface="Aptos" panose="02110004020202020204"/>
                <a:ea typeface="+mn-ea"/>
                <a:cs typeface="+mn-cs"/>
              </a:rPr>
              <a:t>addr_len</a:t>
            </a:r>
            <a:r>
              <a:rPr kumimoji="0" lang="en-IN" sz="2400" b="0"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srgbClr val="156082">
                  <a:lumMod val="75000"/>
                </a:srgbClr>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srgbClr val="156082">
                  <a:lumMod val="75000"/>
                </a:srgbClr>
              </a:solidFill>
              <a:effectLst/>
              <a:uLnTx/>
              <a:uFillTx/>
              <a:latin typeface="Aptos" panose="02110004020202020204"/>
              <a:ea typeface="+mn-ea"/>
              <a:cs typeface="+mn-cs"/>
            </a:endParaRPr>
          </a:p>
          <a:p>
            <a:pPr marL="623888" marR="0" lvl="0" indent="-355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800" b="0"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Client specifies the address of the remote server it wants to connect to</a:t>
            </a:r>
          </a:p>
          <a:p>
            <a:pPr marL="623888" marR="0" lvl="0" indent="-355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800" b="0"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Blocks until TCP successfully establishes the connection</a:t>
            </a:r>
          </a:p>
          <a:p>
            <a:pPr marL="623888" marR="0" lvl="0" indent="-355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800" b="0"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Client generally lets the OS choose its own local port (doesn't care which one)</a:t>
            </a:r>
          </a:p>
          <a:p>
            <a:pPr marL="623888" marR="0" lvl="0" indent="-355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800" b="0"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Server, in contrast, listens on a well-known fixed port</a:t>
            </a:r>
          </a:p>
          <a:p>
            <a:pPr marL="342900" marR="0" lvl="0" indent="-342900" algn="l" defTabSz="914400" rtl="0" eaLnBrk="1" fontAlgn="auto" latinLnBrk="0" hangingPunct="1">
              <a:lnSpc>
                <a:spcPct val="100000"/>
              </a:lnSpc>
              <a:spcBef>
                <a:spcPts val="0"/>
              </a:spcBef>
              <a:spcAft>
                <a:spcPts val="0"/>
              </a:spcAft>
              <a:buClrTx/>
              <a:buSzPct val="150000"/>
              <a:buFont typeface="Calibri" panose="020F0502020204030204" pitchFamily="34" charset="0"/>
              <a:buChar char="•"/>
              <a:tabLst/>
              <a:defRPr/>
            </a:pPr>
            <a:endParaRPr kumimoji="0" lang="en-IN" sz="1600" b="0" i="0" u="none" strike="noStrike" kern="1200" cap="none" spc="0" normalizeH="0" baseline="0" noProof="0" dirty="0">
              <a:ln>
                <a:noFill/>
              </a:ln>
              <a:solidFill>
                <a:srgbClr val="156082">
                  <a:lumMod val="75000"/>
                </a:srgbClr>
              </a:solidFill>
              <a:effectLst/>
              <a:uLnTx/>
              <a:uFillTx/>
              <a:latin typeface="Calibri" pitchFamily="34" charset="0"/>
              <a:ea typeface="Calibri" pitchFamily="34" charset="-122"/>
              <a:cs typeface="Calibri" pitchFamily="34" charset="-120"/>
            </a:endParaRPr>
          </a:p>
        </p:txBody>
      </p:sp>
      <p:sp>
        <p:nvSpPr>
          <p:cNvPr id="7" name="TextBox 6"/>
          <p:cNvSpPr txBox="1"/>
          <p:nvPr/>
        </p:nvSpPr>
        <p:spPr>
          <a:xfrm>
            <a:off x="11792000" y="6638000"/>
            <a:ext cx="200000" cy="100000"/>
          </a:xfrm>
          <a:prstGeom prst="rect">
            <a:avLst/>
          </a:prstGeom>
          <a:noFill/>
        </p:spPr>
        <p:txBody>
          <a:bodyPr wrap="none">
            <a:spAutoFit/>
          </a:bodyPr>
          <a:lstStyle/>
          <a:p>
            <a:pPr>
              <a:defRPr sz="1000"/>
            </a:pPr>
            <a:r>
              <a:t>70</a:t>
            </a:r>
          </a:p>
        </p:txBody>
      </p:sp>
    </p:spTree>
    <p:extLst>
      <p:ext uri="{BB962C8B-B14F-4D97-AF65-F5344CB8AC3E}">
        <p14:creationId xmlns:p14="http://schemas.microsoft.com/office/powerpoint/2010/main" val="151465100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B9A53-5397-E5E2-99B0-01CE4144B1AB}"/>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243D3DA-CF7E-868F-ACEB-97C5B814C8F4}"/>
              </a:ext>
            </a:extLst>
          </p:cNvPr>
          <p:cNvSpPr/>
          <p:nvPr/>
        </p:nvSpPr>
        <p:spPr>
          <a:xfrm>
            <a:off x="1304693" y="2475571"/>
            <a:ext cx="8653346" cy="1059366"/>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ext 3">
            <a:extLst>
              <a:ext uri="{FF2B5EF4-FFF2-40B4-BE49-F238E27FC236}">
                <a16:creationId xmlns:a16="http://schemas.microsoft.com/office/drawing/2014/main" id="{D0FE7880-6257-0AAC-7876-FAED511EE7E9}"/>
              </a:ext>
            </a:extLst>
          </p:cNvPr>
          <p:cNvSpPr/>
          <p:nvPr/>
        </p:nvSpPr>
        <p:spPr>
          <a:xfrm>
            <a:off x="204281" y="1313233"/>
            <a:ext cx="6237375" cy="4893013"/>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0"/>
              </a:spcBef>
              <a:spcAft>
                <a:spcPts val="0"/>
              </a:spcAft>
              <a:buClrTx/>
              <a:buSzPct val="150000"/>
              <a:buFont typeface="Calibri" panose="020F0502020204030204" pitchFamily="34" charset="0"/>
              <a:buChar char="•"/>
              <a:tabLst/>
              <a:defRPr/>
            </a:pPr>
            <a:endParaRPr kumimoji="0" lang="en-IN" sz="3200" b="0"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endParaRPr>
          </a:p>
        </p:txBody>
      </p:sp>
      <p:sp>
        <p:nvSpPr>
          <p:cNvPr id="7" name="TextBox 6">
            <a:extLst>
              <a:ext uri="{FF2B5EF4-FFF2-40B4-BE49-F238E27FC236}">
                <a16:creationId xmlns:a16="http://schemas.microsoft.com/office/drawing/2014/main" id="{91322EC8-B20A-8106-92CE-6861140A15BD}"/>
              </a:ext>
            </a:extLst>
          </p:cNvPr>
          <p:cNvSpPr txBox="1"/>
          <p:nvPr/>
        </p:nvSpPr>
        <p:spPr>
          <a:xfrm>
            <a:off x="457200" y="2101738"/>
            <a:ext cx="11025582" cy="35394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800" b="0" i="0" u="none" strike="noStrike" kern="1200" cap="none" spc="0" normalizeH="0" baseline="0" noProof="0" dirty="0">
              <a:ln>
                <a:noFill/>
              </a:ln>
              <a:solidFill>
                <a:srgbClr val="156082">
                  <a:lumMod val="75000"/>
                </a:srgbClr>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0" i="0" u="none" strike="noStrike" kern="1200" cap="none" spc="0" normalizeH="0" baseline="0" noProof="0" dirty="0">
                <a:ln>
                  <a:noFill/>
                </a:ln>
                <a:solidFill>
                  <a:srgbClr val="156082">
                    <a:lumMod val="75000"/>
                  </a:srgbClr>
                </a:solidFill>
                <a:effectLst/>
                <a:uLnTx/>
                <a:uFillTx/>
                <a:latin typeface="var(--font-mono)"/>
                <a:ea typeface="+mn-ea"/>
                <a:cs typeface="+mn-cs"/>
              </a:rPr>
              <a:t>	int send(int socket, char *message, int </a:t>
            </a:r>
            <a:r>
              <a:rPr kumimoji="0" lang="en-IN" sz="2800" b="0" i="0" u="none" strike="noStrike" kern="1200" cap="none" spc="0" normalizeH="0" baseline="0" noProof="0" dirty="0" err="1">
                <a:ln>
                  <a:noFill/>
                </a:ln>
                <a:solidFill>
                  <a:srgbClr val="156082">
                    <a:lumMod val="75000"/>
                  </a:srgbClr>
                </a:solidFill>
                <a:effectLst/>
                <a:uLnTx/>
                <a:uFillTx/>
                <a:latin typeface="var(--font-mono)"/>
                <a:ea typeface="+mn-ea"/>
                <a:cs typeface="+mn-cs"/>
              </a:rPr>
              <a:t>msg_len</a:t>
            </a:r>
            <a:r>
              <a:rPr kumimoji="0" lang="en-IN" sz="2800" b="0" i="0" u="none" strike="noStrike" kern="1200" cap="none" spc="0" normalizeH="0" baseline="0" noProof="0" dirty="0">
                <a:ln>
                  <a:noFill/>
                </a:ln>
                <a:solidFill>
                  <a:srgbClr val="156082">
                    <a:lumMod val="75000"/>
                  </a:srgbClr>
                </a:solidFill>
                <a:effectLst/>
                <a:uLnTx/>
                <a:uFillTx/>
                <a:latin typeface="var(--font-mono)"/>
                <a:ea typeface="+mn-ea"/>
                <a:cs typeface="+mn-cs"/>
              </a:rPr>
              <a:t>, int flags);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0" i="0" u="none" strike="noStrike" kern="1200" cap="none" spc="0" normalizeH="0" baseline="0" noProof="0" dirty="0">
                <a:ln>
                  <a:noFill/>
                </a:ln>
                <a:solidFill>
                  <a:srgbClr val="156082">
                    <a:lumMod val="75000"/>
                  </a:srgbClr>
                </a:solidFill>
                <a:effectLst/>
                <a:uLnTx/>
                <a:uFillTx/>
                <a:latin typeface="var(--font-mono)"/>
                <a:ea typeface="+mn-ea"/>
                <a:cs typeface="+mn-cs"/>
              </a:rPr>
              <a:t>	int </a:t>
            </a:r>
            <a:r>
              <a:rPr kumimoji="0" lang="en-IN" sz="2800" b="0" i="0" u="none" strike="noStrike" kern="1200" cap="none" spc="0" normalizeH="0" baseline="0" noProof="0" dirty="0" err="1">
                <a:ln>
                  <a:noFill/>
                </a:ln>
                <a:solidFill>
                  <a:srgbClr val="156082">
                    <a:lumMod val="75000"/>
                  </a:srgbClr>
                </a:solidFill>
                <a:effectLst/>
                <a:uLnTx/>
                <a:uFillTx/>
                <a:latin typeface="var(--font-mono)"/>
                <a:ea typeface="+mn-ea"/>
                <a:cs typeface="+mn-cs"/>
              </a:rPr>
              <a:t>recv</a:t>
            </a:r>
            <a:r>
              <a:rPr kumimoji="0" lang="en-IN" sz="2800" b="0" i="0" u="none" strike="noStrike" kern="1200" cap="none" spc="0" normalizeH="0" baseline="0" noProof="0" dirty="0">
                <a:ln>
                  <a:noFill/>
                </a:ln>
                <a:solidFill>
                  <a:srgbClr val="156082">
                    <a:lumMod val="75000"/>
                  </a:srgbClr>
                </a:solidFill>
                <a:effectLst/>
                <a:uLnTx/>
                <a:uFillTx/>
                <a:latin typeface="var(--font-mono)"/>
                <a:ea typeface="+mn-ea"/>
                <a:cs typeface="+mn-cs"/>
              </a:rPr>
              <a:t>(int socket, char *buffer, int </a:t>
            </a:r>
            <a:r>
              <a:rPr kumimoji="0" lang="en-IN" sz="2800" b="0" i="0" u="none" strike="noStrike" kern="1200" cap="none" spc="0" normalizeH="0" baseline="0" noProof="0" dirty="0" err="1">
                <a:ln>
                  <a:noFill/>
                </a:ln>
                <a:solidFill>
                  <a:srgbClr val="156082">
                    <a:lumMod val="75000"/>
                  </a:srgbClr>
                </a:solidFill>
                <a:effectLst/>
                <a:uLnTx/>
                <a:uFillTx/>
                <a:latin typeface="var(--font-mono)"/>
                <a:ea typeface="+mn-ea"/>
                <a:cs typeface="+mn-cs"/>
              </a:rPr>
              <a:t>buf_len</a:t>
            </a:r>
            <a:r>
              <a:rPr kumimoji="0" lang="en-IN" sz="2800" b="0" i="0" u="none" strike="noStrike" kern="1200" cap="none" spc="0" normalizeH="0" baseline="0" noProof="0" dirty="0">
                <a:ln>
                  <a:noFill/>
                </a:ln>
                <a:solidFill>
                  <a:srgbClr val="156082">
                    <a:lumMod val="75000"/>
                  </a:srgbClr>
                </a:solidFill>
                <a:effectLst/>
                <a:uLnTx/>
                <a:uFillTx/>
                <a:latin typeface="var(--font-mono)"/>
                <a:ea typeface="+mn-ea"/>
                <a:cs typeface="+mn-cs"/>
              </a:rPr>
              <a:t>, int flags);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800" b="0" i="0" u="none" strike="noStrike" kern="1200" cap="none" spc="0" normalizeH="0" baseline="0" noProof="0" dirty="0">
              <a:ln>
                <a:noFill/>
              </a:ln>
              <a:solidFill>
                <a:srgbClr val="156082">
                  <a:lumMod val="75000"/>
                </a:srgbClr>
              </a:solidFill>
              <a:effectLst/>
              <a:uLnTx/>
              <a:uFillTx/>
              <a:latin typeface="var(--font-mono)"/>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800" b="1"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 send()</a:t>
            </a:r>
            <a:r>
              <a:rPr kumimoji="0" lang="en-IN" sz="2800" b="0"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 → transmits a message over the connected socket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800" b="1"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 </a:t>
            </a:r>
            <a:r>
              <a:rPr kumimoji="0" lang="en-IN" sz="2800" b="1" i="0" u="none" strike="noStrike" kern="1200" cap="none" spc="0" normalizeH="0" baseline="0" noProof="0" dirty="0" err="1">
                <a:ln>
                  <a:noFill/>
                </a:ln>
                <a:solidFill>
                  <a:srgbClr val="156082">
                    <a:lumMod val="75000"/>
                  </a:srgbClr>
                </a:solidFill>
                <a:effectLst/>
                <a:uLnTx/>
                <a:uFillTx/>
                <a:latin typeface="Aptos" panose="02110004020202020204"/>
                <a:ea typeface="+mn-ea"/>
                <a:cs typeface="+mn-cs"/>
              </a:rPr>
              <a:t>recv</a:t>
            </a:r>
            <a:r>
              <a:rPr kumimoji="0" lang="en-IN" sz="2800" b="1"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a:t>
            </a:r>
            <a:r>
              <a:rPr kumimoji="0" lang="en-IN" sz="2800" b="0"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 → receives a message into a buffer</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800" b="0"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 Both accept </a:t>
            </a:r>
            <a:r>
              <a:rPr kumimoji="0" lang="en-IN" sz="2800" b="1"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flags</a:t>
            </a:r>
            <a:r>
              <a:rPr kumimoji="0" lang="en-IN" sz="2800" b="0"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 to control operation details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800" b="0" i="0" u="none" strike="noStrike" kern="1200" cap="none" spc="0" normalizeH="0" baseline="0" noProof="0" dirty="0">
                <a:ln>
                  <a:noFill/>
                </a:ln>
                <a:solidFill>
                  <a:srgbClr val="156082">
                    <a:lumMod val="75000"/>
                  </a:srgbClr>
                </a:solidFill>
                <a:effectLst/>
                <a:uLnTx/>
                <a:uFillTx/>
                <a:latin typeface="Aptos" panose="02110004020202020204"/>
                <a:ea typeface="+mn-ea"/>
                <a:cs typeface="+mn-cs"/>
              </a:rPr>
              <a:t> Used after connection is successfully established (client &amp; server)</a:t>
            </a:r>
          </a:p>
        </p:txBody>
      </p:sp>
      <p:sp>
        <p:nvSpPr>
          <p:cNvPr id="9" name="TextBox 8">
            <a:extLst>
              <a:ext uri="{FF2B5EF4-FFF2-40B4-BE49-F238E27FC236}">
                <a16:creationId xmlns:a16="http://schemas.microsoft.com/office/drawing/2014/main" id="{15D54EBC-B3DC-CE79-0E5F-0BA44D6FF039}"/>
              </a:ext>
            </a:extLst>
          </p:cNvPr>
          <p:cNvSpPr txBox="1"/>
          <p:nvPr/>
        </p:nvSpPr>
        <p:spPr>
          <a:xfrm>
            <a:off x="1377174" y="854886"/>
            <a:ext cx="7989847"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a:noFill/>
                </a:ln>
                <a:solidFill>
                  <a:srgbClr val="13315C"/>
                </a:solidFill>
                <a:effectLst/>
                <a:uLnTx/>
                <a:uFillTx/>
                <a:latin typeface="Bookman Old Style" pitchFamily="34" charset="0"/>
                <a:ea typeface="+mn-ea"/>
                <a:cs typeface="+mn-cs"/>
              </a:rPr>
              <a:t>Sending and Receiving Data</a:t>
            </a:r>
          </a:p>
        </p:txBody>
      </p:sp>
      <p:sp>
        <p:nvSpPr>
          <p:cNvPr id="10" name="TextBox 9"/>
          <p:cNvSpPr txBox="1"/>
          <p:nvPr/>
        </p:nvSpPr>
        <p:spPr>
          <a:xfrm>
            <a:off x="11792000" y="6638000"/>
            <a:ext cx="200000" cy="100000"/>
          </a:xfrm>
          <a:prstGeom prst="rect">
            <a:avLst/>
          </a:prstGeom>
          <a:noFill/>
        </p:spPr>
        <p:txBody>
          <a:bodyPr wrap="none">
            <a:spAutoFit/>
          </a:bodyPr>
          <a:lstStyle/>
          <a:p>
            <a:pPr>
              <a:defRPr sz="1000"/>
            </a:pPr>
            <a:r>
              <a:t>71</a:t>
            </a:r>
          </a:p>
        </p:txBody>
      </p:sp>
    </p:spTree>
    <p:extLst>
      <p:ext uri="{BB962C8B-B14F-4D97-AF65-F5344CB8AC3E}">
        <p14:creationId xmlns:p14="http://schemas.microsoft.com/office/powerpoint/2010/main" val="363665588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79C24-307D-82D7-46CA-3E52DA2745F2}"/>
            </a:ext>
          </a:extLst>
        </p:cNvPr>
        <p:cNvGrpSpPr/>
        <p:nvPr/>
      </p:nvGrpSpPr>
      <p:grpSpPr>
        <a:xfrm>
          <a:off x="0" y="0"/>
          <a:ext cx="0" cy="0"/>
          <a:chOff x="0" y="0"/>
          <a:chExt cx="0" cy="0"/>
        </a:xfrm>
      </p:grpSpPr>
      <p:sp>
        <p:nvSpPr>
          <p:cNvPr id="6" name="Text 3">
            <a:extLst>
              <a:ext uri="{FF2B5EF4-FFF2-40B4-BE49-F238E27FC236}">
                <a16:creationId xmlns:a16="http://schemas.microsoft.com/office/drawing/2014/main" id="{BBD208F5-BCFA-57D8-7397-CEA42FD7D77D}"/>
              </a:ext>
            </a:extLst>
          </p:cNvPr>
          <p:cNvSpPr/>
          <p:nvPr/>
        </p:nvSpPr>
        <p:spPr>
          <a:xfrm>
            <a:off x="204281" y="1313233"/>
            <a:ext cx="6237375" cy="4893013"/>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0"/>
              </a:spcBef>
              <a:spcAft>
                <a:spcPts val="0"/>
              </a:spcAft>
              <a:buClrTx/>
              <a:buSzPct val="150000"/>
              <a:buFont typeface="Calibri" panose="020F0502020204030204" pitchFamily="34" charset="0"/>
              <a:buChar char="•"/>
              <a:tabLst/>
              <a:defRPr/>
            </a:pPr>
            <a:endParaRPr kumimoji="0" lang="en-IN" sz="1200" b="0" i="0" u="none" strike="noStrike" kern="1200" cap="none" spc="0" normalizeH="0" baseline="0" noProof="0" dirty="0">
              <a:ln>
                <a:noFill/>
              </a:ln>
              <a:solidFill>
                <a:srgbClr val="13315C"/>
              </a:solidFill>
              <a:effectLst/>
              <a:uLnTx/>
              <a:uFillTx/>
              <a:latin typeface="Calibri" pitchFamily="34" charset="0"/>
              <a:ea typeface="Calibri" pitchFamily="34" charset="-122"/>
              <a:cs typeface="Calibri" pitchFamily="34" charset="-120"/>
            </a:endParaRPr>
          </a:p>
        </p:txBody>
      </p:sp>
      <p:sp>
        <p:nvSpPr>
          <p:cNvPr id="8" name="Text 5">
            <a:extLst>
              <a:ext uri="{FF2B5EF4-FFF2-40B4-BE49-F238E27FC236}">
                <a16:creationId xmlns:a16="http://schemas.microsoft.com/office/drawing/2014/main" id="{C8044F36-CBAA-8C09-05D7-08C0B051E748}"/>
              </a:ext>
            </a:extLst>
          </p:cNvPr>
          <p:cNvSpPr/>
          <p:nvPr/>
        </p:nvSpPr>
        <p:spPr>
          <a:xfrm>
            <a:off x="6675120" y="1691639"/>
            <a:ext cx="4663440" cy="3201373"/>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Program</a:t>
            </a:r>
            <a:endParaRPr kumimoji="0" lang="en-US" sz="13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1" name="Text 8">
            <a:extLst>
              <a:ext uri="{FF2B5EF4-FFF2-40B4-BE49-F238E27FC236}">
                <a16:creationId xmlns:a16="http://schemas.microsoft.com/office/drawing/2014/main" id="{D62797A1-B59B-48A5-A34B-1C3907BC4B47}"/>
              </a:ext>
            </a:extLst>
          </p:cNvPr>
          <p:cNvSpPr/>
          <p:nvPr/>
        </p:nvSpPr>
        <p:spPr>
          <a:xfrm>
            <a:off x="6675120" y="2606040"/>
            <a:ext cx="4663440" cy="7132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Process-to-Process Channel</a:t>
            </a:r>
            <a:endParaRPr kumimoji="0" lang="en-US" sz="13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aphicFrame>
        <p:nvGraphicFramePr>
          <p:cNvPr id="4" name="Table 3">
            <a:extLst>
              <a:ext uri="{FF2B5EF4-FFF2-40B4-BE49-F238E27FC236}">
                <a16:creationId xmlns:a16="http://schemas.microsoft.com/office/drawing/2014/main" id="{45F55582-C4E0-E089-9C3C-5DABDA6CCF73}"/>
              </a:ext>
            </a:extLst>
          </p:cNvPr>
          <p:cNvGraphicFramePr>
            <a:graphicFrameLocks noGrp="1"/>
          </p:cNvGraphicFramePr>
          <p:nvPr/>
        </p:nvGraphicFramePr>
        <p:xfrm>
          <a:off x="838200" y="1943894"/>
          <a:ext cx="8205439" cy="3291840"/>
        </p:xfrm>
        <a:graphic>
          <a:graphicData uri="http://schemas.openxmlformats.org/drawingml/2006/table">
            <a:tbl>
              <a:tblPr>
                <a:tableStyleId>{5940675A-B579-460E-94D1-54222C63F5DA}</a:tableStyleId>
              </a:tblPr>
              <a:tblGrid>
                <a:gridCol w="1564805">
                  <a:extLst>
                    <a:ext uri="{9D8B030D-6E8A-4147-A177-3AD203B41FA5}">
                      <a16:colId xmlns:a16="http://schemas.microsoft.com/office/drawing/2014/main" val="944402336"/>
                    </a:ext>
                  </a:extLst>
                </a:gridCol>
                <a:gridCol w="1652604">
                  <a:extLst>
                    <a:ext uri="{9D8B030D-6E8A-4147-A177-3AD203B41FA5}">
                      <a16:colId xmlns:a16="http://schemas.microsoft.com/office/drawing/2014/main" val="700191133"/>
                    </a:ext>
                  </a:extLst>
                </a:gridCol>
                <a:gridCol w="4988030">
                  <a:extLst>
                    <a:ext uri="{9D8B030D-6E8A-4147-A177-3AD203B41FA5}">
                      <a16:colId xmlns:a16="http://schemas.microsoft.com/office/drawing/2014/main" val="2564088872"/>
                    </a:ext>
                  </a:extLst>
                </a:gridCol>
              </a:tblGrid>
              <a:tr h="0">
                <a:tc>
                  <a:txBody>
                    <a:bodyPr/>
                    <a:lstStyle/>
                    <a:p>
                      <a:pPr>
                        <a:buNone/>
                      </a:pPr>
                      <a:r>
                        <a:rPr lang="en-IN">
                          <a:solidFill>
                            <a:schemeClr val="accent1">
                              <a:lumMod val="75000"/>
                            </a:schemeClr>
                          </a:solidFill>
                        </a:rPr>
                        <a:t>Operation</a:t>
                      </a:r>
                    </a:p>
                  </a:txBody>
                  <a:tcPr anchor="ctr">
                    <a:solidFill>
                      <a:schemeClr val="bg2">
                        <a:lumMod val="90000"/>
                      </a:schemeClr>
                    </a:solidFill>
                  </a:tcPr>
                </a:tc>
                <a:tc>
                  <a:txBody>
                    <a:bodyPr/>
                    <a:lstStyle/>
                    <a:p>
                      <a:pPr>
                        <a:buNone/>
                      </a:pPr>
                      <a:r>
                        <a:rPr lang="en-IN">
                          <a:solidFill>
                            <a:schemeClr val="accent1">
                              <a:lumMod val="75000"/>
                            </a:schemeClr>
                          </a:solidFill>
                        </a:rPr>
                        <a:t>Used By</a:t>
                      </a:r>
                    </a:p>
                  </a:txBody>
                  <a:tcPr anchor="ctr">
                    <a:solidFill>
                      <a:schemeClr val="bg2">
                        <a:lumMod val="90000"/>
                      </a:schemeClr>
                    </a:solidFill>
                  </a:tcPr>
                </a:tc>
                <a:tc>
                  <a:txBody>
                    <a:bodyPr/>
                    <a:lstStyle/>
                    <a:p>
                      <a:pPr>
                        <a:buNone/>
                      </a:pPr>
                      <a:r>
                        <a:rPr lang="en-IN" dirty="0">
                          <a:solidFill>
                            <a:schemeClr val="accent1">
                              <a:lumMod val="75000"/>
                            </a:schemeClr>
                          </a:solidFill>
                        </a:rPr>
                        <a:t>Purpose</a:t>
                      </a:r>
                    </a:p>
                  </a:txBody>
                  <a:tcPr anchor="ctr">
                    <a:solidFill>
                      <a:schemeClr val="bg2">
                        <a:lumMod val="90000"/>
                      </a:schemeClr>
                    </a:solidFill>
                  </a:tcPr>
                </a:tc>
                <a:extLst>
                  <a:ext uri="{0D108BD9-81ED-4DB2-BD59-A6C34878D82A}">
                    <a16:rowId xmlns:a16="http://schemas.microsoft.com/office/drawing/2014/main" val="2563043317"/>
                  </a:ext>
                </a:extLst>
              </a:tr>
              <a:tr h="0">
                <a:tc>
                  <a:txBody>
                    <a:bodyPr/>
                    <a:lstStyle/>
                    <a:p>
                      <a:pPr>
                        <a:buNone/>
                      </a:pPr>
                      <a:r>
                        <a:rPr lang="en-IN">
                          <a:solidFill>
                            <a:schemeClr val="accent1">
                              <a:lumMod val="75000"/>
                            </a:schemeClr>
                          </a:solidFill>
                        </a:rPr>
                        <a:t>socket()</a:t>
                      </a:r>
                    </a:p>
                  </a:txBody>
                  <a:tcPr anchor="ctr"/>
                </a:tc>
                <a:tc>
                  <a:txBody>
                    <a:bodyPr/>
                    <a:lstStyle/>
                    <a:p>
                      <a:pPr>
                        <a:buNone/>
                      </a:pPr>
                      <a:r>
                        <a:rPr lang="en-IN">
                          <a:solidFill>
                            <a:schemeClr val="accent1">
                              <a:lumMod val="75000"/>
                            </a:schemeClr>
                          </a:solidFill>
                        </a:rPr>
                        <a:t>Both</a:t>
                      </a:r>
                    </a:p>
                  </a:txBody>
                  <a:tcPr anchor="ctr"/>
                </a:tc>
                <a:tc>
                  <a:txBody>
                    <a:bodyPr/>
                    <a:lstStyle/>
                    <a:p>
                      <a:pPr>
                        <a:buNone/>
                      </a:pPr>
                      <a:r>
                        <a:rPr lang="en-IN">
                          <a:solidFill>
                            <a:schemeClr val="accent1">
                              <a:lumMod val="75000"/>
                            </a:schemeClr>
                          </a:solidFill>
                        </a:rPr>
                        <a:t>Create a socket</a:t>
                      </a:r>
                    </a:p>
                  </a:txBody>
                  <a:tcPr anchor="ctr"/>
                </a:tc>
                <a:extLst>
                  <a:ext uri="{0D108BD9-81ED-4DB2-BD59-A6C34878D82A}">
                    <a16:rowId xmlns:a16="http://schemas.microsoft.com/office/drawing/2014/main" val="3580059155"/>
                  </a:ext>
                </a:extLst>
              </a:tr>
              <a:tr h="0">
                <a:tc>
                  <a:txBody>
                    <a:bodyPr/>
                    <a:lstStyle/>
                    <a:p>
                      <a:pPr>
                        <a:buNone/>
                      </a:pPr>
                      <a:r>
                        <a:rPr lang="en-IN">
                          <a:solidFill>
                            <a:schemeClr val="accent1">
                              <a:lumMod val="75000"/>
                            </a:schemeClr>
                          </a:solidFill>
                        </a:rPr>
                        <a:t>bind()</a:t>
                      </a:r>
                    </a:p>
                  </a:txBody>
                  <a:tcPr anchor="ctr"/>
                </a:tc>
                <a:tc>
                  <a:txBody>
                    <a:bodyPr/>
                    <a:lstStyle/>
                    <a:p>
                      <a:pPr>
                        <a:buNone/>
                      </a:pPr>
                      <a:r>
                        <a:rPr lang="en-IN">
                          <a:solidFill>
                            <a:schemeClr val="accent1">
                              <a:lumMod val="75000"/>
                            </a:schemeClr>
                          </a:solidFill>
                        </a:rPr>
                        <a:t>Server</a:t>
                      </a:r>
                    </a:p>
                  </a:txBody>
                  <a:tcPr anchor="ctr"/>
                </a:tc>
                <a:tc>
                  <a:txBody>
                    <a:bodyPr/>
                    <a:lstStyle/>
                    <a:p>
                      <a:pPr>
                        <a:buNone/>
                      </a:pPr>
                      <a:r>
                        <a:rPr lang="en-IN">
                          <a:solidFill>
                            <a:schemeClr val="accent1">
                              <a:lumMod val="75000"/>
                            </a:schemeClr>
                          </a:solidFill>
                        </a:rPr>
                        <a:t>Attach socket to local address/port</a:t>
                      </a:r>
                    </a:p>
                  </a:txBody>
                  <a:tcPr anchor="ctr"/>
                </a:tc>
                <a:extLst>
                  <a:ext uri="{0D108BD9-81ED-4DB2-BD59-A6C34878D82A}">
                    <a16:rowId xmlns:a16="http://schemas.microsoft.com/office/drawing/2014/main" val="373347845"/>
                  </a:ext>
                </a:extLst>
              </a:tr>
              <a:tr h="0">
                <a:tc>
                  <a:txBody>
                    <a:bodyPr/>
                    <a:lstStyle/>
                    <a:p>
                      <a:pPr>
                        <a:buNone/>
                      </a:pPr>
                      <a:r>
                        <a:rPr lang="en-IN">
                          <a:solidFill>
                            <a:schemeClr val="accent1">
                              <a:lumMod val="75000"/>
                            </a:schemeClr>
                          </a:solidFill>
                        </a:rPr>
                        <a:t>listen()</a:t>
                      </a:r>
                    </a:p>
                  </a:txBody>
                  <a:tcPr anchor="ctr"/>
                </a:tc>
                <a:tc>
                  <a:txBody>
                    <a:bodyPr/>
                    <a:lstStyle/>
                    <a:p>
                      <a:pPr>
                        <a:buNone/>
                      </a:pPr>
                      <a:r>
                        <a:rPr lang="en-IN">
                          <a:solidFill>
                            <a:schemeClr val="accent1">
                              <a:lumMod val="75000"/>
                            </a:schemeClr>
                          </a:solidFill>
                        </a:rPr>
                        <a:t>Server</a:t>
                      </a:r>
                    </a:p>
                  </a:txBody>
                  <a:tcPr anchor="ctr"/>
                </a:tc>
                <a:tc>
                  <a:txBody>
                    <a:bodyPr/>
                    <a:lstStyle/>
                    <a:p>
                      <a:pPr>
                        <a:buNone/>
                      </a:pPr>
                      <a:r>
                        <a:rPr lang="en-IN">
                          <a:solidFill>
                            <a:schemeClr val="accent1">
                              <a:lumMod val="75000"/>
                            </a:schemeClr>
                          </a:solidFill>
                        </a:rPr>
                        <a:t>Set pending connection queue size</a:t>
                      </a:r>
                    </a:p>
                  </a:txBody>
                  <a:tcPr anchor="ctr"/>
                </a:tc>
                <a:extLst>
                  <a:ext uri="{0D108BD9-81ED-4DB2-BD59-A6C34878D82A}">
                    <a16:rowId xmlns:a16="http://schemas.microsoft.com/office/drawing/2014/main" val="1854141007"/>
                  </a:ext>
                </a:extLst>
              </a:tr>
              <a:tr h="0">
                <a:tc>
                  <a:txBody>
                    <a:bodyPr/>
                    <a:lstStyle/>
                    <a:p>
                      <a:pPr>
                        <a:buNone/>
                      </a:pPr>
                      <a:r>
                        <a:rPr lang="en-IN">
                          <a:solidFill>
                            <a:schemeClr val="accent1">
                              <a:lumMod val="75000"/>
                            </a:schemeClr>
                          </a:solidFill>
                        </a:rPr>
                        <a:t>accept()</a:t>
                      </a:r>
                    </a:p>
                  </a:txBody>
                  <a:tcPr anchor="ctr"/>
                </a:tc>
                <a:tc>
                  <a:txBody>
                    <a:bodyPr/>
                    <a:lstStyle/>
                    <a:p>
                      <a:pPr>
                        <a:buNone/>
                      </a:pPr>
                      <a:r>
                        <a:rPr lang="en-IN">
                          <a:solidFill>
                            <a:schemeClr val="accent1">
                              <a:lumMod val="75000"/>
                            </a:schemeClr>
                          </a:solidFill>
                        </a:rPr>
                        <a:t>Server</a:t>
                      </a:r>
                    </a:p>
                  </a:txBody>
                  <a:tcPr anchor="ctr"/>
                </a:tc>
                <a:tc>
                  <a:txBody>
                    <a:bodyPr/>
                    <a:lstStyle/>
                    <a:p>
                      <a:pPr>
                        <a:buNone/>
                      </a:pPr>
                      <a:r>
                        <a:rPr lang="en-IN">
                          <a:solidFill>
                            <a:schemeClr val="accent1">
                              <a:lumMod val="75000"/>
                            </a:schemeClr>
                          </a:solidFill>
                        </a:rPr>
                        <a:t>Accept incoming connection (blocking)</a:t>
                      </a:r>
                    </a:p>
                  </a:txBody>
                  <a:tcPr anchor="ctr"/>
                </a:tc>
                <a:extLst>
                  <a:ext uri="{0D108BD9-81ED-4DB2-BD59-A6C34878D82A}">
                    <a16:rowId xmlns:a16="http://schemas.microsoft.com/office/drawing/2014/main" val="543139169"/>
                  </a:ext>
                </a:extLst>
              </a:tr>
              <a:tr h="0">
                <a:tc>
                  <a:txBody>
                    <a:bodyPr/>
                    <a:lstStyle/>
                    <a:p>
                      <a:pPr>
                        <a:buNone/>
                      </a:pPr>
                      <a:r>
                        <a:rPr lang="en-IN">
                          <a:solidFill>
                            <a:schemeClr val="accent1">
                              <a:lumMod val="75000"/>
                            </a:schemeClr>
                          </a:solidFill>
                        </a:rPr>
                        <a:t>connect()</a:t>
                      </a:r>
                    </a:p>
                  </a:txBody>
                  <a:tcPr anchor="ctr"/>
                </a:tc>
                <a:tc>
                  <a:txBody>
                    <a:bodyPr/>
                    <a:lstStyle/>
                    <a:p>
                      <a:pPr>
                        <a:buNone/>
                      </a:pPr>
                      <a:r>
                        <a:rPr lang="en-IN">
                          <a:solidFill>
                            <a:schemeClr val="accent1">
                              <a:lumMod val="75000"/>
                            </a:schemeClr>
                          </a:solidFill>
                        </a:rPr>
                        <a:t>Client</a:t>
                      </a:r>
                    </a:p>
                  </a:txBody>
                  <a:tcPr anchor="ctr"/>
                </a:tc>
                <a:tc>
                  <a:txBody>
                    <a:bodyPr/>
                    <a:lstStyle/>
                    <a:p>
                      <a:pPr>
                        <a:buNone/>
                      </a:pPr>
                      <a:r>
                        <a:rPr lang="en-IN">
                          <a:solidFill>
                            <a:schemeClr val="accent1">
                              <a:lumMod val="75000"/>
                            </a:schemeClr>
                          </a:solidFill>
                        </a:rPr>
                        <a:t>Initiate connection to server</a:t>
                      </a:r>
                    </a:p>
                  </a:txBody>
                  <a:tcPr anchor="ctr"/>
                </a:tc>
                <a:extLst>
                  <a:ext uri="{0D108BD9-81ED-4DB2-BD59-A6C34878D82A}">
                    <a16:rowId xmlns:a16="http://schemas.microsoft.com/office/drawing/2014/main" val="1011840506"/>
                  </a:ext>
                </a:extLst>
              </a:tr>
              <a:tr h="0">
                <a:tc>
                  <a:txBody>
                    <a:bodyPr/>
                    <a:lstStyle/>
                    <a:p>
                      <a:pPr>
                        <a:buNone/>
                      </a:pPr>
                      <a:r>
                        <a:rPr lang="en-IN">
                          <a:solidFill>
                            <a:schemeClr val="accent1">
                              <a:lumMod val="75000"/>
                            </a:schemeClr>
                          </a:solidFill>
                        </a:rPr>
                        <a:t>send()</a:t>
                      </a:r>
                    </a:p>
                  </a:txBody>
                  <a:tcPr anchor="ctr"/>
                </a:tc>
                <a:tc>
                  <a:txBody>
                    <a:bodyPr/>
                    <a:lstStyle/>
                    <a:p>
                      <a:pPr>
                        <a:buNone/>
                      </a:pPr>
                      <a:r>
                        <a:rPr lang="en-IN">
                          <a:solidFill>
                            <a:schemeClr val="accent1">
                              <a:lumMod val="75000"/>
                            </a:schemeClr>
                          </a:solidFill>
                        </a:rPr>
                        <a:t>Both</a:t>
                      </a:r>
                    </a:p>
                  </a:txBody>
                  <a:tcPr anchor="ctr"/>
                </a:tc>
                <a:tc>
                  <a:txBody>
                    <a:bodyPr/>
                    <a:lstStyle/>
                    <a:p>
                      <a:pPr>
                        <a:buNone/>
                      </a:pPr>
                      <a:r>
                        <a:rPr lang="en-IN">
                          <a:solidFill>
                            <a:schemeClr val="accent1">
                              <a:lumMod val="75000"/>
                            </a:schemeClr>
                          </a:solidFill>
                        </a:rPr>
                        <a:t>Send data</a:t>
                      </a:r>
                    </a:p>
                  </a:txBody>
                  <a:tcPr anchor="ctr"/>
                </a:tc>
                <a:extLst>
                  <a:ext uri="{0D108BD9-81ED-4DB2-BD59-A6C34878D82A}">
                    <a16:rowId xmlns:a16="http://schemas.microsoft.com/office/drawing/2014/main" val="672614448"/>
                  </a:ext>
                </a:extLst>
              </a:tr>
              <a:tr h="0">
                <a:tc>
                  <a:txBody>
                    <a:bodyPr/>
                    <a:lstStyle/>
                    <a:p>
                      <a:pPr>
                        <a:buNone/>
                      </a:pPr>
                      <a:r>
                        <a:rPr lang="en-IN">
                          <a:solidFill>
                            <a:schemeClr val="accent1">
                              <a:lumMod val="75000"/>
                            </a:schemeClr>
                          </a:solidFill>
                        </a:rPr>
                        <a:t>recv()</a:t>
                      </a:r>
                    </a:p>
                  </a:txBody>
                  <a:tcPr anchor="ctr"/>
                </a:tc>
                <a:tc>
                  <a:txBody>
                    <a:bodyPr/>
                    <a:lstStyle/>
                    <a:p>
                      <a:pPr>
                        <a:buNone/>
                      </a:pPr>
                      <a:r>
                        <a:rPr lang="en-IN">
                          <a:solidFill>
                            <a:schemeClr val="accent1">
                              <a:lumMod val="75000"/>
                            </a:schemeClr>
                          </a:solidFill>
                        </a:rPr>
                        <a:t>Both</a:t>
                      </a:r>
                    </a:p>
                  </a:txBody>
                  <a:tcPr anchor="ctr"/>
                </a:tc>
                <a:tc>
                  <a:txBody>
                    <a:bodyPr/>
                    <a:lstStyle/>
                    <a:p>
                      <a:pPr>
                        <a:buNone/>
                      </a:pPr>
                      <a:r>
                        <a:rPr lang="en-IN">
                          <a:solidFill>
                            <a:schemeClr val="accent1">
                              <a:lumMod val="75000"/>
                            </a:schemeClr>
                          </a:solidFill>
                        </a:rPr>
                        <a:t>Receive data</a:t>
                      </a:r>
                    </a:p>
                  </a:txBody>
                  <a:tcPr anchor="ctr"/>
                </a:tc>
                <a:extLst>
                  <a:ext uri="{0D108BD9-81ED-4DB2-BD59-A6C34878D82A}">
                    <a16:rowId xmlns:a16="http://schemas.microsoft.com/office/drawing/2014/main" val="4153657080"/>
                  </a:ext>
                </a:extLst>
              </a:tr>
              <a:tr h="0">
                <a:tc>
                  <a:txBody>
                    <a:bodyPr/>
                    <a:lstStyle/>
                    <a:p>
                      <a:pPr>
                        <a:buNone/>
                      </a:pPr>
                      <a:r>
                        <a:rPr lang="en-IN">
                          <a:solidFill>
                            <a:schemeClr val="accent1">
                              <a:lumMod val="75000"/>
                            </a:schemeClr>
                          </a:solidFill>
                        </a:rPr>
                        <a:t>close()</a:t>
                      </a:r>
                    </a:p>
                  </a:txBody>
                  <a:tcPr anchor="ctr"/>
                </a:tc>
                <a:tc>
                  <a:txBody>
                    <a:bodyPr/>
                    <a:lstStyle/>
                    <a:p>
                      <a:pPr>
                        <a:buNone/>
                      </a:pPr>
                      <a:r>
                        <a:rPr lang="en-IN">
                          <a:solidFill>
                            <a:schemeClr val="accent1">
                              <a:lumMod val="75000"/>
                            </a:schemeClr>
                          </a:solidFill>
                        </a:rPr>
                        <a:t>Both</a:t>
                      </a:r>
                    </a:p>
                  </a:txBody>
                  <a:tcPr anchor="ctr"/>
                </a:tc>
                <a:tc>
                  <a:txBody>
                    <a:bodyPr/>
                    <a:lstStyle/>
                    <a:p>
                      <a:pPr>
                        <a:buNone/>
                      </a:pPr>
                      <a:r>
                        <a:rPr lang="en-IN" dirty="0">
                          <a:solidFill>
                            <a:schemeClr val="accent1">
                              <a:lumMod val="75000"/>
                            </a:schemeClr>
                          </a:solidFill>
                        </a:rPr>
                        <a:t>Terminate the connection</a:t>
                      </a:r>
                    </a:p>
                  </a:txBody>
                  <a:tcPr anchor="ctr"/>
                </a:tc>
                <a:extLst>
                  <a:ext uri="{0D108BD9-81ED-4DB2-BD59-A6C34878D82A}">
                    <a16:rowId xmlns:a16="http://schemas.microsoft.com/office/drawing/2014/main" val="1559472763"/>
                  </a:ext>
                </a:extLst>
              </a:tr>
            </a:tbl>
          </a:graphicData>
        </a:graphic>
      </p:graphicFrame>
      <p:sp>
        <p:nvSpPr>
          <p:cNvPr id="7" name="TextBox 6">
            <a:extLst>
              <a:ext uri="{FF2B5EF4-FFF2-40B4-BE49-F238E27FC236}">
                <a16:creationId xmlns:a16="http://schemas.microsoft.com/office/drawing/2014/main" id="{10778C91-65AF-17EE-74DE-3D85FBD384E2}"/>
              </a:ext>
            </a:extLst>
          </p:cNvPr>
          <p:cNvSpPr txBox="1"/>
          <p:nvPr/>
        </p:nvSpPr>
        <p:spPr>
          <a:xfrm>
            <a:off x="1218456" y="643325"/>
            <a:ext cx="9450287"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a:noFill/>
                </a:ln>
                <a:solidFill>
                  <a:srgbClr val="13315C"/>
                </a:solidFill>
                <a:effectLst/>
                <a:uLnTx/>
                <a:uFillTx/>
                <a:latin typeface="Bookman Old Style" pitchFamily="34" charset="0"/>
                <a:ea typeface="+mn-ea"/>
                <a:cs typeface="+mn-cs"/>
              </a:rPr>
              <a:t>Socket API - Summary</a:t>
            </a:r>
          </a:p>
        </p:txBody>
      </p:sp>
      <p:sp>
        <p:nvSpPr>
          <p:cNvPr id="12" name="TextBox 11"/>
          <p:cNvSpPr txBox="1"/>
          <p:nvPr/>
        </p:nvSpPr>
        <p:spPr>
          <a:xfrm>
            <a:off x="11792000" y="6638000"/>
            <a:ext cx="200000" cy="100000"/>
          </a:xfrm>
          <a:prstGeom prst="rect">
            <a:avLst/>
          </a:prstGeom>
          <a:noFill/>
        </p:spPr>
        <p:txBody>
          <a:bodyPr wrap="none">
            <a:spAutoFit/>
          </a:bodyPr>
          <a:lstStyle/>
          <a:p>
            <a:pPr>
              <a:defRPr sz="1000"/>
            </a:pPr>
            <a:r>
              <a:t>72</a:t>
            </a:r>
          </a:p>
        </p:txBody>
      </p:sp>
    </p:spTree>
    <p:extLst>
      <p:ext uri="{BB962C8B-B14F-4D97-AF65-F5344CB8AC3E}">
        <p14:creationId xmlns:p14="http://schemas.microsoft.com/office/powerpoint/2010/main" val="242082530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DDB9C-5FA6-47E2-F403-932057739493}"/>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85CA9095-29C2-B193-1EE3-F8E42F557907}"/>
              </a:ext>
            </a:extLst>
          </p:cNvPr>
          <p:cNvSpPr/>
          <p:nvPr/>
        </p:nvSpPr>
        <p:spPr>
          <a:xfrm>
            <a:off x="548640" y="367706"/>
            <a:ext cx="10424160" cy="8229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a:noFill/>
                </a:ln>
                <a:solidFill>
                  <a:srgbClr val="13315C"/>
                </a:solidFill>
                <a:effectLst/>
                <a:uLnTx/>
                <a:uFillTx/>
                <a:latin typeface="Bookman Old Style" pitchFamily="34" charset="0"/>
                <a:ea typeface="+mn-ea"/>
                <a:cs typeface="+mn-cs"/>
              </a:rPr>
              <a:t>Summary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6" name="Text 3">
            <a:extLst>
              <a:ext uri="{FF2B5EF4-FFF2-40B4-BE49-F238E27FC236}">
                <a16:creationId xmlns:a16="http://schemas.microsoft.com/office/drawing/2014/main" id="{BAD2B949-9ACF-0DF3-DB9B-7B1001FB03AE}"/>
              </a:ext>
            </a:extLst>
          </p:cNvPr>
          <p:cNvSpPr/>
          <p:nvPr/>
        </p:nvSpPr>
        <p:spPr>
          <a:xfrm>
            <a:off x="204281" y="1313233"/>
            <a:ext cx="11627163" cy="4893013"/>
          </a:xfrm>
          <a:prstGeom prst="rect">
            <a:avLst/>
          </a:prstGeom>
          <a:noFill/>
          <a:ln/>
        </p:spPr>
        <p:txBody>
          <a:bodyPr wrap="square" lIns="0" tIns="0" rIns="0" bIns="0" rtlCol="0" anchor="t"/>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3200" b="0" i="0" u="none" strike="noStrike" kern="1200" cap="none" spc="0" normalizeH="0" baseline="0" noProof="0" dirty="0">
                <a:ln>
                  <a:noFill/>
                </a:ln>
                <a:solidFill>
                  <a:srgbClr val="156082">
                    <a:lumMod val="75000"/>
                  </a:srgbClr>
                </a:solidFill>
                <a:effectLst/>
                <a:uLnTx/>
                <a:uFillTx/>
                <a:latin typeface="Calibri" panose="020F0502020204030204" pitchFamily="34" charset="0"/>
                <a:ea typeface="Calibri" panose="020F0502020204030204" pitchFamily="34" charset="0"/>
                <a:cs typeface="Calibri" panose="020F0502020204030204" pitchFamily="34" charset="0"/>
              </a:rPr>
              <a:t>The Socket API is the demarcation point between applications and the underlying network implementation</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3200" b="0" i="0" u="none" strike="noStrike" kern="1200" cap="none" spc="0" normalizeH="0" baseline="0" noProof="0" dirty="0">
                <a:ln>
                  <a:noFill/>
                </a:ln>
                <a:solidFill>
                  <a:srgbClr val="156082">
                    <a:lumMod val="75000"/>
                  </a:srgbClr>
                </a:solidFill>
                <a:effectLst/>
                <a:uLnTx/>
                <a:uFillTx/>
                <a:latin typeface="Calibri" panose="020F0502020204030204" pitchFamily="34" charset="0"/>
                <a:ea typeface="Calibri" panose="020F0502020204030204" pitchFamily="34" charset="0"/>
                <a:cs typeface="Calibri" panose="020F0502020204030204" pitchFamily="34" charset="0"/>
              </a:rPr>
              <a:t>Sockets = local endpoint of a network connection</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3200" b="0" i="0" u="none" strike="noStrike" kern="1200" cap="none" spc="0" normalizeH="0" baseline="0" noProof="0" dirty="0">
                <a:ln>
                  <a:noFill/>
                </a:ln>
                <a:solidFill>
                  <a:srgbClr val="156082">
                    <a:lumMod val="75000"/>
                  </a:srgbClr>
                </a:solidFill>
                <a:effectLst/>
                <a:uLnTx/>
                <a:uFillTx/>
                <a:latin typeface="Calibri" panose="020F0502020204030204" pitchFamily="34" charset="0"/>
                <a:ea typeface="Calibri" panose="020F0502020204030204" pitchFamily="34" charset="0"/>
                <a:cs typeface="Calibri" panose="020F0502020204030204" pitchFamily="34" charset="0"/>
              </a:rPr>
              <a:t>TCP socket programming involves a clear sequence: </a:t>
            </a:r>
            <a:r>
              <a:rPr kumimoji="0" lang="en-IN" sz="2400" b="0" i="0" u="none" strike="noStrike" kern="1200" cap="none" spc="0" normalizeH="0" baseline="0" noProof="0" dirty="0">
                <a:ln>
                  <a:noFill/>
                </a:ln>
                <a:solidFill>
                  <a:srgbClr val="156082">
                    <a:lumMod val="75000"/>
                  </a:srgbClr>
                </a:solidFill>
                <a:effectLst/>
                <a:uLnTx/>
                <a:uFillTx/>
                <a:latin typeface="Calibri" panose="020F0502020204030204" pitchFamily="34" charset="0"/>
                <a:ea typeface="Calibri" panose="020F0502020204030204" pitchFamily="34" charset="0"/>
                <a:cs typeface="Calibri" panose="020F0502020204030204" pitchFamily="34" charset="0"/>
              </a:rPr>
              <a:t>socket → bind/listen/accept</a:t>
            </a:r>
            <a:r>
              <a:rPr kumimoji="0" lang="en-IN" sz="3200" b="0" i="0" u="none" strike="noStrike" kern="1200" cap="none" spc="0" normalizeH="0" baseline="0" noProof="0" dirty="0">
                <a:ln>
                  <a:noFill/>
                </a:ln>
                <a:solidFill>
                  <a:srgbClr val="156082">
                    <a:lumMod val="75000"/>
                  </a:srgbClr>
                </a:solidFill>
                <a:effectLst/>
                <a:uLnTx/>
                <a:uFillTx/>
                <a:latin typeface="Calibri" panose="020F0502020204030204" pitchFamily="34" charset="0"/>
                <a:ea typeface="Calibri" panose="020F0502020204030204" pitchFamily="34" charset="0"/>
                <a:cs typeface="Calibri" panose="020F0502020204030204" pitchFamily="34" charset="0"/>
              </a:rPr>
              <a:t> (server) and </a:t>
            </a:r>
            <a:r>
              <a:rPr kumimoji="0" lang="en-IN" sz="2400" b="0" i="0" u="none" strike="noStrike" kern="1200" cap="none" spc="0" normalizeH="0" baseline="0" noProof="0" dirty="0">
                <a:ln>
                  <a:noFill/>
                </a:ln>
                <a:solidFill>
                  <a:srgbClr val="156082">
                    <a:lumMod val="75000"/>
                  </a:srgbClr>
                </a:solidFill>
                <a:effectLst/>
                <a:uLnTx/>
                <a:uFillTx/>
                <a:latin typeface="Calibri" panose="020F0502020204030204" pitchFamily="34" charset="0"/>
                <a:ea typeface="Calibri" panose="020F0502020204030204" pitchFamily="34" charset="0"/>
                <a:cs typeface="Calibri" panose="020F0502020204030204" pitchFamily="34" charset="0"/>
              </a:rPr>
              <a:t>socket → connect</a:t>
            </a:r>
            <a:r>
              <a:rPr kumimoji="0" lang="en-IN" sz="3200" b="0" i="0" u="none" strike="noStrike" kern="1200" cap="none" spc="0" normalizeH="0" baseline="0" noProof="0" dirty="0">
                <a:ln>
                  <a:noFill/>
                </a:ln>
                <a:solidFill>
                  <a:srgbClr val="156082">
                    <a:lumMod val="75000"/>
                  </a:srgbClr>
                </a:solidFill>
                <a:effectLst/>
                <a:uLnTx/>
                <a:uFillTx/>
                <a:latin typeface="Calibri" panose="020F0502020204030204" pitchFamily="34" charset="0"/>
                <a:ea typeface="Calibri" panose="020F0502020204030204" pitchFamily="34" charset="0"/>
                <a:cs typeface="Calibri" panose="020F0502020204030204" pitchFamily="34" charset="0"/>
              </a:rPr>
              <a:t> (client)</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3200" b="0" i="0" u="none" strike="noStrike" kern="1200" cap="none" spc="0" normalizeH="0" baseline="0" noProof="0" dirty="0">
                <a:ln>
                  <a:noFill/>
                </a:ln>
                <a:solidFill>
                  <a:srgbClr val="156082">
                    <a:lumMod val="75000"/>
                  </a:srgbClr>
                </a:solidFill>
                <a:effectLst/>
                <a:uLnTx/>
                <a:uFillTx/>
                <a:latin typeface="Calibri" panose="020F0502020204030204" pitchFamily="34" charset="0"/>
                <a:ea typeface="Calibri" panose="020F0502020204030204" pitchFamily="34" charset="0"/>
                <a:cs typeface="Calibri" panose="020F0502020204030204" pitchFamily="34" charset="0"/>
              </a:rPr>
              <a:t>Same API pattern underlies most modern client-server and networked applications, including cloud services</a:t>
            </a:r>
          </a:p>
          <a:p>
            <a:pPr marL="342900" marR="0" lvl="0" indent="-342900" algn="l" defTabSz="914400" rtl="0" eaLnBrk="1" fontAlgn="auto" latinLnBrk="0" hangingPunct="1">
              <a:lnSpc>
                <a:spcPct val="100000"/>
              </a:lnSpc>
              <a:spcBef>
                <a:spcPts val="0"/>
              </a:spcBef>
              <a:spcAft>
                <a:spcPts val="0"/>
              </a:spcAft>
              <a:buClrTx/>
              <a:buSzPct val="150000"/>
              <a:buFont typeface="Calibri" panose="020F0502020204030204" pitchFamily="34" charset="0"/>
              <a:buChar char="•"/>
              <a:tabLst/>
              <a:defRPr/>
            </a:pPr>
            <a:endParaRPr kumimoji="0" lang="en-IN" sz="1600" b="0" i="0" u="none" strike="noStrike" kern="1200" cap="none" spc="0" normalizeH="0" baseline="0" noProof="0" dirty="0">
              <a:ln>
                <a:noFill/>
              </a:ln>
              <a:solidFill>
                <a:srgbClr val="156082">
                  <a:lumMod val="75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8" name="Text 5">
            <a:extLst>
              <a:ext uri="{FF2B5EF4-FFF2-40B4-BE49-F238E27FC236}">
                <a16:creationId xmlns:a16="http://schemas.microsoft.com/office/drawing/2014/main" id="{047D2571-CD58-29D3-98B6-7301B98F08C2}"/>
              </a:ext>
            </a:extLst>
          </p:cNvPr>
          <p:cNvSpPr/>
          <p:nvPr/>
        </p:nvSpPr>
        <p:spPr>
          <a:xfrm>
            <a:off x="6675120" y="1691639"/>
            <a:ext cx="4663440" cy="3201373"/>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Program</a:t>
            </a:r>
            <a:endParaRPr kumimoji="0" lang="en-US" sz="13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9" name="TextBox 8"/>
          <p:cNvSpPr txBox="1"/>
          <p:nvPr/>
        </p:nvSpPr>
        <p:spPr>
          <a:xfrm>
            <a:off x="11792000" y="6638000"/>
            <a:ext cx="200000" cy="100000"/>
          </a:xfrm>
          <a:prstGeom prst="rect">
            <a:avLst/>
          </a:prstGeom>
          <a:noFill/>
        </p:spPr>
        <p:txBody>
          <a:bodyPr wrap="none">
            <a:spAutoFit/>
          </a:bodyPr>
          <a:lstStyle/>
          <a:p>
            <a:pPr>
              <a:defRPr sz="1000"/>
            </a:pPr>
            <a:r>
              <a:t>73</a:t>
            </a:r>
          </a:p>
        </p:txBody>
      </p:sp>
    </p:spTree>
    <p:extLst>
      <p:ext uri="{BB962C8B-B14F-4D97-AF65-F5344CB8AC3E}">
        <p14:creationId xmlns:p14="http://schemas.microsoft.com/office/powerpoint/2010/main" val="365213650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141B45"/>
        </a:solidFill>
        <a:effectLst/>
      </p:bgPr>
    </p:bg>
    <p:spTree>
      <p:nvGrpSpPr>
        <p:cNvPr id="1" name=""/>
        <p:cNvGrpSpPr/>
        <p:nvPr/>
      </p:nvGrpSpPr>
      <p:grpSpPr>
        <a:xfrm>
          <a:off x="0" y="0"/>
          <a:ext cx="0" cy="0"/>
          <a:chOff x="0" y="0"/>
          <a:chExt cx="0" cy="0"/>
        </a:xfrm>
      </p:grpSpPr>
      <p:sp>
        <p:nvSpPr>
          <p:cNvPr id="6" name="Text 4"/>
          <p:cNvSpPr/>
          <p:nvPr/>
        </p:nvSpPr>
        <p:spPr>
          <a:xfrm>
            <a:off x="822960" y="1783080"/>
            <a:ext cx="10241280" cy="11887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Network Performance Metrics</a:t>
            </a:r>
            <a:endParaRPr kumimoji="0" lang="en-US" sz="4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822960" y="2880360"/>
            <a:ext cx="10058400"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Throughput • Bandwidth • Delay • Latency • High-Speed Networks</a:t>
            </a:r>
            <a:endPar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21">
            <a:extLst>
              <a:ext uri="{FF2B5EF4-FFF2-40B4-BE49-F238E27FC236}">
                <a16:creationId xmlns:a16="http://schemas.microsoft.com/office/drawing/2014/main" id="{82B2750C-E4E5-607D-D887-365503134375}"/>
              </a:ext>
            </a:extLst>
          </p:cNvPr>
          <p:cNvSpPr/>
          <p:nvPr/>
        </p:nvSpPr>
        <p:spPr>
          <a:xfrm>
            <a:off x="912170" y="747912"/>
            <a:ext cx="5486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300" normalizeH="0" baseline="0" noProof="0" dirty="0">
                <a:ln>
                  <a:noFill/>
                </a:ln>
                <a:solidFill>
                  <a:srgbClr val="00B4D8"/>
                </a:solidFill>
                <a:effectLst/>
                <a:uLnTx/>
                <a:uFillTx/>
                <a:latin typeface="Calibri" pitchFamily="34" charset="0"/>
                <a:ea typeface="Calibri" pitchFamily="34" charset="-122"/>
                <a:cs typeface="Calibri" pitchFamily="34" charset="-120"/>
              </a:rPr>
              <a:t>TOPIC  10</a:t>
            </a:r>
            <a:endPar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8" name="TextBox 7"/>
          <p:cNvSpPr txBox="1"/>
          <p:nvPr/>
        </p:nvSpPr>
        <p:spPr>
          <a:xfrm>
            <a:off x="11792000" y="6638000"/>
            <a:ext cx="200000" cy="100000"/>
          </a:xfrm>
          <a:prstGeom prst="rect">
            <a:avLst/>
          </a:prstGeom>
          <a:noFill/>
        </p:spPr>
        <p:txBody>
          <a:bodyPr wrap="none">
            <a:spAutoFit/>
          </a:bodyPr>
          <a:lstStyle/>
          <a:p>
            <a:pPr>
              <a:defRPr sz="1000"/>
            </a:pPr>
            <a:r>
              <a:t>74</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457200" y="868680"/>
            <a:ext cx="11274552"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30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Why Network Performance Matters</a:t>
            </a:r>
            <a:endParaRPr kumimoji="0" lang="en-US" sz="3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457200" y="1737360"/>
            <a:ext cx="6766560" cy="4297680"/>
          </a:xfrm>
          <a:prstGeom prst="roundRect">
            <a:avLst>
              <a:gd name="adj" fmla="val 2128"/>
            </a:avLst>
          </a:prstGeom>
          <a:solidFill>
            <a:srgbClr val="FFFFFF"/>
          </a:solidFill>
          <a:ln w="12700">
            <a:solidFill>
              <a:srgbClr val="CADCFC"/>
            </a:solidFill>
            <a:prstDash val="solid"/>
          </a:ln>
        </p:spPr>
        <p:txBody>
          <a:bodyPr/>
          <a:lstStyle/>
          <a:p>
            <a:endParaRPr/>
          </a:p>
        </p:txBody>
      </p:sp>
      <p:sp>
        <p:nvSpPr>
          <p:cNvPr id="6" name="Text 4"/>
          <p:cNvSpPr/>
          <p:nvPr/>
        </p:nvSpPr>
        <p:spPr>
          <a:xfrm>
            <a:off x="731520" y="1965960"/>
            <a:ext cx="6217920" cy="128016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1"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"First get it right, then make it fast"</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 is a classic programming adage  but in networking, performance must often be </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designed in from the start.</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731520" y="3383280"/>
            <a:ext cx="109728" cy="109728"/>
          </a:xfrm>
          <a:prstGeom prst="ellipse">
            <a:avLst/>
          </a:prstGeom>
          <a:solidFill>
            <a:srgbClr val="F2A900"/>
          </a:solidFill>
          <a:ln/>
        </p:spPr>
        <p:txBody>
          <a:bodyPr/>
          <a:lstStyle/>
          <a:p>
            <a:endParaRPr/>
          </a:p>
        </p:txBody>
      </p:sp>
      <p:sp>
        <p:nvSpPr>
          <p:cNvPr id="8" name="Text 6"/>
          <p:cNvSpPr/>
          <p:nvPr/>
        </p:nvSpPr>
        <p:spPr>
          <a:xfrm>
            <a:off x="960120" y="3218688"/>
            <a:ext cx="5989320" cy="6858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The effectiveness of distributed computations depends directly on how efficiently the network delivers data.</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731520" y="4160520"/>
            <a:ext cx="109728" cy="109728"/>
          </a:xfrm>
          <a:prstGeom prst="ellipse">
            <a:avLst/>
          </a:prstGeom>
          <a:solidFill>
            <a:srgbClr val="F2A900"/>
          </a:solidFill>
          <a:ln/>
        </p:spPr>
        <p:txBody>
          <a:bodyPr/>
          <a:lstStyle/>
          <a:p>
            <a:endParaRPr/>
          </a:p>
        </p:txBody>
      </p:sp>
      <p:sp>
        <p:nvSpPr>
          <p:cNvPr id="10" name="Text 8"/>
          <p:cNvSpPr/>
          <p:nvPr/>
        </p:nvSpPr>
        <p:spPr>
          <a:xfrm>
            <a:off x="960120" y="3995928"/>
            <a:ext cx="5989320" cy="6858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Network performance is judged using two fundamental measures: bandwidth (throughput) and latency (delay).</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731520" y="4937760"/>
            <a:ext cx="109728" cy="109728"/>
          </a:xfrm>
          <a:prstGeom prst="ellipse">
            <a:avLst/>
          </a:prstGeom>
          <a:solidFill>
            <a:srgbClr val="F2A900"/>
          </a:solidFill>
          <a:ln/>
        </p:spPr>
        <p:txBody>
          <a:bodyPr/>
          <a:lstStyle/>
          <a:p>
            <a:endParaRPr/>
          </a:p>
        </p:txBody>
      </p:sp>
      <p:sp>
        <p:nvSpPr>
          <p:cNvPr id="12" name="Text 10"/>
          <p:cNvSpPr/>
          <p:nvPr/>
        </p:nvSpPr>
        <p:spPr>
          <a:xfrm>
            <a:off x="960120" y="4773168"/>
            <a:ext cx="5989320" cy="6858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Understanding these metrics lets engineers predict, diagnose, and improve real-world application behaviour over a network.</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7452360" y="1737360"/>
            <a:ext cx="4251960" cy="4297680"/>
          </a:xfrm>
          <a:prstGeom prst="roundRect">
            <a:avLst>
              <a:gd name="adj" fmla="val 2151"/>
            </a:avLst>
          </a:prstGeom>
          <a:solidFill>
            <a:srgbClr val="1E2761"/>
          </a:solidFill>
          <a:ln/>
        </p:spPr>
        <p:txBody>
          <a:bodyPr/>
          <a:lstStyle/>
          <a:p>
            <a:endParaRPr/>
          </a:p>
        </p:txBody>
      </p:sp>
      <p:sp>
        <p:nvSpPr>
          <p:cNvPr id="14" name="Text 12"/>
          <p:cNvSpPr/>
          <p:nvPr/>
        </p:nvSpPr>
        <p:spPr>
          <a:xfrm>
            <a:off x="7726680" y="1965960"/>
            <a:ext cx="3703320" cy="6400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100" normalizeH="0" baseline="0" noProof="0" dirty="0">
                <a:ln>
                  <a:noFill/>
                </a:ln>
                <a:solidFill>
                  <a:srgbClr val="F2A900"/>
                </a:solidFill>
                <a:effectLst/>
                <a:uLnTx/>
                <a:uFillTx/>
                <a:latin typeface="Calibri" pitchFamily="34" charset="0"/>
                <a:ea typeface="Calibri" pitchFamily="34" charset="-122"/>
                <a:cs typeface="Calibri" pitchFamily="34" charset="-120"/>
              </a:rPr>
              <a:t>TWO PILLARS OF</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100" normalizeH="0" baseline="0" noProof="0" dirty="0">
                <a:ln>
                  <a:noFill/>
                </a:ln>
                <a:solidFill>
                  <a:srgbClr val="F2A900"/>
                </a:solidFill>
                <a:effectLst/>
                <a:uLnTx/>
                <a:uFillTx/>
                <a:latin typeface="Calibri" pitchFamily="34" charset="0"/>
                <a:ea typeface="Calibri" pitchFamily="34" charset="-122"/>
                <a:cs typeface="Calibri" pitchFamily="34" charset="-120"/>
              </a:rPr>
              <a:t>PERFORMANCE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7726680" y="2697480"/>
            <a:ext cx="3474720" cy="0"/>
          </a:xfrm>
          <a:prstGeom prst="line">
            <a:avLst/>
          </a:prstGeom>
          <a:noFill/>
          <a:ln w="12700">
            <a:solidFill>
              <a:srgbClr val="3A458A"/>
            </a:solidFill>
            <a:prstDash val="solid"/>
          </a:ln>
        </p:spPr>
        <p:txBody>
          <a:bodyPr/>
          <a:lstStyle/>
          <a:p>
            <a:endParaRPr/>
          </a:p>
        </p:txBody>
      </p:sp>
      <p:sp>
        <p:nvSpPr>
          <p:cNvPr id="16" name="Text 14"/>
          <p:cNvSpPr/>
          <p:nvPr/>
        </p:nvSpPr>
        <p:spPr>
          <a:xfrm>
            <a:off x="7726680" y="2880360"/>
            <a:ext cx="36576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Bandwidth</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7726680" y="3291840"/>
            <a:ext cx="3657600" cy="5943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Volume of data delivered per unit time (bits/second).</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7726680" y="4023360"/>
            <a:ext cx="36576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Latency</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7726680" y="4434840"/>
            <a:ext cx="3657600" cy="5943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Time taken for a message to travel end-to-end.</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7726680" y="5212080"/>
            <a:ext cx="3703320" cy="6858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Together, they define the complete performance profile of any link or channel.</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Box 20"/>
          <p:cNvSpPr txBox="1"/>
          <p:nvPr/>
        </p:nvSpPr>
        <p:spPr>
          <a:xfrm>
            <a:off x="11792000" y="6638000"/>
            <a:ext cx="200000" cy="100000"/>
          </a:xfrm>
          <a:prstGeom prst="rect">
            <a:avLst/>
          </a:prstGeom>
          <a:noFill/>
        </p:spPr>
        <p:txBody>
          <a:bodyPr wrap="none">
            <a:spAutoFit/>
          </a:bodyPr>
          <a:lstStyle/>
          <a:p>
            <a:pPr>
              <a:defRPr sz="1000"/>
            </a:pPr>
            <a:r>
              <a:t>75</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458724" y="319554"/>
            <a:ext cx="11274552"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30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Bandwidth: The Data Highway</a:t>
            </a:r>
            <a:endParaRPr kumimoji="0" lang="en-US" sz="3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457200" y="1234440"/>
            <a:ext cx="6675120" cy="1874520"/>
          </a:xfrm>
          <a:prstGeom prst="roundRect">
            <a:avLst>
              <a:gd name="adj" fmla="val 4878"/>
            </a:avLst>
          </a:prstGeom>
          <a:solidFill>
            <a:srgbClr val="EEF3FC"/>
          </a:solidFill>
          <a:ln w="12700">
            <a:solidFill>
              <a:srgbClr val="CADCFC"/>
            </a:solidFill>
            <a:prstDash val="solid"/>
          </a:ln>
        </p:spPr>
        <p:txBody>
          <a:bodyPr/>
          <a:lstStyle/>
          <a:p>
            <a:endParaRPr/>
          </a:p>
        </p:txBody>
      </p:sp>
      <p:sp>
        <p:nvSpPr>
          <p:cNvPr id="6" name="Text 4"/>
          <p:cNvSpPr/>
          <p:nvPr/>
        </p:nvSpPr>
        <p:spPr>
          <a:xfrm>
            <a:off x="731520" y="1371600"/>
            <a:ext cx="27432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Definition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731520" y="1691640"/>
            <a:ext cx="612648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The number of bits that can be transmitted over a network in a given period of time.</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731520" y="2468880"/>
            <a:ext cx="6126480"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srgbClr val="5B6584"/>
                </a:solidFill>
                <a:effectLst/>
                <a:uLnTx/>
                <a:uFillTx/>
                <a:latin typeface="Calibri" pitchFamily="34" charset="0"/>
                <a:ea typeface="Calibri" pitchFamily="34" charset="-122"/>
                <a:cs typeface="Calibri" pitchFamily="34" charset="-120"/>
              </a:rPr>
              <a:t>e.g. a 10 Mbps network delivers 10 million bits every second  each bit takes 0.1 μs to transmit.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365760" y="3341451"/>
            <a:ext cx="6675120" cy="2240280"/>
          </a:xfrm>
          <a:prstGeom prst="roundRect">
            <a:avLst>
              <a:gd name="adj" fmla="val 4082"/>
            </a:avLst>
          </a:prstGeom>
          <a:solidFill>
            <a:srgbClr val="FFFFFF"/>
          </a:solidFill>
          <a:ln w="12700">
            <a:solidFill>
              <a:srgbClr val="CADCFC"/>
            </a:solidFill>
            <a:prstDash val="solid"/>
          </a:ln>
        </p:spPr>
        <p:txBody>
          <a:bodyPr/>
          <a:lstStyle/>
          <a:p>
            <a:endParaRPr/>
          </a:p>
        </p:txBody>
      </p:sp>
      <p:sp>
        <p:nvSpPr>
          <p:cNvPr id="10" name="Text 8"/>
          <p:cNvSpPr/>
          <p:nvPr/>
        </p:nvSpPr>
        <p:spPr>
          <a:xfrm>
            <a:off x="731520" y="3478611"/>
            <a:ext cx="59436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Two Senses of the Word</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731520" y="3844371"/>
            <a:ext cx="6126480" cy="16002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Signal bandwidth (Hz): </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width of a frequency band  e.g. voice-grade phone line: 3300 Hz − 300 Hz = 3000 Hz.</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alibri" pitchFamily="34" charset="0"/>
                <a:ea typeface="Calibri" pitchFamily="34" charset="-122"/>
                <a:cs typeface="Calibri" pitchFamily="34" charset="-120"/>
              </a:rPr>
              <a:t> </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Data-link bandwidth (bits/sec): </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the commonly used networking sense  e.g. "a 10 Mbps Ethernet link."</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7406640" y="1184829"/>
            <a:ext cx="4251960" cy="3573942"/>
          </a:xfrm>
          <a:prstGeom prst="roundRect">
            <a:avLst>
              <a:gd name="adj" fmla="val 2151"/>
            </a:avLst>
          </a:prstGeom>
          <a:solidFill>
            <a:srgbClr val="1E2761"/>
          </a:solidFill>
          <a:ln/>
        </p:spPr>
        <p:txBody>
          <a:bodyPr/>
          <a:lstStyle/>
          <a:p>
            <a:endParaRPr/>
          </a:p>
        </p:txBody>
      </p:sp>
      <p:sp>
        <p:nvSpPr>
          <p:cNvPr id="13" name="Text 11"/>
          <p:cNvSpPr/>
          <p:nvPr/>
        </p:nvSpPr>
        <p:spPr>
          <a:xfrm>
            <a:off x="7726680" y="1504869"/>
            <a:ext cx="36576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0" cap="none" spc="100" normalizeH="0" baseline="0" noProof="0" dirty="0">
                <a:ln>
                  <a:noFill/>
                </a:ln>
                <a:solidFill>
                  <a:srgbClr val="F2A900"/>
                </a:solidFill>
                <a:effectLst/>
                <a:uLnTx/>
                <a:uFillTx/>
                <a:latin typeface="Calibri" pitchFamily="34" charset="0"/>
                <a:ea typeface="Calibri" pitchFamily="34" charset="-122"/>
                <a:cs typeface="Calibri" pitchFamily="34" charset="-120"/>
              </a:rPr>
              <a:t>VISUALIZE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7726680" y="1870629"/>
            <a:ext cx="3703320" cy="9144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Think of 1 second as a length of ruler. Bandwidth = how many bit-pulses fit in that length.</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7726680" y="2922189"/>
            <a:ext cx="3703320" cy="777240"/>
          </a:xfrm>
          <a:prstGeom prst="roundRect">
            <a:avLst>
              <a:gd name="adj" fmla="val 9412"/>
            </a:avLst>
          </a:prstGeom>
          <a:solidFill>
            <a:srgbClr val="2A3670"/>
          </a:solidFill>
          <a:ln/>
        </p:spPr>
        <p:txBody>
          <a:bodyPr/>
          <a:lstStyle/>
          <a:p>
            <a:endParaRPr/>
          </a:p>
        </p:txBody>
      </p:sp>
      <p:sp>
        <p:nvSpPr>
          <p:cNvPr id="16" name="Text 14"/>
          <p:cNvSpPr/>
          <p:nvPr/>
        </p:nvSpPr>
        <p:spPr>
          <a:xfrm>
            <a:off x="7955280" y="3036489"/>
            <a:ext cx="3429000"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1 Mbps  →  each bit is 1 μs wide</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7726680" y="3752153"/>
            <a:ext cx="3703320" cy="777240"/>
          </a:xfrm>
          <a:prstGeom prst="roundRect">
            <a:avLst>
              <a:gd name="adj" fmla="val 9412"/>
            </a:avLst>
          </a:prstGeom>
          <a:solidFill>
            <a:srgbClr val="2A3670"/>
          </a:solidFill>
          <a:ln/>
        </p:spPr>
        <p:txBody>
          <a:bodyPr/>
          <a:lstStyle/>
          <a:p>
            <a:endParaRPr/>
          </a:p>
        </p:txBody>
      </p:sp>
      <p:sp>
        <p:nvSpPr>
          <p:cNvPr id="18" name="Text 16"/>
          <p:cNvSpPr/>
          <p:nvPr/>
        </p:nvSpPr>
        <p:spPr>
          <a:xfrm>
            <a:off x="7955280" y="3878904"/>
            <a:ext cx="3429000"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2 Mbps  →  each bit is 0.5 μs wide</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2" name="Picture 21">
            <a:extLst>
              <a:ext uri="{FF2B5EF4-FFF2-40B4-BE49-F238E27FC236}">
                <a16:creationId xmlns:a16="http://schemas.microsoft.com/office/drawing/2014/main" id="{E5BA8007-7C3B-57BE-90A8-2DA079A69CBB}"/>
              </a:ext>
            </a:extLst>
          </p:cNvPr>
          <p:cNvPicPr>
            <a:picLocks noChangeAspect="1"/>
          </p:cNvPicPr>
          <p:nvPr/>
        </p:nvPicPr>
        <p:blipFill>
          <a:blip r:embed="rId3"/>
          <a:stretch>
            <a:fillRect/>
          </a:stretch>
        </p:blipFill>
        <p:spPr>
          <a:xfrm>
            <a:off x="7251192" y="5010230"/>
            <a:ext cx="4251960" cy="1614305"/>
          </a:xfrm>
          <a:prstGeom prst="rect">
            <a:avLst/>
          </a:prstGeom>
        </p:spPr>
      </p:pic>
      <p:sp>
        <p:nvSpPr>
          <p:cNvPr id="23" name="TextBox 22"/>
          <p:cNvSpPr txBox="1"/>
          <p:nvPr/>
        </p:nvSpPr>
        <p:spPr>
          <a:xfrm>
            <a:off x="11792000" y="6638000"/>
            <a:ext cx="200000" cy="100000"/>
          </a:xfrm>
          <a:prstGeom prst="rect">
            <a:avLst/>
          </a:prstGeom>
          <a:noFill/>
        </p:spPr>
        <p:txBody>
          <a:bodyPr wrap="none">
            <a:spAutoFit/>
          </a:bodyPr>
          <a:lstStyle/>
          <a:p>
            <a:pPr>
              <a:defRPr sz="1000"/>
            </a:pPr>
            <a:r>
              <a:t>76</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457200" y="868680"/>
            <a:ext cx="11274552"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30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Bandwidth vs Throughput vs Requirement</a:t>
            </a:r>
            <a:endParaRPr kumimoji="0" lang="en-US" sz="3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6" name="Table 0"/>
          <p:cNvGraphicFramePr>
            <a:graphicFrameLocks noGrp="1"/>
          </p:cNvGraphicFramePr>
          <p:nvPr/>
        </p:nvGraphicFramePr>
        <p:xfrm>
          <a:off x="457200" y="1737360"/>
          <a:ext cx="11247120" cy="2743200"/>
        </p:xfrm>
        <a:graphic>
          <a:graphicData uri="http://schemas.openxmlformats.org/drawingml/2006/table">
            <a:tbl>
              <a:tblPr/>
              <a:tblGrid>
                <a:gridCol w="3108960">
                  <a:extLst>
                    <a:ext uri="{9D8B030D-6E8A-4147-A177-3AD203B41FA5}">
                      <a16:colId xmlns:a16="http://schemas.microsoft.com/office/drawing/2014/main" val="20000"/>
                    </a:ext>
                  </a:extLst>
                </a:gridCol>
                <a:gridCol w="557784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685800">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Term</a:t>
                      </a:r>
                      <a:endParaRPr lang="en-US" sz="180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Example</a:t>
                      </a:r>
                      <a:endParaRPr lang="en-US" sz="180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685800">
                <a:tc>
                  <a:txBody>
                    <a:bodyPr/>
                    <a:lstStyle/>
                    <a:p>
                      <a:pPr marL="0" indent="0">
                        <a:buNone/>
                      </a:pPr>
                      <a:r>
                        <a:rPr lang="en-US" sz="1800" dirty="0">
                          <a:solidFill>
                            <a:srgbClr val="232B45"/>
                          </a:solidFill>
                          <a:latin typeface="Calibri" pitchFamily="34" charset="0"/>
                          <a:ea typeface="Calibri" pitchFamily="34" charset="-122"/>
                          <a:cs typeface="Calibri" pitchFamily="34" charset="-120"/>
                        </a:rPr>
                        <a:t>Bandwidth (Data Rate)</a:t>
                      </a:r>
                      <a:endParaRPr lang="en-US" sz="18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F3FC"/>
                    </a:solidFill>
                  </a:tcPr>
                </a:tc>
                <a:tc>
                  <a:txBody>
                    <a:bodyPr/>
                    <a:lstStyle/>
                    <a:p>
                      <a:pPr marL="0" indent="0">
                        <a:buNone/>
                      </a:pPr>
                      <a:r>
                        <a:rPr lang="en-US" sz="1800" dirty="0">
                          <a:solidFill>
                            <a:srgbClr val="232B45"/>
                          </a:solidFill>
                          <a:latin typeface="Calibri" pitchFamily="34" charset="0"/>
                          <a:ea typeface="Calibri" pitchFamily="34" charset="-122"/>
                          <a:cs typeface="Calibri" pitchFamily="34" charset="-120"/>
                        </a:rPr>
                        <a:t>Maximum data rate available on a link, a theoretical capacity.</a:t>
                      </a:r>
                      <a:endParaRPr lang="en-US" sz="18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F3FC"/>
                    </a:solidFill>
                  </a:tcPr>
                </a:tc>
                <a:tc>
                  <a:txBody>
                    <a:bodyPr/>
                    <a:lstStyle/>
                    <a:p>
                      <a:pPr marL="0" indent="0">
                        <a:buNone/>
                      </a:pPr>
                      <a:r>
                        <a:rPr lang="en-US" sz="1800" dirty="0">
                          <a:solidFill>
                            <a:srgbClr val="232B45"/>
                          </a:solidFill>
                          <a:latin typeface="Calibri" pitchFamily="34" charset="0"/>
                          <a:ea typeface="Calibri" pitchFamily="34" charset="-122"/>
                          <a:cs typeface="Calibri" pitchFamily="34" charset="-120"/>
                        </a:rPr>
                        <a:t>"The link bandwidth is 10 Mbps."</a:t>
                      </a:r>
                      <a:endParaRPr lang="en-US" sz="18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F3FC"/>
                    </a:solidFill>
                  </a:tcPr>
                </a:tc>
                <a:extLst>
                  <a:ext uri="{0D108BD9-81ED-4DB2-BD59-A6C34878D82A}">
                    <a16:rowId xmlns:a16="http://schemas.microsoft.com/office/drawing/2014/main" val="10001"/>
                  </a:ext>
                </a:extLst>
              </a:tr>
              <a:tr h="685800">
                <a:tc>
                  <a:txBody>
                    <a:bodyPr/>
                    <a:lstStyle/>
                    <a:p>
                      <a:pPr marL="0" indent="0">
                        <a:buNone/>
                      </a:pPr>
                      <a:r>
                        <a:rPr lang="en-US" sz="1800" dirty="0">
                          <a:solidFill>
                            <a:srgbClr val="232B45"/>
                          </a:solidFill>
                          <a:latin typeface="Calibri" pitchFamily="34" charset="0"/>
                          <a:ea typeface="Calibri" pitchFamily="34" charset="-122"/>
                          <a:cs typeface="Calibri" pitchFamily="34" charset="-120"/>
                        </a:rPr>
                        <a:t>Throughput</a:t>
                      </a:r>
                      <a:endParaRPr lang="en-US" sz="18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800" dirty="0">
                          <a:solidFill>
                            <a:srgbClr val="232B45"/>
                          </a:solidFill>
                          <a:latin typeface="Calibri" pitchFamily="34" charset="0"/>
                          <a:ea typeface="Calibri" pitchFamily="34" charset="-122"/>
                          <a:cs typeface="Calibri" pitchFamily="34" charset="-120"/>
                        </a:rPr>
                        <a:t>Actual measured performance achieved in practice, often lower than bandwidth due to inefficiencies.</a:t>
                      </a:r>
                      <a:endParaRPr lang="en-US" sz="18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800" dirty="0">
                          <a:solidFill>
                            <a:srgbClr val="232B45"/>
                          </a:solidFill>
                          <a:latin typeface="Calibri" pitchFamily="34" charset="0"/>
                          <a:ea typeface="Calibri" pitchFamily="34" charset="-122"/>
                          <a:cs typeface="Calibri" pitchFamily="34" charset="-120"/>
                        </a:rPr>
                        <a:t>A 10 Mbps link achieving only 2 Mbps throughput.</a:t>
                      </a:r>
                      <a:endParaRPr lang="en-US" sz="18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marL="0" indent="0">
                        <a:buNone/>
                      </a:pPr>
                      <a:r>
                        <a:rPr lang="en-US" sz="1800" dirty="0">
                          <a:solidFill>
                            <a:srgbClr val="232B45"/>
                          </a:solidFill>
                          <a:latin typeface="Calibri" pitchFamily="34" charset="0"/>
                          <a:ea typeface="Calibri" pitchFamily="34" charset="-122"/>
                          <a:cs typeface="Calibri" pitchFamily="34" charset="-120"/>
                        </a:rPr>
                        <a:t>Bandwidth Requirement</a:t>
                      </a:r>
                      <a:endParaRPr lang="en-US" sz="18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F3FC"/>
                    </a:solidFill>
                  </a:tcPr>
                </a:tc>
                <a:tc>
                  <a:txBody>
                    <a:bodyPr/>
                    <a:lstStyle/>
                    <a:p>
                      <a:pPr marL="0" indent="0">
                        <a:buNone/>
                      </a:pPr>
                      <a:r>
                        <a:rPr lang="en-US" sz="1800" dirty="0">
                          <a:solidFill>
                            <a:srgbClr val="232B45"/>
                          </a:solidFill>
                          <a:latin typeface="Calibri" pitchFamily="34" charset="0"/>
                          <a:ea typeface="Calibri" pitchFamily="34" charset="-122"/>
                          <a:cs typeface="Calibri" pitchFamily="34" charset="-120"/>
                        </a:rPr>
                        <a:t>Bits/second an application needs to perform acceptably  may be fixed, variable, or "best-effort."</a:t>
                      </a:r>
                      <a:endParaRPr lang="en-US" sz="18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F3FC"/>
                    </a:solidFill>
                  </a:tcPr>
                </a:tc>
                <a:tc>
                  <a:txBody>
                    <a:bodyPr/>
                    <a:lstStyle/>
                    <a:p>
                      <a:pPr marL="0" indent="0">
                        <a:buNone/>
                      </a:pPr>
                      <a:r>
                        <a:rPr lang="en-US" sz="1800" dirty="0">
                          <a:solidFill>
                            <a:srgbClr val="232B45"/>
                          </a:solidFill>
                          <a:latin typeface="Calibri" pitchFamily="34" charset="0"/>
                          <a:ea typeface="Calibri" pitchFamily="34" charset="-122"/>
                          <a:cs typeface="Calibri" pitchFamily="34" charset="-120"/>
                        </a:rPr>
                        <a:t>A video app needing a steady 5 Mbps.</a:t>
                      </a:r>
                      <a:endParaRPr lang="en-US" sz="18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F3FC"/>
                    </a:solidFill>
                  </a:tcPr>
                </a:tc>
                <a:extLst>
                  <a:ext uri="{0D108BD9-81ED-4DB2-BD59-A6C34878D82A}">
                    <a16:rowId xmlns:a16="http://schemas.microsoft.com/office/drawing/2014/main" val="10003"/>
                  </a:ext>
                </a:extLst>
              </a:tr>
            </a:tbl>
          </a:graphicData>
        </a:graphic>
      </p:graphicFrame>
      <p:sp>
        <p:nvSpPr>
          <p:cNvPr id="5" name="Shape 3"/>
          <p:cNvSpPr/>
          <p:nvPr/>
        </p:nvSpPr>
        <p:spPr>
          <a:xfrm>
            <a:off x="368808" y="5003908"/>
            <a:ext cx="11247120" cy="1234440"/>
          </a:xfrm>
          <a:prstGeom prst="roundRect">
            <a:avLst>
              <a:gd name="adj" fmla="val 7407"/>
            </a:avLst>
          </a:prstGeom>
          <a:solidFill>
            <a:srgbClr val="EEF3FC"/>
          </a:solidFill>
          <a:ln w="12700">
            <a:solidFill>
              <a:srgbClr val="CADCFC"/>
            </a:solidFill>
            <a:prstDash val="solid"/>
          </a:ln>
        </p:spPr>
        <p:txBody>
          <a:bodyPr/>
          <a:lstStyle/>
          <a:p>
            <a:endParaRPr/>
          </a:p>
        </p:txBody>
      </p:sp>
      <p:sp>
        <p:nvSpPr>
          <p:cNvPr id="8" name="Text 5"/>
          <p:cNvSpPr/>
          <p:nvPr/>
        </p:nvSpPr>
        <p:spPr>
          <a:xfrm>
            <a:off x="576072" y="5091069"/>
            <a:ext cx="10698480" cy="88424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Bandwidth is the capacity of the pipe; throughput is what actually flows through it. The gap between the two is caused by protocol overhead, congestion, and implementation inefficiencies.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Box 8"/>
          <p:cNvSpPr txBox="1"/>
          <p:nvPr/>
        </p:nvSpPr>
        <p:spPr>
          <a:xfrm>
            <a:off x="11792000" y="6638000"/>
            <a:ext cx="200000" cy="100000"/>
          </a:xfrm>
          <a:prstGeom prst="rect">
            <a:avLst/>
          </a:prstGeom>
          <a:noFill/>
        </p:spPr>
        <p:txBody>
          <a:bodyPr wrap="none">
            <a:spAutoFit/>
          </a:bodyPr>
          <a:lstStyle/>
          <a:p>
            <a:pPr>
              <a:defRPr sz="1000"/>
            </a:pPr>
            <a:r>
              <a:t>77</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457200" y="868680"/>
            <a:ext cx="11274552"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30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What Influences Bandwidth?</a:t>
            </a:r>
            <a:endParaRPr kumimoji="0" lang="en-US" sz="3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411480" y="1783080"/>
            <a:ext cx="3611880" cy="2331720"/>
          </a:xfrm>
          <a:prstGeom prst="roundRect">
            <a:avLst>
              <a:gd name="adj" fmla="val 3922"/>
            </a:avLst>
          </a:prstGeom>
          <a:solidFill>
            <a:srgbClr val="FFFFFF"/>
          </a:solidFill>
          <a:ln w="12700">
            <a:solidFill>
              <a:srgbClr val="CADCFC"/>
            </a:solidFill>
            <a:prstDash val="solid"/>
          </a:ln>
        </p:spPr>
        <p:txBody>
          <a:bodyPr/>
          <a:lstStyle/>
          <a:p>
            <a:endParaRPr/>
          </a:p>
        </p:txBody>
      </p:sp>
      <p:sp>
        <p:nvSpPr>
          <p:cNvPr id="6" name="Shape 4"/>
          <p:cNvSpPr/>
          <p:nvPr/>
        </p:nvSpPr>
        <p:spPr>
          <a:xfrm>
            <a:off x="685800" y="2011680"/>
            <a:ext cx="502920" cy="502920"/>
          </a:xfrm>
          <a:prstGeom prst="roundRect">
            <a:avLst>
              <a:gd name="adj" fmla="val 50909"/>
            </a:avLst>
          </a:prstGeom>
          <a:solidFill>
            <a:srgbClr val="1E2761"/>
          </a:solidFill>
          <a:ln/>
        </p:spPr>
        <p:txBody>
          <a:bodyPr/>
          <a:lstStyle/>
          <a:p>
            <a:endParaRPr/>
          </a:p>
        </p:txBody>
      </p:sp>
      <p:sp>
        <p:nvSpPr>
          <p:cNvPr id="7" name="Text 5"/>
          <p:cNvSpPr/>
          <p:nvPr/>
        </p:nvSpPr>
        <p:spPr>
          <a:xfrm>
            <a:off x="685800" y="2011680"/>
            <a:ext cx="502920" cy="5029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1</a:t>
            </a:r>
            <a:endPar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685800" y="2651760"/>
            <a:ext cx="3154680"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Physical Link Bandwidth</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685800" y="3200400"/>
            <a:ext cx="3154680" cy="9144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Constantly improving with better transmitting/receiving technology  narrower bit-pulses fit more bits per second.</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4251960" y="1783080"/>
            <a:ext cx="3611880" cy="2331720"/>
          </a:xfrm>
          <a:prstGeom prst="roundRect">
            <a:avLst>
              <a:gd name="adj" fmla="val 3922"/>
            </a:avLst>
          </a:prstGeom>
          <a:solidFill>
            <a:srgbClr val="1E2761"/>
          </a:solidFill>
          <a:ln w="12700">
            <a:solidFill>
              <a:srgbClr val="CADCFC"/>
            </a:solidFill>
            <a:prstDash val="solid"/>
          </a:ln>
        </p:spPr>
        <p:txBody>
          <a:bodyPr/>
          <a:lstStyle/>
          <a:p>
            <a:endParaRPr/>
          </a:p>
        </p:txBody>
      </p:sp>
      <p:sp>
        <p:nvSpPr>
          <p:cNvPr id="11" name="Shape 9"/>
          <p:cNvSpPr/>
          <p:nvPr/>
        </p:nvSpPr>
        <p:spPr>
          <a:xfrm>
            <a:off x="4480560" y="2011680"/>
            <a:ext cx="502920" cy="502920"/>
          </a:xfrm>
          <a:prstGeom prst="roundRect">
            <a:avLst>
              <a:gd name="adj" fmla="val 50909"/>
            </a:avLst>
          </a:prstGeom>
          <a:solidFill>
            <a:srgbClr val="F2A900"/>
          </a:solidFill>
          <a:ln/>
        </p:spPr>
        <p:txBody>
          <a:bodyPr/>
          <a:lstStyle/>
          <a:p>
            <a:endParaRPr/>
          </a:p>
        </p:txBody>
      </p:sp>
      <p:sp>
        <p:nvSpPr>
          <p:cNvPr id="12" name="Text 10"/>
          <p:cNvSpPr/>
          <p:nvPr/>
        </p:nvSpPr>
        <p:spPr>
          <a:xfrm>
            <a:off x="4480560" y="2011680"/>
            <a:ext cx="502920" cy="5029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2</a:t>
            </a:r>
            <a:endPar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4480560" y="2651760"/>
            <a:ext cx="3154680"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Logical Channel Bandwidth</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4480560" y="3200400"/>
            <a:ext cx="3154680" cy="9144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Process-to-process bandwidth is also shaped by how many times software must handle or transform each bit.</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8046720" y="1783080"/>
            <a:ext cx="3611880" cy="2331720"/>
          </a:xfrm>
          <a:prstGeom prst="roundRect">
            <a:avLst>
              <a:gd name="adj" fmla="val 3922"/>
            </a:avLst>
          </a:prstGeom>
          <a:solidFill>
            <a:srgbClr val="FFFFFF"/>
          </a:solidFill>
          <a:ln w="12700">
            <a:solidFill>
              <a:srgbClr val="CADCFC"/>
            </a:solidFill>
            <a:prstDash val="solid"/>
          </a:ln>
        </p:spPr>
        <p:txBody>
          <a:bodyPr/>
          <a:lstStyle/>
          <a:p>
            <a:endParaRPr/>
          </a:p>
        </p:txBody>
      </p:sp>
      <p:sp>
        <p:nvSpPr>
          <p:cNvPr id="16" name="Shape 14"/>
          <p:cNvSpPr/>
          <p:nvPr/>
        </p:nvSpPr>
        <p:spPr>
          <a:xfrm>
            <a:off x="8275320" y="2011680"/>
            <a:ext cx="502920" cy="502920"/>
          </a:xfrm>
          <a:prstGeom prst="roundRect">
            <a:avLst>
              <a:gd name="adj" fmla="val 50909"/>
            </a:avLst>
          </a:prstGeom>
          <a:solidFill>
            <a:srgbClr val="1E2761"/>
          </a:solidFill>
          <a:ln/>
        </p:spPr>
        <p:txBody>
          <a:bodyPr/>
          <a:lstStyle/>
          <a:p>
            <a:endParaRPr/>
          </a:p>
        </p:txBody>
      </p:sp>
      <p:sp>
        <p:nvSpPr>
          <p:cNvPr id="17" name="Text 15"/>
          <p:cNvSpPr/>
          <p:nvPr/>
        </p:nvSpPr>
        <p:spPr>
          <a:xfrm>
            <a:off x="8275320" y="2011680"/>
            <a:ext cx="502920" cy="5029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3</a:t>
            </a:r>
            <a:endPar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8275320" y="2651760"/>
            <a:ext cx="3154680"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Bit Width</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8275320" y="3200400"/>
            <a:ext cx="3154680" cy="9144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Each bit occupies a fixed 'width' in time  e.g. 1 μs at 1 Mbps, 0.5 μs at 2 Mbps. Higher bandwidth = narrower bits.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457200" y="4343400"/>
            <a:ext cx="11247120" cy="1554480"/>
          </a:xfrm>
          <a:prstGeom prst="roundRect">
            <a:avLst>
              <a:gd name="adj" fmla="val 5882"/>
            </a:avLst>
          </a:prstGeom>
          <a:solidFill>
            <a:srgbClr val="EEF3FC"/>
          </a:solidFill>
          <a:ln w="12700">
            <a:solidFill>
              <a:srgbClr val="CADCFC"/>
            </a:solidFill>
            <a:prstDash val="solid"/>
          </a:ln>
        </p:spPr>
        <p:txBody>
          <a:bodyPr/>
          <a:lstStyle/>
          <a:p>
            <a:endParaRPr/>
          </a:p>
        </p:txBody>
      </p:sp>
      <p:sp>
        <p:nvSpPr>
          <p:cNvPr id="21" name="Text 19"/>
          <p:cNvSpPr/>
          <p:nvPr/>
        </p:nvSpPr>
        <p:spPr>
          <a:xfrm>
            <a:off x="731520" y="4480560"/>
            <a:ext cx="45720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Example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731520" y="4800600"/>
            <a:ext cx="10698480" cy="10058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On a 10-Mbps link: Time to transmit 1 bit = 1 / (10 × 10⁶) = 0.1 μs.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On a 100-Mbps link: Time to transmit 1 bit = 1 / (100 × 10⁶) = 0.01 μs — bits are 10× narrower.</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Box 22"/>
          <p:cNvSpPr txBox="1"/>
          <p:nvPr/>
        </p:nvSpPr>
        <p:spPr>
          <a:xfrm>
            <a:off x="11792000" y="6638000"/>
            <a:ext cx="200000" cy="100000"/>
          </a:xfrm>
          <a:prstGeom prst="rect">
            <a:avLst/>
          </a:prstGeom>
          <a:noFill/>
        </p:spPr>
        <p:txBody>
          <a:bodyPr wrap="none">
            <a:spAutoFit/>
          </a:bodyPr>
          <a:lstStyle/>
          <a:p>
            <a:pPr>
              <a:defRPr sz="1000"/>
            </a:pPr>
            <a:r>
              <a:t>78</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141B45"/>
        </a:solidFill>
        <a:effectLst/>
      </p:bgPr>
    </p:bg>
    <p:spTree>
      <p:nvGrpSpPr>
        <p:cNvPr id="1" name=""/>
        <p:cNvGrpSpPr/>
        <p:nvPr/>
      </p:nvGrpSpPr>
      <p:grpSpPr>
        <a:xfrm>
          <a:off x="0" y="0"/>
          <a:ext cx="0" cy="0"/>
          <a:chOff x="0" y="0"/>
          <a:chExt cx="0" cy="0"/>
        </a:xfrm>
      </p:grpSpPr>
      <p:sp>
        <p:nvSpPr>
          <p:cNvPr id="2" name="Shape 0"/>
          <p:cNvSpPr/>
          <p:nvPr/>
        </p:nvSpPr>
        <p:spPr>
          <a:xfrm>
            <a:off x="457200" y="411480"/>
            <a:ext cx="3017520" cy="457200"/>
          </a:xfrm>
          <a:prstGeom prst="roundRect">
            <a:avLst>
              <a:gd name="adj" fmla="val 16000"/>
            </a:avLst>
          </a:prstGeom>
          <a:solidFill>
            <a:srgbClr val="F2A900"/>
          </a:solidFill>
          <a:ln/>
        </p:spPr>
        <p:txBody>
          <a:bodyPr/>
          <a:lstStyle/>
          <a:p>
            <a:endParaRPr/>
          </a:p>
        </p:txBody>
      </p:sp>
      <p:sp>
        <p:nvSpPr>
          <p:cNvPr id="3" name="Text 1"/>
          <p:cNvSpPr/>
          <p:nvPr/>
        </p:nvSpPr>
        <p:spPr>
          <a:xfrm>
            <a:off x="457200" y="411480"/>
            <a:ext cx="3017520"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41B45"/>
                </a:solidFill>
                <a:effectLst/>
                <a:uLnTx/>
                <a:uFillTx/>
                <a:latin typeface="Calibri" pitchFamily="34" charset="0"/>
                <a:ea typeface="Calibri" pitchFamily="34" charset="-122"/>
                <a:cs typeface="Calibri" pitchFamily="34" charset="-120"/>
              </a:rPr>
              <a:t> Hands-On Activity </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457200" y="1005840"/>
            <a:ext cx="1124712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Bandwidth vs Throughput — Real Life</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457200" y="2423160"/>
            <a:ext cx="11247120" cy="868680"/>
          </a:xfrm>
          <a:prstGeom prst="roundRect">
            <a:avLst>
              <a:gd name="adj" fmla="val 8421"/>
            </a:avLst>
          </a:prstGeom>
          <a:solidFill>
            <a:srgbClr val="27306B"/>
          </a:solidFill>
          <a:ln w="12700">
            <a:solidFill>
              <a:srgbClr val="3A458A"/>
            </a:solidFill>
            <a:prstDash val="solid"/>
          </a:ln>
        </p:spPr>
        <p:txBody>
          <a:bodyPr/>
          <a:lstStyle/>
          <a:p>
            <a:endParaRPr/>
          </a:p>
        </p:txBody>
      </p:sp>
      <p:sp>
        <p:nvSpPr>
          <p:cNvPr id="7" name="Shape 5"/>
          <p:cNvSpPr/>
          <p:nvPr/>
        </p:nvSpPr>
        <p:spPr>
          <a:xfrm>
            <a:off x="685800" y="2656332"/>
            <a:ext cx="402336" cy="402336"/>
          </a:xfrm>
          <a:prstGeom prst="ellipse">
            <a:avLst/>
          </a:prstGeom>
          <a:solidFill>
            <a:srgbClr val="F2A900"/>
          </a:solidFill>
          <a:ln/>
        </p:spPr>
        <p:txBody>
          <a:bodyPr/>
          <a:lstStyle/>
          <a:p>
            <a:endParaRPr/>
          </a:p>
        </p:txBody>
      </p:sp>
      <p:sp>
        <p:nvSpPr>
          <p:cNvPr id="8" name="Text 6"/>
          <p:cNvSpPr/>
          <p:nvPr/>
        </p:nvSpPr>
        <p:spPr>
          <a:xfrm>
            <a:off x="685800" y="2656332"/>
            <a:ext cx="402336" cy="40233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41B45"/>
                </a:solidFill>
                <a:effectLst/>
                <a:uLnTx/>
                <a:uFillTx/>
                <a:latin typeface="Cambria" pitchFamily="34" charset="0"/>
                <a:ea typeface="Cambria" pitchFamily="34" charset="-122"/>
                <a:cs typeface="Cambria" pitchFamily="34" charset="-120"/>
              </a:rPr>
              <a:t>1</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1234440" y="2496312"/>
            <a:ext cx="10241280" cy="72237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Your ISP advertises "100 Mbps" broadband, but a speed test shows only 62 Mbps. List THREE possible real-world causes for this gap.</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457200" y="3456432"/>
            <a:ext cx="11247120" cy="868680"/>
          </a:xfrm>
          <a:prstGeom prst="roundRect">
            <a:avLst>
              <a:gd name="adj" fmla="val 8421"/>
            </a:avLst>
          </a:prstGeom>
          <a:solidFill>
            <a:srgbClr val="27306B"/>
          </a:solidFill>
          <a:ln w="12700">
            <a:solidFill>
              <a:srgbClr val="3A458A"/>
            </a:solidFill>
            <a:prstDash val="solid"/>
          </a:ln>
        </p:spPr>
        <p:txBody>
          <a:bodyPr/>
          <a:lstStyle/>
          <a:p>
            <a:endParaRPr/>
          </a:p>
        </p:txBody>
      </p:sp>
      <p:sp>
        <p:nvSpPr>
          <p:cNvPr id="11" name="Shape 9"/>
          <p:cNvSpPr/>
          <p:nvPr/>
        </p:nvSpPr>
        <p:spPr>
          <a:xfrm>
            <a:off x="685800" y="3689604"/>
            <a:ext cx="402336" cy="402336"/>
          </a:xfrm>
          <a:prstGeom prst="ellipse">
            <a:avLst/>
          </a:prstGeom>
          <a:solidFill>
            <a:srgbClr val="F2A900"/>
          </a:solidFill>
          <a:ln/>
        </p:spPr>
        <p:txBody>
          <a:bodyPr/>
          <a:lstStyle/>
          <a:p>
            <a:endParaRPr/>
          </a:p>
        </p:txBody>
      </p:sp>
      <p:sp>
        <p:nvSpPr>
          <p:cNvPr id="12" name="Text 10"/>
          <p:cNvSpPr/>
          <p:nvPr/>
        </p:nvSpPr>
        <p:spPr>
          <a:xfrm>
            <a:off x="685800" y="3689604"/>
            <a:ext cx="402336" cy="40233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41B45"/>
                </a:solidFill>
                <a:effectLst/>
                <a:uLnTx/>
                <a:uFillTx/>
                <a:latin typeface="Cambria" pitchFamily="34" charset="0"/>
                <a:ea typeface="Cambria" pitchFamily="34" charset="-122"/>
                <a:cs typeface="Cambria" pitchFamily="34" charset="-120"/>
              </a:rPr>
              <a:t>2</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1234440" y="3529584"/>
            <a:ext cx="10241280" cy="72237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 file-sharing app needs "whatever bandwidth it can get," while a video call needs a fixed 3 Mbps. Classify 3 more everyday apps by their bandwidth requirement type.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457200" y="4489704"/>
            <a:ext cx="11247120" cy="868680"/>
          </a:xfrm>
          <a:prstGeom prst="roundRect">
            <a:avLst>
              <a:gd name="adj" fmla="val 8421"/>
            </a:avLst>
          </a:prstGeom>
          <a:solidFill>
            <a:srgbClr val="27306B"/>
          </a:solidFill>
          <a:ln w="12700">
            <a:solidFill>
              <a:srgbClr val="3A458A"/>
            </a:solidFill>
            <a:prstDash val="solid"/>
          </a:ln>
        </p:spPr>
        <p:txBody>
          <a:bodyPr/>
          <a:lstStyle/>
          <a:p>
            <a:endParaRPr/>
          </a:p>
        </p:txBody>
      </p:sp>
      <p:sp>
        <p:nvSpPr>
          <p:cNvPr id="15" name="Shape 13"/>
          <p:cNvSpPr/>
          <p:nvPr/>
        </p:nvSpPr>
        <p:spPr>
          <a:xfrm>
            <a:off x="685800" y="4722876"/>
            <a:ext cx="402336" cy="402336"/>
          </a:xfrm>
          <a:prstGeom prst="ellipse">
            <a:avLst/>
          </a:prstGeom>
          <a:solidFill>
            <a:srgbClr val="F2A900"/>
          </a:solidFill>
          <a:ln/>
        </p:spPr>
        <p:txBody>
          <a:bodyPr/>
          <a:lstStyle/>
          <a:p>
            <a:endParaRPr/>
          </a:p>
        </p:txBody>
      </p:sp>
      <p:sp>
        <p:nvSpPr>
          <p:cNvPr id="16" name="Text 14"/>
          <p:cNvSpPr/>
          <p:nvPr/>
        </p:nvSpPr>
        <p:spPr>
          <a:xfrm>
            <a:off x="685800" y="4722876"/>
            <a:ext cx="402336" cy="40233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41B45"/>
                </a:solidFill>
                <a:effectLst/>
                <a:uLnTx/>
                <a:uFillTx/>
                <a:latin typeface="Cambria" pitchFamily="34" charset="0"/>
                <a:ea typeface="Cambria" pitchFamily="34" charset="-122"/>
                <a:cs typeface="Cambria" pitchFamily="34" charset="-120"/>
              </a:rPr>
              <a:t>3</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1234440" y="4562856"/>
            <a:ext cx="10241280" cy="72237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Quick Poll: Would doubling your Wi-Fi router's advertised bandwidth double your real download speed? Justify your answer using today's concepts.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Box 17"/>
          <p:cNvSpPr txBox="1"/>
          <p:nvPr/>
        </p:nvSpPr>
        <p:spPr>
          <a:xfrm>
            <a:off x="11792000" y="6638000"/>
            <a:ext cx="200000" cy="100000"/>
          </a:xfrm>
          <a:prstGeom prst="rect">
            <a:avLst/>
          </a:prstGeom>
          <a:noFill/>
        </p:spPr>
        <p:txBody>
          <a:bodyPr wrap="none">
            <a:spAutoFit/>
          </a:bodyPr>
          <a:lstStyle/>
          <a:p>
            <a:pPr>
              <a:defRPr sz="1000"/>
            </a:pPr>
            <a:r>
              <a:t>79</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457200" y="868680"/>
            <a:ext cx="11274552"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30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Latency: The Time Cost of a Journey</a:t>
            </a:r>
            <a:endParaRPr kumimoji="0" lang="en-US" sz="3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457200" y="1737360"/>
            <a:ext cx="6675120" cy="2011680"/>
          </a:xfrm>
          <a:prstGeom prst="roundRect">
            <a:avLst>
              <a:gd name="adj" fmla="val 4545"/>
            </a:avLst>
          </a:prstGeom>
          <a:solidFill>
            <a:srgbClr val="EEF3FC"/>
          </a:solidFill>
          <a:ln w="12700">
            <a:solidFill>
              <a:srgbClr val="CADCFC"/>
            </a:solidFill>
            <a:prstDash val="solid"/>
          </a:ln>
        </p:spPr>
        <p:txBody>
          <a:bodyPr/>
          <a:lstStyle/>
          <a:p>
            <a:endParaRPr/>
          </a:p>
        </p:txBody>
      </p:sp>
      <p:sp>
        <p:nvSpPr>
          <p:cNvPr id="6" name="Text 4"/>
          <p:cNvSpPr/>
          <p:nvPr/>
        </p:nvSpPr>
        <p:spPr>
          <a:xfrm>
            <a:off x="731520" y="1874520"/>
            <a:ext cx="36576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Definition</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731520" y="2194560"/>
            <a:ext cx="6126480" cy="7772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Latency (delay) is how long it takes a message to travel from one end of a network to the other.</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731520" y="2971800"/>
            <a:ext cx="6126480" cy="6858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5B6584"/>
                </a:solidFill>
                <a:effectLst/>
                <a:uLnTx/>
                <a:uFillTx/>
                <a:latin typeface="Calibri" pitchFamily="34" charset="0"/>
                <a:ea typeface="Calibri" pitchFamily="34" charset="-122"/>
                <a:cs typeface="Calibri" pitchFamily="34" charset="-120"/>
              </a:rPr>
              <a:t>Example: A transcontinental network may have a one-way latency of 24 ms.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457200" y="3931920"/>
            <a:ext cx="6675120" cy="2103120"/>
          </a:xfrm>
          <a:prstGeom prst="roundRect">
            <a:avLst>
              <a:gd name="adj" fmla="val 4348"/>
            </a:avLst>
          </a:prstGeom>
          <a:solidFill>
            <a:srgbClr val="FFFFFF"/>
          </a:solidFill>
          <a:ln w="12700">
            <a:solidFill>
              <a:srgbClr val="CADCFC"/>
            </a:solidFill>
            <a:prstDash val="solid"/>
          </a:ln>
        </p:spPr>
        <p:txBody>
          <a:bodyPr/>
          <a:lstStyle/>
          <a:p>
            <a:endParaRPr/>
          </a:p>
        </p:txBody>
      </p:sp>
      <p:sp>
        <p:nvSpPr>
          <p:cNvPr id="10" name="Text 8"/>
          <p:cNvSpPr/>
          <p:nvPr/>
        </p:nvSpPr>
        <p:spPr>
          <a:xfrm>
            <a:off x="731520" y="4069080"/>
            <a:ext cx="59436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Round-Trip Time (RTT)</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731520" y="4389120"/>
            <a:ext cx="6126480" cy="1463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The time to send a message from one end to the other AND back , often more important than one-way latency in practice (e.g. request–response protocols, TCP handshakes).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7452360" y="1737360"/>
            <a:ext cx="4251960" cy="4297680"/>
          </a:xfrm>
          <a:prstGeom prst="roundRect">
            <a:avLst>
              <a:gd name="adj" fmla="val 2151"/>
            </a:avLst>
          </a:prstGeom>
          <a:solidFill>
            <a:srgbClr val="1E2761"/>
          </a:solidFill>
          <a:ln/>
        </p:spPr>
        <p:txBody>
          <a:bodyPr/>
          <a:lstStyle/>
          <a:p>
            <a:endParaRPr/>
          </a:p>
        </p:txBody>
      </p:sp>
      <p:sp>
        <p:nvSpPr>
          <p:cNvPr id="13" name="Text 11"/>
          <p:cNvSpPr/>
          <p:nvPr/>
        </p:nvSpPr>
        <p:spPr>
          <a:xfrm>
            <a:off x="7726680" y="1920240"/>
            <a:ext cx="36576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0" cap="none" spc="100" normalizeH="0" baseline="0" noProof="0" dirty="0">
                <a:ln>
                  <a:noFill/>
                </a:ln>
                <a:solidFill>
                  <a:srgbClr val="F2A900"/>
                </a:solidFill>
                <a:effectLst/>
                <a:uLnTx/>
                <a:uFillTx/>
                <a:latin typeface="Calibri" pitchFamily="34" charset="0"/>
                <a:ea typeface="Calibri" pitchFamily="34" charset="-122"/>
                <a:cs typeface="Calibri" pitchFamily="34" charset="-120"/>
              </a:rPr>
              <a:t>REMEMBER</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7726680" y="2286000"/>
            <a:ext cx="3657600"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Latency ≠ Bandwidth</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7726680" y="2880360"/>
            <a:ext cx="3703320" cy="7772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Latency is measured strictly in units of TIME (ms, μs) , never in bits/second.</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7726680" y="3840480"/>
            <a:ext cx="3474720" cy="0"/>
          </a:xfrm>
          <a:prstGeom prst="line">
            <a:avLst/>
          </a:prstGeom>
          <a:noFill/>
          <a:ln w="12700">
            <a:solidFill>
              <a:srgbClr val="3A458A"/>
            </a:solidFill>
            <a:prstDash val="solid"/>
          </a:ln>
        </p:spPr>
        <p:txBody>
          <a:bodyPr/>
          <a:lstStyle/>
          <a:p>
            <a:endParaRPr/>
          </a:p>
        </p:txBody>
      </p:sp>
      <p:sp>
        <p:nvSpPr>
          <p:cNvPr id="17" name="Text 15"/>
          <p:cNvSpPr/>
          <p:nvPr/>
        </p:nvSpPr>
        <p:spPr>
          <a:xfrm>
            <a:off x="7726680" y="4023360"/>
            <a:ext cx="36576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One-way latency</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7726680" y="4343400"/>
            <a:ext cx="36576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Source → Destination, single direction</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7726680" y="4800600"/>
            <a:ext cx="36576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Round-Trip Time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7726680" y="5120640"/>
            <a:ext cx="36576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Source → Destination → back to Source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Box 20"/>
          <p:cNvSpPr txBox="1"/>
          <p:nvPr/>
        </p:nvSpPr>
        <p:spPr>
          <a:xfrm>
            <a:off x="11792000" y="6638000"/>
            <a:ext cx="200000" cy="100000"/>
          </a:xfrm>
          <a:prstGeom prst="rect">
            <a:avLst/>
          </a:prstGeom>
          <a:noFill/>
        </p:spPr>
        <p:txBody>
          <a:bodyPr wrap="none">
            <a:spAutoFit/>
          </a:bodyPr>
          <a:lstStyle/>
          <a:p>
            <a:pPr>
              <a:defRPr sz="1000"/>
            </a:pPr>
            <a:r>
              <a:t>80</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457200" y="868680"/>
            <a:ext cx="11274552"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5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The Three Components of Latency</a:t>
            </a:r>
            <a:endParaRPr kumimoji="0" lang="en-US" sz="3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457200" y="1783080"/>
            <a:ext cx="3611880" cy="3017520"/>
          </a:xfrm>
          <a:prstGeom prst="roundRect">
            <a:avLst>
              <a:gd name="adj" fmla="val 3030"/>
            </a:avLst>
          </a:prstGeom>
          <a:solidFill>
            <a:srgbClr val="FFFFFF"/>
          </a:solidFill>
          <a:ln w="12700">
            <a:solidFill>
              <a:srgbClr val="CADCFC"/>
            </a:solidFill>
            <a:prstDash val="solid"/>
          </a:ln>
        </p:spPr>
        <p:txBody>
          <a:bodyPr/>
          <a:lstStyle/>
          <a:p>
            <a:endParaRPr/>
          </a:p>
        </p:txBody>
      </p:sp>
      <p:sp>
        <p:nvSpPr>
          <p:cNvPr id="6" name="Shape 4"/>
          <p:cNvSpPr/>
          <p:nvPr/>
        </p:nvSpPr>
        <p:spPr>
          <a:xfrm>
            <a:off x="685800" y="2011680"/>
            <a:ext cx="548640" cy="548640"/>
          </a:xfrm>
          <a:prstGeom prst="roundRect">
            <a:avLst>
              <a:gd name="adj" fmla="val 50000"/>
            </a:avLst>
          </a:prstGeom>
          <a:solidFill>
            <a:srgbClr val="1E2761"/>
          </a:solidFill>
          <a:ln/>
        </p:spPr>
        <p:txBody>
          <a:bodyPr/>
          <a:lstStyle/>
          <a:p>
            <a:endParaRPr/>
          </a:p>
        </p:txBody>
      </p:sp>
      <p:sp>
        <p:nvSpPr>
          <p:cNvPr id="7" name="Text 5"/>
          <p:cNvSpPr/>
          <p:nvPr/>
        </p:nvSpPr>
        <p:spPr>
          <a:xfrm>
            <a:off x="685800" y="2011680"/>
            <a:ext cx="548640" cy="5486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1</a:t>
            </a:r>
            <a:endPar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685800" y="2697480"/>
            <a:ext cx="3154680"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Propagation Delay</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685800" y="3291840"/>
            <a:ext cx="3154680" cy="13716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Time for a signal to physically travel through the medium — limited by the speed of light in that medium.</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4251960" y="1783080"/>
            <a:ext cx="3611880" cy="3017520"/>
          </a:xfrm>
          <a:prstGeom prst="roundRect">
            <a:avLst>
              <a:gd name="adj" fmla="val 3030"/>
            </a:avLst>
          </a:prstGeom>
          <a:solidFill>
            <a:srgbClr val="FFFFFF"/>
          </a:solidFill>
          <a:ln w="12700">
            <a:solidFill>
              <a:srgbClr val="CADCFC"/>
            </a:solidFill>
            <a:prstDash val="solid"/>
          </a:ln>
        </p:spPr>
        <p:txBody>
          <a:bodyPr/>
          <a:lstStyle/>
          <a:p>
            <a:endParaRPr/>
          </a:p>
        </p:txBody>
      </p:sp>
      <p:sp>
        <p:nvSpPr>
          <p:cNvPr id="11" name="Shape 9"/>
          <p:cNvSpPr/>
          <p:nvPr/>
        </p:nvSpPr>
        <p:spPr>
          <a:xfrm>
            <a:off x="4480560" y="2011680"/>
            <a:ext cx="548640" cy="548640"/>
          </a:xfrm>
          <a:prstGeom prst="roundRect">
            <a:avLst>
              <a:gd name="adj" fmla="val 50000"/>
            </a:avLst>
          </a:prstGeom>
          <a:solidFill>
            <a:srgbClr val="2A3670"/>
          </a:solidFill>
          <a:ln/>
        </p:spPr>
        <p:txBody>
          <a:bodyPr/>
          <a:lstStyle/>
          <a:p>
            <a:endParaRPr/>
          </a:p>
        </p:txBody>
      </p:sp>
      <p:sp>
        <p:nvSpPr>
          <p:cNvPr id="12" name="Text 10"/>
          <p:cNvSpPr/>
          <p:nvPr/>
        </p:nvSpPr>
        <p:spPr>
          <a:xfrm>
            <a:off x="4480560" y="2011680"/>
            <a:ext cx="548640" cy="5486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2</a:t>
            </a:r>
            <a:endPar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4480560" y="2697480"/>
            <a:ext cx="3154680"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Transmit Delay</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4480560" y="3291840"/>
            <a:ext cx="3154680" cy="13716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Time needed to push all bits of a packet onto the link — depends on packet size and bandwidth.</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8046720" y="1783080"/>
            <a:ext cx="3611880" cy="3017520"/>
          </a:xfrm>
          <a:prstGeom prst="roundRect">
            <a:avLst>
              <a:gd name="adj" fmla="val 3030"/>
            </a:avLst>
          </a:prstGeom>
          <a:solidFill>
            <a:srgbClr val="FFFFFF"/>
          </a:solidFill>
          <a:ln w="12700">
            <a:solidFill>
              <a:srgbClr val="CADCFC"/>
            </a:solidFill>
            <a:prstDash val="solid"/>
          </a:ln>
        </p:spPr>
        <p:txBody>
          <a:bodyPr/>
          <a:lstStyle/>
          <a:p>
            <a:endParaRPr/>
          </a:p>
        </p:txBody>
      </p:sp>
      <p:sp>
        <p:nvSpPr>
          <p:cNvPr id="16" name="Shape 14"/>
          <p:cNvSpPr/>
          <p:nvPr/>
        </p:nvSpPr>
        <p:spPr>
          <a:xfrm>
            <a:off x="8275320" y="2011680"/>
            <a:ext cx="548640" cy="548640"/>
          </a:xfrm>
          <a:prstGeom prst="roundRect">
            <a:avLst>
              <a:gd name="adj" fmla="val 50000"/>
            </a:avLst>
          </a:prstGeom>
          <a:solidFill>
            <a:srgbClr val="C9860A"/>
          </a:solidFill>
          <a:ln/>
        </p:spPr>
        <p:txBody>
          <a:bodyPr/>
          <a:lstStyle/>
          <a:p>
            <a:endParaRPr/>
          </a:p>
        </p:txBody>
      </p:sp>
      <p:sp>
        <p:nvSpPr>
          <p:cNvPr id="17" name="Text 15"/>
          <p:cNvSpPr/>
          <p:nvPr/>
        </p:nvSpPr>
        <p:spPr>
          <a:xfrm>
            <a:off x="8275320" y="2011680"/>
            <a:ext cx="548640" cy="5486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3</a:t>
            </a:r>
            <a:endPar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8275320" y="2697480"/>
            <a:ext cx="3154680"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Queuing Delay</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8275320" y="3291840"/>
            <a:ext cx="3154680" cy="13716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Time a packet waits inside switches/routers before being forwarded on an outbound link.</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457200" y="4983480"/>
            <a:ext cx="11247120" cy="914400"/>
          </a:xfrm>
          <a:prstGeom prst="roundRect">
            <a:avLst>
              <a:gd name="adj" fmla="val 10000"/>
            </a:avLst>
          </a:prstGeom>
          <a:solidFill>
            <a:srgbClr val="1E2761"/>
          </a:solidFill>
          <a:ln/>
        </p:spPr>
        <p:txBody>
          <a:bodyPr/>
          <a:lstStyle/>
          <a:p>
            <a:endParaRPr/>
          </a:p>
        </p:txBody>
      </p:sp>
      <p:sp>
        <p:nvSpPr>
          <p:cNvPr id="21" name="Text 19"/>
          <p:cNvSpPr/>
          <p:nvPr/>
        </p:nvSpPr>
        <p:spPr>
          <a:xfrm>
            <a:off x="457200" y="4983480"/>
            <a:ext cx="11247120" cy="9144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50" b="1" i="0" u="none" strike="noStrike" kern="1200" cap="none" spc="0" normalizeH="0" baseline="0" noProof="0" dirty="0">
                <a:ln>
                  <a:noFill/>
                </a:ln>
                <a:solidFill>
                  <a:srgbClr val="F2A900"/>
                </a:solidFill>
                <a:effectLst/>
                <a:uLnTx/>
                <a:uFillTx/>
                <a:latin typeface="Cambria" pitchFamily="34" charset="0"/>
                <a:ea typeface="Cambria" pitchFamily="34" charset="-122"/>
                <a:cs typeface="Cambria" pitchFamily="34" charset="-120"/>
              </a:rPr>
              <a:t>Latency  =  Propagation  +  Transmit  +  Queue</a:t>
            </a:r>
            <a:endParaRPr kumimoji="0" lang="en-US" sz="2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Box 21"/>
          <p:cNvSpPr txBox="1"/>
          <p:nvPr/>
        </p:nvSpPr>
        <p:spPr>
          <a:xfrm>
            <a:off x="11792000" y="6638000"/>
            <a:ext cx="200000" cy="100000"/>
          </a:xfrm>
          <a:prstGeom prst="rect">
            <a:avLst/>
          </a:prstGeom>
          <a:noFill/>
        </p:spPr>
        <p:txBody>
          <a:bodyPr wrap="none">
            <a:spAutoFit/>
          </a:bodyPr>
          <a:lstStyle/>
          <a:p>
            <a:pPr>
              <a:defRPr sz="1000"/>
            </a:pPr>
            <a:r>
              <a:t>81</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457200" y="868680"/>
            <a:ext cx="11274552"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30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Latency Formulas</a:t>
            </a:r>
            <a:endParaRPr kumimoji="0" lang="en-US" sz="3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457200" y="1783080"/>
            <a:ext cx="5486400" cy="1874520"/>
          </a:xfrm>
          <a:prstGeom prst="roundRect">
            <a:avLst>
              <a:gd name="adj" fmla="val 4878"/>
            </a:avLst>
          </a:prstGeom>
          <a:solidFill>
            <a:srgbClr val="EEF3FC"/>
          </a:solidFill>
          <a:ln w="12700">
            <a:solidFill>
              <a:srgbClr val="CADCFC"/>
            </a:solidFill>
            <a:prstDash val="solid"/>
          </a:ln>
        </p:spPr>
        <p:txBody>
          <a:bodyPr/>
          <a:lstStyle/>
          <a:p>
            <a:endParaRPr/>
          </a:p>
        </p:txBody>
      </p:sp>
      <p:sp>
        <p:nvSpPr>
          <p:cNvPr id="6" name="Text 4"/>
          <p:cNvSpPr/>
          <p:nvPr/>
        </p:nvSpPr>
        <p:spPr>
          <a:xfrm>
            <a:off x="731520" y="1920240"/>
            <a:ext cx="493776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Propagation Delay</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731520" y="2286000"/>
            <a:ext cx="493776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Propagation = Distance / SpeedOfLight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731520" y="2834640"/>
            <a:ext cx="4937760" cy="6858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Distance = length of the wire; SpeedOfLight = effective speed in that medium.</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6217920" y="1783080"/>
            <a:ext cx="5486400" cy="1874520"/>
          </a:xfrm>
          <a:prstGeom prst="roundRect">
            <a:avLst>
              <a:gd name="adj" fmla="val 4878"/>
            </a:avLst>
          </a:prstGeom>
          <a:solidFill>
            <a:srgbClr val="EEF3FC"/>
          </a:solidFill>
          <a:ln w="12700">
            <a:solidFill>
              <a:srgbClr val="CADCFC"/>
            </a:solidFill>
            <a:prstDash val="solid"/>
          </a:ln>
        </p:spPr>
        <p:txBody>
          <a:bodyPr/>
          <a:lstStyle/>
          <a:p>
            <a:endParaRPr/>
          </a:p>
        </p:txBody>
      </p:sp>
      <p:sp>
        <p:nvSpPr>
          <p:cNvPr id="10" name="Text 8"/>
          <p:cNvSpPr/>
          <p:nvPr/>
        </p:nvSpPr>
        <p:spPr>
          <a:xfrm>
            <a:off x="6492240" y="1920240"/>
            <a:ext cx="493776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Transmit Delay</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6492240" y="2286000"/>
            <a:ext cx="493776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Transmit = Size / Bandwidth</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492240" y="2834640"/>
            <a:ext cx="4937760" cy="6858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Size = packet size (bits); Bandwidth = link's transmission rate.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457200" y="3840480"/>
            <a:ext cx="11247120" cy="1417320"/>
          </a:xfrm>
          <a:prstGeom prst="roundRect">
            <a:avLst>
              <a:gd name="adj" fmla="val 6452"/>
            </a:avLst>
          </a:prstGeom>
          <a:solidFill>
            <a:srgbClr val="1E2761"/>
          </a:solidFill>
          <a:ln/>
        </p:spPr>
        <p:txBody>
          <a:bodyPr/>
          <a:lstStyle/>
          <a:p>
            <a:endParaRPr/>
          </a:p>
        </p:txBody>
      </p:sp>
      <p:sp>
        <p:nvSpPr>
          <p:cNvPr id="14" name="Text 12"/>
          <p:cNvSpPr/>
          <p:nvPr/>
        </p:nvSpPr>
        <p:spPr>
          <a:xfrm>
            <a:off x="457200" y="3977640"/>
            <a:ext cx="11247120" cy="5486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2A900"/>
                </a:solidFill>
                <a:effectLst/>
                <a:uLnTx/>
                <a:uFillTx/>
                <a:latin typeface="Cambria" pitchFamily="34" charset="0"/>
                <a:ea typeface="Cambria" pitchFamily="34" charset="-122"/>
                <a:cs typeface="Cambria" pitchFamily="34" charset="-120"/>
              </a:rPr>
              <a:t>Total Latency = Propagation + Transmit + Queue</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822960" y="4572000"/>
            <a:ext cx="10515600" cy="5486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Special case: for a single link and a 1-bit message, Transmit and Queue vanish — latency = propagation delay only.</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457200" y="5486400"/>
            <a:ext cx="11247120" cy="868680"/>
          </a:xfrm>
          <a:prstGeom prst="roundRect">
            <a:avLst>
              <a:gd name="adj" fmla="val 10526"/>
            </a:avLst>
          </a:prstGeom>
          <a:solidFill>
            <a:srgbClr val="EEF3FC"/>
          </a:solidFill>
          <a:ln w="12700">
            <a:solidFill>
              <a:srgbClr val="CADCFC"/>
            </a:solidFill>
            <a:prstDash val="solid"/>
          </a:ln>
        </p:spPr>
        <p:txBody>
          <a:bodyPr/>
          <a:lstStyle/>
          <a:p>
            <a:endParaRPr/>
          </a:p>
        </p:txBody>
      </p:sp>
      <p:sp>
        <p:nvSpPr>
          <p:cNvPr id="17" name="Text 15"/>
          <p:cNvSpPr/>
          <p:nvPr/>
        </p:nvSpPr>
        <p:spPr>
          <a:xfrm>
            <a:off x="731520" y="5623560"/>
            <a:ext cx="10698480" cy="5943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"Latency" and "delay" are used generically in networking; "propagation delay" refers specifically to signal travel time.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Box 17"/>
          <p:cNvSpPr txBox="1"/>
          <p:nvPr/>
        </p:nvSpPr>
        <p:spPr>
          <a:xfrm>
            <a:off x="11792000" y="6638000"/>
            <a:ext cx="200000" cy="100000"/>
          </a:xfrm>
          <a:prstGeom prst="rect">
            <a:avLst/>
          </a:prstGeom>
          <a:noFill/>
        </p:spPr>
        <p:txBody>
          <a:bodyPr wrap="none">
            <a:spAutoFit/>
          </a:bodyPr>
          <a:lstStyle/>
          <a:p>
            <a:pPr>
              <a:defRPr sz="1000"/>
            </a:pPr>
            <a:r>
              <a:t>82</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457200" y="868680"/>
            <a:ext cx="11274552"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5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Speed of Light Varies by Medium</a:t>
            </a:r>
            <a:endParaRPr kumimoji="0" lang="en-US" sz="3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12" name="Table 0"/>
          <p:cNvGraphicFramePr>
            <a:graphicFrameLocks noGrp="1"/>
          </p:cNvGraphicFramePr>
          <p:nvPr/>
        </p:nvGraphicFramePr>
        <p:xfrm>
          <a:off x="457200" y="1783080"/>
          <a:ext cx="11247120" cy="1828800"/>
        </p:xfrm>
        <a:graphic>
          <a:graphicData uri="http://schemas.openxmlformats.org/drawingml/2006/table">
            <a:tbl>
              <a:tblPr/>
              <a:tblGrid>
                <a:gridCol w="393192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45720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Medium</a:t>
                      </a:r>
                      <a:endParaRPr lang="en-US" sz="130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Effective Speed of Light</a:t>
                      </a:r>
                      <a:endParaRPr lang="en-US" sz="130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Relative to Vacuum</a:t>
                      </a:r>
                      <a:endParaRPr lang="en-US" sz="130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57200">
                <a:tc>
                  <a:txBody>
                    <a:bodyPr/>
                    <a:lstStyle/>
                    <a:p>
                      <a:pPr marL="0" indent="0" algn="l">
                        <a:buNone/>
                      </a:pPr>
                      <a:r>
                        <a:rPr lang="en-US" sz="1500" dirty="0">
                          <a:solidFill>
                            <a:srgbClr val="232B45"/>
                          </a:solidFill>
                          <a:latin typeface="Calibri" pitchFamily="34" charset="0"/>
                          <a:ea typeface="Calibri" pitchFamily="34" charset="-122"/>
                          <a:cs typeface="Calibri" pitchFamily="34" charset="-120"/>
                        </a:rPr>
                        <a:t>Vacuum / Free Space</a:t>
                      </a:r>
                      <a:endParaRPr lang="en-US" sz="15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F3FC"/>
                    </a:solidFill>
                  </a:tcPr>
                </a:tc>
                <a:tc>
                  <a:txBody>
                    <a:bodyPr/>
                    <a:lstStyle/>
                    <a:p>
                      <a:pPr marL="0" indent="0" algn="l">
                        <a:buNone/>
                      </a:pPr>
                      <a:r>
                        <a:rPr lang="en-US" sz="1500" dirty="0">
                          <a:solidFill>
                            <a:srgbClr val="232B45"/>
                          </a:solidFill>
                          <a:latin typeface="Calibri" pitchFamily="34" charset="0"/>
                          <a:ea typeface="Calibri" pitchFamily="34" charset="-122"/>
                          <a:cs typeface="Calibri" pitchFamily="34" charset="-120"/>
                        </a:rPr>
                        <a:t>3.0 × 10⁸ m/s</a:t>
                      </a:r>
                      <a:endParaRPr lang="en-US" sz="15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F3FC"/>
                    </a:solidFill>
                  </a:tcPr>
                </a:tc>
                <a:tc>
                  <a:txBody>
                    <a:bodyPr/>
                    <a:lstStyle/>
                    <a:p>
                      <a:pPr marL="0" indent="0" algn="l">
                        <a:buNone/>
                      </a:pPr>
                      <a:r>
                        <a:rPr lang="en-US" sz="1500" dirty="0">
                          <a:solidFill>
                            <a:srgbClr val="232B45"/>
                          </a:solidFill>
                          <a:latin typeface="Calibri" pitchFamily="34" charset="0"/>
                          <a:ea typeface="Calibri" pitchFamily="34" charset="-122"/>
                          <a:cs typeface="Calibri" pitchFamily="34" charset="-120"/>
                        </a:rPr>
                        <a:t>100% (baseline)</a:t>
                      </a:r>
                      <a:endParaRPr lang="en-US" sz="15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F3FC"/>
                    </a:solidFill>
                  </a:tcPr>
                </a:tc>
                <a:extLst>
                  <a:ext uri="{0D108BD9-81ED-4DB2-BD59-A6C34878D82A}">
                    <a16:rowId xmlns:a16="http://schemas.microsoft.com/office/drawing/2014/main" val="10001"/>
                  </a:ext>
                </a:extLst>
              </a:tr>
              <a:tr h="457200">
                <a:tc>
                  <a:txBody>
                    <a:bodyPr/>
                    <a:lstStyle/>
                    <a:p>
                      <a:pPr marL="0" indent="0" algn="l">
                        <a:buNone/>
                      </a:pPr>
                      <a:r>
                        <a:rPr lang="en-US" sz="1500" dirty="0">
                          <a:solidFill>
                            <a:srgbClr val="232B45"/>
                          </a:solidFill>
                          <a:latin typeface="Calibri" pitchFamily="34" charset="0"/>
                          <a:ea typeface="Calibri" pitchFamily="34" charset="-122"/>
                          <a:cs typeface="Calibri" pitchFamily="34" charset="-120"/>
                        </a:rPr>
                        <a:t>Copper Cable</a:t>
                      </a:r>
                      <a:endParaRPr lang="en-US" sz="15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232B45"/>
                          </a:solidFill>
                          <a:latin typeface="Calibri" pitchFamily="34" charset="0"/>
                          <a:ea typeface="Calibri" pitchFamily="34" charset="-122"/>
                          <a:cs typeface="Calibri" pitchFamily="34" charset="-120"/>
                        </a:rPr>
                        <a:t>2.3 × 10⁸ m/s</a:t>
                      </a:r>
                      <a:endParaRPr lang="en-US" sz="15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232B45"/>
                          </a:solidFill>
                          <a:latin typeface="Calibri" pitchFamily="34" charset="0"/>
                          <a:ea typeface="Calibri" pitchFamily="34" charset="-122"/>
                          <a:cs typeface="Calibri" pitchFamily="34" charset="-120"/>
                        </a:rPr>
                        <a:t>~77%</a:t>
                      </a:r>
                      <a:endParaRPr lang="en-US" sz="15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l">
                        <a:buNone/>
                      </a:pPr>
                      <a:r>
                        <a:rPr lang="en-US" sz="1500" dirty="0">
                          <a:solidFill>
                            <a:srgbClr val="232B45"/>
                          </a:solidFill>
                          <a:latin typeface="Calibri" pitchFamily="34" charset="0"/>
                          <a:ea typeface="Calibri" pitchFamily="34" charset="-122"/>
                          <a:cs typeface="Calibri" pitchFamily="34" charset="-120"/>
                        </a:rPr>
                        <a:t>Optical Fiber</a:t>
                      </a:r>
                      <a:endParaRPr lang="en-US" sz="15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F3FC"/>
                    </a:solidFill>
                  </a:tcPr>
                </a:tc>
                <a:tc>
                  <a:txBody>
                    <a:bodyPr/>
                    <a:lstStyle/>
                    <a:p>
                      <a:pPr marL="0" indent="0" algn="l">
                        <a:buNone/>
                      </a:pPr>
                      <a:r>
                        <a:rPr lang="en-US" sz="1500" dirty="0">
                          <a:solidFill>
                            <a:srgbClr val="232B45"/>
                          </a:solidFill>
                          <a:latin typeface="Calibri" pitchFamily="34" charset="0"/>
                          <a:ea typeface="Calibri" pitchFamily="34" charset="-122"/>
                          <a:cs typeface="Calibri" pitchFamily="34" charset="-120"/>
                        </a:rPr>
                        <a:t>2.0 × 10⁸ m/s</a:t>
                      </a:r>
                      <a:endParaRPr lang="en-US" sz="15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F3FC"/>
                    </a:solidFill>
                  </a:tcPr>
                </a:tc>
                <a:tc>
                  <a:txBody>
                    <a:bodyPr/>
                    <a:lstStyle/>
                    <a:p>
                      <a:pPr marL="0" indent="0" algn="l">
                        <a:buNone/>
                      </a:pPr>
                      <a:r>
                        <a:rPr lang="en-US" sz="1500" dirty="0">
                          <a:solidFill>
                            <a:srgbClr val="232B45"/>
                          </a:solidFill>
                          <a:latin typeface="Calibri" pitchFamily="34" charset="0"/>
                          <a:ea typeface="Calibri" pitchFamily="34" charset="-122"/>
                          <a:cs typeface="Calibri" pitchFamily="34" charset="-120"/>
                        </a:rPr>
                        <a:t>~67%</a:t>
                      </a:r>
                      <a:endParaRPr lang="en-US" sz="15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F3FC"/>
                    </a:solidFill>
                  </a:tcPr>
                </a:tc>
                <a:extLst>
                  <a:ext uri="{0D108BD9-81ED-4DB2-BD59-A6C34878D82A}">
                    <a16:rowId xmlns:a16="http://schemas.microsoft.com/office/drawing/2014/main" val="10003"/>
                  </a:ext>
                </a:extLst>
              </a:tr>
            </a:tbl>
          </a:graphicData>
        </a:graphic>
      </p:graphicFrame>
      <p:sp>
        <p:nvSpPr>
          <p:cNvPr id="6" name="Shape 3"/>
          <p:cNvSpPr/>
          <p:nvPr/>
        </p:nvSpPr>
        <p:spPr>
          <a:xfrm>
            <a:off x="457200" y="3840480"/>
            <a:ext cx="11247120" cy="2514600"/>
          </a:xfrm>
          <a:prstGeom prst="roundRect">
            <a:avLst>
              <a:gd name="adj" fmla="val 3636"/>
            </a:avLst>
          </a:prstGeom>
          <a:solidFill>
            <a:srgbClr val="EEF3FC"/>
          </a:solidFill>
          <a:ln w="12700">
            <a:solidFill>
              <a:srgbClr val="CADCFC"/>
            </a:solidFill>
            <a:prstDash val="solid"/>
          </a:ln>
        </p:spPr>
        <p:txBody>
          <a:bodyPr/>
          <a:lstStyle/>
          <a:p>
            <a:endParaRPr/>
          </a:p>
        </p:txBody>
      </p:sp>
      <p:sp>
        <p:nvSpPr>
          <p:cNvPr id="8" name="Text 5"/>
          <p:cNvSpPr/>
          <p:nvPr/>
        </p:nvSpPr>
        <p:spPr>
          <a:xfrm>
            <a:off x="731520" y="4343400"/>
            <a:ext cx="10698480" cy="10058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Don’t plug in the vacuum speed of light (3×10⁸ m/s) for every problem. Always check the transmission medium stated in the question  fiber and copper are noticeably slower than free space, and this changes your propagation-delay answer.</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p:nvPr/>
        </p:nvSpPr>
        <p:spPr>
          <a:xfrm>
            <a:off x="731520" y="5440680"/>
            <a:ext cx="10698480" cy="6400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Formula reminder:  Propagation Delay = Distance ÷ Speed-of-Light (in that medium)</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Box 12"/>
          <p:cNvSpPr txBox="1"/>
          <p:nvPr/>
        </p:nvSpPr>
        <p:spPr>
          <a:xfrm>
            <a:off x="11792000" y="6638000"/>
            <a:ext cx="200000" cy="100000"/>
          </a:xfrm>
          <a:prstGeom prst="rect">
            <a:avLst/>
          </a:prstGeom>
          <a:noFill/>
        </p:spPr>
        <p:txBody>
          <a:bodyPr wrap="none">
            <a:spAutoFit/>
          </a:bodyPr>
          <a:lstStyle/>
          <a:p>
            <a:pPr>
              <a:defRPr sz="1000"/>
            </a:pPr>
            <a:r>
              <a:t>83</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457200" y="868680"/>
            <a:ext cx="11274552"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30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Worked Example: Propagation Delay</a:t>
            </a:r>
            <a:endParaRPr kumimoji="0" lang="en-US" sz="3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457200" y="1783080"/>
            <a:ext cx="11247120" cy="914400"/>
          </a:xfrm>
          <a:prstGeom prst="roundRect">
            <a:avLst>
              <a:gd name="adj" fmla="val 10000"/>
            </a:avLst>
          </a:prstGeom>
          <a:solidFill>
            <a:srgbClr val="1E2761"/>
          </a:solidFill>
          <a:ln/>
        </p:spPr>
        <p:txBody>
          <a:bodyPr/>
          <a:lstStyle/>
          <a:p>
            <a:endParaRPr/>
          </a:p>
        </p:txBody>
      </p:sp>
      <p:sp>
        <p:nvSpPr>
          <p:cNvPr id="6" name="Text 4"/>
          <p:cNvSpPr/>
          <p:nvPr/>
        </p:nvSpPr>
        <p:spPr>
          <a:xfrm>
            <a:off x="731520" y="1783080"/>
            <a:ext cx="10698480" cy="9144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Problem: An optical-fiber link runs 1,000 km between two cities. Find the propagation delay.</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457200" y="2926080"/>
            <a:ext cx="1828800" cy="868680"/>
          </a:xfrm>
          <a:prstGeom prst="roundRect">
            <a:avLst>
              <a:gd name="adj" fmla="val 8421"/>
            </a:avLst>
          </a:prstGeom>
          <a:solidFill>
            <a:srgbClr val="EEF3FC"/>
          </a:solidFill>
          <a:ln w="12700">
            <a:solidFill>
              <a:srgbClr val="CADCFC"/>
            </a:solidFill>
            <a:prstDash val="solid"/>
          </a:ln>
        </p:spPr>
        <p:txBody>
          <a:bodyPr/>
          <a:lstStyle/>
          <a:p>
            <a:endParaRPr/>
          </a:p>
        </p:txBody>
      </p:sp>
      <p:sp>
        <p:nvSpPr>
          <p:cNvPr id="8" name="Text 6"/>
          <p:cNvSpPr/>
          <p:nvPr/>
        </p:nvSpPr>
        <p:spPr>
          <a:xfrm>
            <a:off x="457200" y="2926080"/>
            <a:ext cx="1828800" cy="8686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Step 1</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2423160" y="2926080"/>
            <a:ext cx="8823960" cy="868680"/>
          </a:xfrm>
          <a:prstGeom prst="roundRect">
            <a:avLst>
              <a:gd name="adj" fmla="val 8421"/>
            </a:avLst>
          </a:prstGeom>
          <a:solidFill>
            <a:srgbClr val="FFFFFF"/>
          </a:solidFill>
          <a:ln w="12700">
            <a:solidFill>
              <a:srgbClr val="CADCFC"/>
            </a:solidFill>
            <a:prstDash val="solid"/>
          </a:ln>
        </p:spPr>
        <p:txBody>
          <a:bodyPr/>
          <a:lstStyle/>
          <a:p>
            <a:endParaRPr/>
          </a:p>
        </p:txBody>
      </p:sp>
      <p:sp>
        <p:nvSpPr>
          <p:cNvPr id="10" name="Text 8"/>
          <p:cNvSpPr/>
          <p:nvPr/>
        </p:nvSpPr>
        <p:spPr>
          <a:xfrm>
            <a:off x="2651760" y="2926080"/>
            <a:ext cx="8412480" cy="8686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Identify values:  </a:t>
            </a:r>
            <a:r>
              <a:rPr kumimoji="0" lang="en-US" sz="160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Distance = 1000 km = 1 × 10⁶ m;  Speed in fiber = 2.0 × 10⁸ m/s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457200" y="3931920"/>
            <a:ext cx="1828800" cy="868680"/>
          </a:xfrm>
          <a:prstGeom prst="roundRect">
            <a:avLst>
              <a:gd name="adj" fmla="val 8421"/>
            </a:avLst>
          </a:prstGeom>
          <a:solidFill>
            <a:srgbClr val="EEF3FC"/>
          </a:solidFill>
          <a:ln w="12700">
            <a:solidFill>
              <a:srgbClr val="CADCFC"/>
            </a:solidFill>
            <a:prstDash val="solid"/>
          </a:ln>
        </p:spPr>
        <p:txBody>
          <a:bodyPr/>
          <a:lstStyle/>
          <a:p>
            <a:endParaRPr/>
          </a:p>
        </p:txBody>
      </p:sp>
      <p:sp>
        <p:nvSpPr>
          <p:cNvPr id="12" name="Text 10"/>
          <p:cNvSpPr/>
          <p:nvPr/>
        </p:nvSpPr>
        <p:spPr>
          <a:xfrm>
            <a:off x="457200" y="3931920"/>
            <a:ext cx="1828800" cy="8686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Step 2</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2423160" y="3931920"/>
            <a:ext cx="8823960" cy="868680"/>
          </a:xfrm>
          <a:prstGeom prst="roundRect">
            <a:avLst>
              <a:gd name="adj" fmla="val 8421"/>
            </a:avLst>
          </a:prstGeom>
          <a:solidFill>
            <a:srgbClr val="FFFFFF"/>
          </a:solidFill>
          <a:ln w="12700">
            <a:solidFill>
              <a:srgbClr val="CADCFC"/>
            </a:solidFill>
            <a:prstDash val="solid"/>
          </a:ln>
        </p:spPr>
        <p:txBody>
          <a:bodyPr/>
          <a:lstStyle/>
          <a:p>
            <a:endParaRPr/>
          </a:p>
        </p:txBody>
      </p:sp>
      <p:sp>
        <p:nvSpPr>
          <p:cNvPr id="14" name="Text 12"/>
          <p:cNvSpPr/>
          <p:nvPr/>
        </p:nvSpPr>
        <p:spPr>
          <a:xfrm>
            <a:off x="2651760" y="3931920"/>
            <a:ext cx="8412480" cy="8686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Apply formula:  </a:t>
            </a:r>
            <a:r>
              <a:rPr kumimoji="0" lang="en-US" sz="160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Propagation = Distance / SpeedOfLight</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457200" y="4937760"/>
            <a:ext cx="1828800" cy="868680"/>
          </a:xfrm>
          <a:prstGeom prst="roundRect">
            <a:avLst>
              <a:gd name="adj" fmla="val 8421"/>
            </a:avLst>
          </a:prstGeom>
          <a:solidFill>
            <a:srgbClr val="EEF3FC"/>
          </a:solidFill>
          <a:ln w="12700">
            <a:solidFill>
              <a:srgbClr val="CADCFC"/>
            </a:solidFill>
            <a:prstDash val="solid"/>
          </a:ln>
        </p:spPr>
        <p:txBody>
          <a:bodyPr/>
          <a:lstStyle/>
          <a:p>
            <a:endParaRPr/>
          </a:p>
        </p:txBody>
      </p:sp>
      <p:sp>
        <p:nvSpPr>
          <p:cNvPr id="16" name="Text 14"/>
          <p:cNvSpPr/>
          <p:nvPr/>
        </p:nvSpPr>
        <p:spPr>
          <a:xfrm>
            <a:off x="457200" y="4937760"/>
            <a:ext cx="1828800" cy="8686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Step 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2423160" y="4937760"/>
            <a:ext cx="8823960" cy="868680"/>
          </a:xfrm>
          <a:prstGeom prst="roundRect">
            <a:avLst>
              <a:gd name="adj" fmla="val 8421"/>
            </a:avLst>
          </a:prstGeom>
          <a:solidFill>
            <a:srgbClr val="FFFFFF"/>
          </a:solidFill>
          <a:ln w="12700">
            <a:solidFill>
              <a:srgbClr val="CADCFC"/>
            </a:solidFill>
            <a:prstDash val="solid"/>
          </a:ln>
        </p:spPr>
        <p:txBody>
          <a:bodyPr/>
          <a:lstStyle/>
          <a:p>
            <a:endParaRPr/>
          </a:p>
        </p:txBody>
      </p:sp>
      <p:sp>
        <p:nvSpPr>
          <p:cNvPr id="18" name="Text 16"/>
          <p:cNvSpPr/>
          <p:nvPr/>
        </p:nvSpPr>
        <p:spPr>
          <a:xfrm>
            <a:off x="2651760" y="4937760"/>
            <a:ext cx="8412480" cy="8686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Compute:  </a:t>
            </a:r>
            <a:r>
              <a:rPr kumimoji="0" lang="en-US" sz="160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Propagation = (1 × 10⁶) / (2.0 × 10⁸) = 5 × 10⁻³ s = 5 ms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57200" y="5989320"/>
            <a:ext cx="11247120" cy="548640"/>
          </a:xfrm>
          <a:prstGeom prst="roundRect">
            <a:avLst>
              <a:gd name="adj" fmla="val 13333"/>
            </a:avLst>
          </a:prstGeom>
          <a:solidFill>
            <a:srgbClr val="F2A900"/>
          </a:solidFill>
          <a:ln/>
        </p:spPr>
        <p:txBody>
          <a:bodyPr/>
          <a:lstStyle/>
          <a:p>
            <a:endParaRPr/>
          </a:p>
        </p:txBody>
      </p:sp>
      <p:sp>
        <p:nvSpPr>
          <p:cNvPr id="20" name="Text 18"/>
          <p:cNvSpPr/>
          <p:nvPr/>
        </p:nvSpPr>
        <p:spPr>
          <a:xfrm>
            <a:off x="457200" y="5989320"/>
            <a:ext cx="11247120" cy="5486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41B45"/>
                </a:solidFill>
                <a:effectLst/>
                <a:uLnTx/>
                <a:uFillTx/>
                <a:latin typeface="Cambria" pitchFamily="34" charset="0"/>
                <a:ea typeface="Cambria" pitchFamily="34" charset="-122"/>
                <a:cs typeface="Cambria" pitchFamily="34" charset="-120"/>
              </a:rPr>
              <a:t>Answer: Propagation Delay = 5 milliseconds (one-way)</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Box 20"/>
          <p:cNvSpPr txBox="1"/>
          <p:nvPr/>
        </p:nvSpPr>
        <p:spPr>
          <a:xfrm>
            <a:off x="11792000" y="6638000"/>
            <a:ext cx="200000" cy="100000"/>
          </a:xfrm>
          <a:prstGeom prst="rect">
            <a:avLst/>
          </a:prstGeom>
          <a:noFill/>
        </p:spPr>
        <p:txBody>
          <a:bodyPr wrap="none">
            <a:spAutoFit/>
          </a:bodyPr>
          <a:lstStyle/>
          <a:p>
            <a:pPr>
              <a:defRPr sz="1000"/>
            </a:pPr>
            <a:r>
              <a:t>84</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457200" y="868680"/>
            <a:ext cx="11274552"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5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When Does Latency Dominate?</a:t>
            </a:r>
            <a:endParaRPr kumimoji="0" lang="en-US" sz="3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457200" y="1783080"/>
            <a:ext cx="11247120" cy="4434840"/>
          </a:xfrm>
          <a:prstGeom prst="roundRect">
            <a:avLst>
              <a:gd name="adj" fmla="val 2062"/>
            </a:avLst>
          </a:prstGeom>
          <a:solidFill>
            <a:srgbClr val="EEF3FC"/>
          </a:solidFill>
          <a:ln w="12700">
            <a:solidFill>
              <a:srgbClr val="CADCFC"/>
            </a:solidFill>
            <a:prstDash val="solid"/>
          </a:ln>
        </p:spPr>
        <p:txBody>
          <a:bodyPr/>
          <a:lstStyle/>
          <a:p>
            <a:endParaRPr/>
          </a:p>
        </p:txBody>
      </p:sp>
      <p:sp>
        <p:nvSpPr>
          <p:cNvPr id="6" name="Text 4"/>
          <p:cNvSpPr/>
          <p:nvPr/>
        </p:nvSpPr>
        <p:spPr>
          <a:xfrm>
            <a:off x="731520" y="1965960"/>
            <a:ext cx="73152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Case: Small Messages (Latency-Bound)</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731520" y="2423160"/>
            <a:ext cx="10607040"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A client sends a 1-byte message and receives a 1-byte reply , think of a keystroke echoed back, or a single ping.</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731520" y="3108960"/>
            <a:ext cx="5120640" cy="2651760"/>
          </a:xfrm>
          <a:prstGeom prst="roundRect">
            <a:avLst>
              <a:gd name="adj" fmla="val 3448"/>
            </a:avLst>
          </a:prstGeom>
          <a:solidFill>
            <a:srgbClr val="FFFFFF"/>
          </a:solidFill>
          <a:ln w="12700">
            <a:solidFill>
              <a:srgbClr val="CADCFC"/>
            </a:solidFill>
            <a:prstDash val="solid"/>
          </a:ln>
        </p:spPr>
        <p:txBody>
          <a:bodyPr/>
          <a:lstStyle/>
          <a:p>
            <a:endParaRPr/>
          </a:p>
        </p:txBody>
      </p:sp>
      <p:sp>
        <p:nvSpPr>
          <p:cNvPr id="9" name="Text 7"/>
          <p:cNvSpPr/>
          <p:nvPr/>
        </p:nvSpPr>
        <p:spPr>
          <a:xfrm>
            <a:off x="960120" y="3246120"/>
            <a:ext cx="45720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Across the Room</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960120" y="3611880"/>
            <a:ext cx="4572000"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5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RTT = 1 ms</a:t>
            </a:r>
            <a:endParaRPr kumimoji="0" lang="en-US" sz="2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960120" y="4206240"/>
            <a:ext cx="4572000" cy="10058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Transmit time @ 1 Mbps for 1 byte = 8 μs</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Transmit time @ 100 Mbps = 0.08 μs</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960120" y="5257800"/>
            <a:ext cx="45720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1" u="none" strike="noStrike" kern="1200" cap="none" spc="0" normalizeH="0" baseline="0" noProof="0" dirty="0">
                <a:ln>
                  <a:noFill/>
                </a:ln>
                <a:solidFill>
                  <a:srgbClr val="C9860A"/>
                </a:solidFill>
                <a:effectLst/>
                <a:uLnTx/>
                <a:uFillTx/>
                <a:latin typeface="Calibri" pitchFamily="34" charset="0"/>
                <a:ea typeface="Calibri" pitchFamily="34" charset="-122"/>
                <a:cs typeface="Calibri" pitchFamily="34" charset="-120"/>
              </a:rPr>
              <a:t>→ Response time ≈ 1 ms either way</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309360" y="3108960"/>
            <a:ext cx="5120640" cy="2651760"/>
          </a:xfrm>
          <a:prstGeom prst="roundRect">
            <a:avLst>
              <a:gd name="adj" fmla="val 3448"/>
            </a:avLst>
          </a:prstGeom>
          <a:solidFill>
            <a:srgbClr val="1E2761"/>
          </a:solidFill>
          <a:ln/>
        </p:spPr>
        <p:txBody>
          <a:bodyPr/>
          <a:lstStyle/>
          <a:p>
            <a:endParaRPr/>
          </a:p>
        </p:txBody>
      </p:sp>
      <p:sp>
        <p:nvSpPr>
          <p:cNvPr id="14" name="Text 12"/>
          <p:cNvSpPr/>
          <p:nvPr/>
        </p:nvSpPr>
        <p:spPr>
          <a:xfrm>
            <a:off x="6537960" y="3246120"/>
            <a:ext cx="45720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2A900"/>
                </a:solidFill>
                <a:effectLst/>
                <a:uLnTx/>
                <a:uFillTx/>
                <a:latin typeface="Calibri" pitchFamily="34" charset="0"/>
                <a:ea typeface="Calibri" pitchFamily="34" charset="-122"/>
                <a:cs typeface="Calibri" pitchFamily="34" charset="-120"/>
              </a:rPr>
              <a:t>Transcontinental</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537960" y="3611880"/>
            <a:ext cx="4572000"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5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RTT = 100 ms</a:t>
            </a:r>
            <a:endParaRPr kumimoji="0" lang="en-US" sz="2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537960" y="4206240"/>
            <a:ext cx="4572000" cy="10058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Same negligible transmit times, but the round-trip time itself dominates completely.</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537960" y="5257800"/>
            <a:ext cx="457200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1" u="none" strike="noStrike" kern="1200" cap="none" spc="0" normalizeH="0" baseline="0" noProof="0" dirty="0">
                <a:ln>
                  <a:noFill/>
                </a:ln>
                <a:solidFill>
                  <a:srgbClr val="F2A900"/>
                </a:solidFill>
                <a:effectLst/>
                <a:uLnTx/>
                <a:uFillTx/>
                <a:latin typeface="Calibri" pitchFamily="34" charset="0"/>
                <a:ea typeface="Calibri" pitchFamily="34" charset="-122"/>
                <a:cs typeface="Calibri" pitchFamily="34" charset="-120"/>
              </a:rPr>
              <a:t>→ Link speed (1 Mbps vs 100 Mbps) barely matters here!</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Box 17"/>
          <p:cNvSpPr txBox="1"/>
          <p:nvPr/>
        </p:nvSpPr>
        <p:spPr>
          <a:xfrm>
            <a:off x="11792000" y="6638000"/>
            <a:ext cx="200000" cy="100000"/>
          </a:xfrm>
          <a:prstGeom prst="rect">
            <a:avLst/>
          </a:prstGeom>
          <a:noFill/>
        </p:spPr>
        <p:txBody>
          <a:bodyPr wrap="none">
            <a:spAutoFit/>
          </a:bodyPr>
          <a:lstStyle/>
          <a:p>
            <a:pPr>
              <a:defRPr sz="1000"/>
            </a:pPr>
            <a:r>
              <a:t>85</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457200" y="868680"/>
            <a:ext cx="11274552"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30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When Does Bandwidth Dominate?</a:t>
            </a:r>
            <a:endParaRPr kumimoji="0" lang="en-US" sz="3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457200" y="1783080"/>
            <a:ext cx="11247120" cy="1005840"/>
          </a:xfrm>
          <a:prstGeom prst="roundRect">
            <a:avLst>
              <a:gd name="adj" fmla="val 9091"/>
            </a:avLst>
          </a:prstGeom>
          <a:solidFill>
            <a:srgbClr val="1E2761"/>
          </a:solidFill>
          <a:ln/>
        </p:spPr>
        <p:txBody>
          <a:bodyPr/>
          <a:lstStyle/>
          <a:p>
            <a:endParaRPr/>
          </a:p>
        </p:txBody>
      </p:sp>
      <p:sp>
        <p:nvSpPr>
          <p:cNvPr id="6" name="Text 4"/>
          <p:cNvSpPr/>
          <p:nvPr/>
        </p:nvSpPr>
        <p:spPr>
          <a:xfrm>
            <a:off x="731520" y="1783080"/>
            <a:ext cx="10698480" cy="10058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Case: Large Transfers (Bandwidth-Bound)  fetching a 25 MB digital-library image over a 10 Mbps channel.</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457200" y="2971800"/>
            <a:ext cx="11247120" cy="1051560"/>
          </a:xfrm>
          <a:prstGeom prst="roundRect">
            <a:avLst>
              <a:gd name="adj" fmla="val 8696"/>
            </a:avLst>
          </a:prstGeom>
          <a:solidFill>
            <a:srgbClr val="EEF3FC"/>
          </a:solidFill>
          <a:ln w="12700">
            <a:solidFill>
              <a:srgbClr val="CADCFC"/>
            </a:solidFill>
            <a:prstDash val="solid"/>
          </a:ln>
        </p:spPr>
        <p:txBody>
          <a:bodyPr/>
          <a:lstStyle/>
          <a:p>
            <a:endParaRPr/>
          </a:p>
        </p:txBody>
      </p:sp>
      <p:sp>
        <p:nvSpPr>
          <p:cNvPr id="8" name="Text 6"/>
          <p:cNvSpPr/>
          <p:nvPr/>
        </p:nvSpPr>
        <p:spPr>
          <a:xfrm>
            <a:off x="731520" y="2971800"/>
            <a:ext cx="10698480" cy="10515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Transmit Time = Size / Bandwidth = (25 × 10⁶ × 8 bits) / (10 × 10⁶ bps) = 20 seconds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731520" y="4251960"/>
            <a:ext cx="5120640" cy="1920240"/>
          </a:xfrm>
          <a:prstGeom prst="roundRect">
            <a:avLst>
              <a:gd name="adj" fmla="val 4762"/>
            </a:avLst>
          </a:prstGeom>
          <a:solidFill>
            <a:srgbClr val="FFFFFF"/>
          </a:solidFill>
          <a:ln w="12700">
            <a:solidFill>
              <a:srgbClr val="CADCFC"/>
            </a:solidFill>
            <a:prstDash val="solid"/>
          </a:ln>
        </p:spPr>
        <p:txBody>
          <a:bodyPr/>
          <a:lstStyle/>
          <a:p>
            <a:endParaRPr/>
          </a:p>
        </p:txBody>
      </p:sp>
      <p:sp>
        <p:nvSpPr>
          <p:cNvPr id="10" name="Text 8"/>
          <p:cNvSpPr/>
          <p:nvPr/>
        </p:nvSpPr>
        <p:spPr>
          <a:xfrm>
            <a:off x="960120" y="4389120"/>
            <a:ext cx="45720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1-ms RTT channel</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960120" y="4754880"/>
            <a:ext cx="457200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Total ≈ 20.001 seconds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960120" y="5257800"/>
            <a:ext cx="4572000" cy="6400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5B6584"/>
                </a:solidFill>
                <a:effectLst/>
                <a:uLnTx/>
                <a:uFillTx/>
                <a:latin typeface="Calibri" pitchFamily="34" charset="0"/>
                <a:ea typeface="Calibri" pitchFamily="34" charset="-122"/>
                <a:cs typeface="Calibri" pitchFamily="34" charset="-120"/>
              </a:rPr>
              <a:t>RTT contributes a tiny 0.001 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309360" y="4251960"/>
            <a:ext cx="5120640" cy="1920240"/>
          </a:xfrm>
          <a:prstGeom prst="roundRect">
            <a:avLst>
              <a:gd name="adj" fmla="val 4762"/>
            </a:avLst>
          </a:prstGeom>
          <a:solidFill>
            <a:srgbClr val="FFFFFF"/>
          </a:solidFill>
          <a:ln w="12700">
            <a:solidFill>
              <a:srgbClr val="CADCFC"/>
            </a:solidFill>
            <a:prstDash val="solid"/>
          </a:ln>
        </p:spPr>
        <p:txBody>
          <a:bodyPr/>
          <a:lstStyle/>
          <a:p>
            <a:endParaRPr/>
          </a:p>
        </p:txBody>
      </p:sp>
      <p:sp>
        <p:nvSpPr>
          <p:cNvPr id="14" name="Text 12"/>
          <p:cNvSpPr/>
          <p:nvPr/>
        </p:nvSpPr>
        <p:spPr>
          <a:xfrm>
            <a:off x="6537960" y="4389120"/>
            <a:ext cx="45720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100-ms RTT channel</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537960" y="4754880"/>
            <a:ext cx="457200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Total ≈ 20.1 seconds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537960" y="5257800"/>
            <a:ext cx="4572000" cy="6400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1" u="none" strike="noStrike" kern="1200" cap="none" spc="0" normalizeH="0" baseline="0" noProof="0" dirty="0">
                <a:ln>
                  <a:noFill/>
                </a:ln>
                <a:solidFill>
                  <a:srgbClr val="C9860A"/>
                </a:solidFill>
                <a:effectLst/>
                <a:uLnTx/>
                <a:uFillTx/>
                <a:latin typeface="Calibri" pitchFamily="34" charset="0"/>
                <a:ea typeface="Calibri" pitchFamily="34" charset="-122"/>
                <a:cs typeface="Calibri" pitchFamily="34" charset="-120"/>
              </a:rPr>
              <a:t>Negligible difference from the 1-ms case!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Box 16"/>
          <p:cNvSpPr txBox="1"/>
          <p:nvPr/>
        </p:nvSpPr>
        <p:spPr>
          <a:xfrm>
            <a:off x="11792000" y="6638000"/>
            <a:ext cx="200000" cy="100000"/>
          </a:xfrm>
          <a:prstGeom prst="rect">
            <a:avLst/>
          </a:prstGeom>
          <a:noFill/>
        </p:spPr>
        <p:txBody>
          <a:bodyPr wrap="none">
            <a:spAutoFit/>
          </a:bodyPr>
          <a:lstStyle/>
          <a:p>
            <a:pPr>
              <a:defRPr sz="1000"/>
            </a:pPr>
            <a:r>
              <a:t>86</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429768" y="207588"/>
            <a:ext cx="11274552"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5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Visualizing Latency vs Bandwidth Dominance</a:t>
            </a:r>
            <a:endParaRPr kumimoji="0" lang="en-US" sz="3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6" name="Group 15">
            <a:extLst>
              <a:ext uri="{FF2B5EF4-FFF2-40B4-BE49-F238E27FC236}">
                <a16:creationId xmlns:a16="http://schemas.microsoft.com/office/drawing/2014/main" id="{5A7D594D-5465-A533-1AF6-2B7760810F60}"/>
              </a:ext>
            </a:extLst>
          </p:cNvPr>
          <p:cNvGrpSpPr/>
          <p:nvPr/>
        </p:nvGrpSpPr>
        <p:grpSpPr>
          <a:xfrm>
            <a:off x="135789" y="1698451"/>
            <a:ext cx="5794842" cy="2972772"/>
            <a:chOff x="822960" y="4315968"/>
            <a:chExt cx="10881360" cy="1636776"/>
          </a:xfrm>
        </p:grpSpPr>
        <p:sp>
          <p:nvSpPr>
            <p:cNvPr id="9" name="Text 7"/>
            <p:cNvSpPr/>
            <p:nvPr/>
          </p:nvSpPr>
          <p:spPr>
            <a:xfrm>
              <a:off x="822960" y="4315968"/>
              <a:ext cx="10881360" cy="502920"/>
            </a:xfrm>
            <a:prstGeom prst="rect">
              <a:avLst/>
            </a:prstGeom>
            <a:noFill/>
            <a:ln/>
          </p:spPr>
          <p:txBody>
            <a:bodyPr wrap="square" rtlCol="0" anchor="t"/>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1-byte object: response time ≈ RTT, 1.5 Mbps vs 10 Mbps link makes no visible difference.</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822960" y="4882896"/>
              <a:ext cx="10881360" cy="502920"/>
            </a:xfrm>
            <a:prstGeom prst="rect">
              <a:avLst/>
            </a:prstGeom>
            <a:noFill/>
            <a:ln/>
          </p:spPr>
          <p:txBody>
            <a:bodyPr wrap="square" rtlCol="0" anchor="t"/>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2-KB object (an email): link speed matters a lot at low RTT, negligibly at high RTT.</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822960" y="5449824"/>
              <a:ext cx="10881360" cy="502920"/>
            </a:xfrm>
            <a:prstGeom prst="rect">
              <a:avLst/>
            </a:prstGeom>
            <a:noFill/>
            <a:ln/>
          </p:spPr>
          <p:txBody>
            <a:bodyPr wrap="square" rtlCol="0" anchor="t"/>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1-MB object (an image): RTT barely matters, link (bandwidth) speed dominates across the board.</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17" name="Picture 16">
            <a:extLst>
              <a:ext uri="{FF2B5EF4-FFF2-40B4-BE49-F238E27FC236}">
                <a16:creationId xmlns:a16="http://schemas.microsoft.com/office/drawing/2014/main" id="{A6DF9165-CB76-5C62-1455-538C2AFB2933}"/>
              </a:ext>
            </a:extLst>
          </p:cNvPr>
          <p:cNvPicPr>
            <a:picLocks noChangeAspect="1"/>
          </p:cNvPicPr>
          <p:nvPr/>
        </p:nvPicPr>
        <p:blipFill>
          <a:blip r:embed="rId3"/>
          <a:stretch>
            <a:fillRect/>
          </a:stretch>
        </p:blipFill>
        <p:spPr>
          <a:xfrm>
            <a:off x="6001967" y="1417320"/>
            <a:ext cx="5972782" cy="4574918"/>
          </a:xfrm>
          <a:prstGeom prst="rect">
            <a:avLst/>
          </a:prstGeom>
        </p:spPr>
      </p:pic>
      <p:sp>
        <p:nvSpPr>
          <p:cNvPr id="19" name="TextBox 18">
            <a:extLst>
              <a:ext uri="{FF2B5EF4-FFF2-40B4-BE49-F238E27FC236}">
                <a16:creationId xmlns:a16="http://schemas.microsoft.com/office/drawing/2014/main" id="{782D82F8-C6C2-E009-F86A-DCEEEE8B6A6C}"/>
              </a:ext>
            </a:extLst>
          </p:cNvPr>
          <p:cNvSpPr txBox="1"/>
          <p:nvPr/>
        </p:nvSpPr>
        <p:spPr>
          <a:xfrm>
            <a:off x="6097622" y="6148177"/>
            <a:ext cx="6094378"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1" u="none" strike="noStrike" kern="1200" cap="none" spc="0" normalizeH="0" baseline="0" noProof="0" dirty="0">
                <a:ln>
                  <a:noFill/>
                </a:ln>
                <a:solidFill>
                  <a:srgbClr val="FF0000"/>
                </a:solidFill>
                <a:effectLst/>
                <a:uLnTx/>
                <a:uFillTx/>
                <a:latin typeface="Lato" panose="020F0502020204030203" pitchFamily="34" charset="0"/>
                <a:ea typeface="+mn-ea"/>
                <a:cs typeface="+mn-cs"/>
              </a:rPr>
              <a:t>Perceived latency (response time) versus round-trip time for various object sizes and link speeds.</a:t>
            </a:r>
            <a:endParaRPr kumimoji="0" lang="en-IN"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20" name="TextBox 19"/>
          <p:cNvSpPr txBox="1"/>
          <p:nvPr/>
        </p:nvSpPr>
        <p:spPr>
          <a:xfrm>
            <a:off x="11792000" y="6638000"/>
            <a:ext cx="200000" cy="100000"/>
          </a:xfrm>
          <a:prstGeom prst="rect">
            <a:avLst/>
          </a:prstGeom>
          <a:noFill/>
        </p:spPr>
        <p:txBody>
          <a:bodyPr wrap="none">
            <a:spAutoFit/>
          </a:bodyPr>
          <a:lstStyle/>
          <a:p>
            <a:pPr>
              <a:defRPr sz="1000"/>
            </a:pPr>
            <a:r>
              <a:t>87</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141B45"/>
        </a:solidFill>
        <a:effectLst/>
      </p:bgPr>
    </p:bg>
    <p:spTree>
      <p:nvGrpSpPr>
        <p:cNvPr id="1" name=""/>
        <p:cNvGrpSpPr/>
        <p:nvPr/>
      </p:nvGrpSpPr>
      <p:grpSpPr>
        <a:xfrm>
          <a:off x="0" y="0"/>
          <a:ext cx="0" cy="0"/>
          <a:chOff x="0" y="0"/>
          <a:chExt cx="0" cy="0"/>
        </a:xfrm>
      </p:grpSpPr>
      <p:sp>
        <p:nvSpPr>
          <p:cNvPr id="2" name="Shape 0"/>
          <p:cNvSpPr/>
          <p:nvPr/>
        </p:nvSpPr>
        <p:spPr>
          <a:xfrm>
            <a:off x="457200" y="411480"/>
            <a:ext cx="3017520" cy="457200"/>
          </a:xfrm>
          <a:prstGeom prst="roundRect">
            <a:avLst>
              <a:gd name="adj" fmla="val 16000"/>
            </a:avLst>
          </a:prstGeom>
          <a:solidFill>
            <a:srgbClr val="F2A900"/>
          </a:solidFill>
          <a:ln/>
        </p:spPr>
        <p:txBody>
          <a:bodyPr/>
          <a:lstStyle/>
          <a:p>
            <a:endParaRPr/>
          </a:p>
        </p:txBody>
      </p:sp>
      <p:sp>
        <p:nvSpPr>
          <p:cNvPr id="3" name="Text 1"/>
          <p:cNvSpPr/>
          <p:nvPr/>
        </p:nvSpPr>
        <p:spPr>
          <a:xfrm>
            <a:off x="457200" y="411480"/>
            <a:ext cx="3017520"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41B45"/>
                </a:solidFill>
                <a:effectLst/>
                <a:uLnTx/>
                <a:uFillTx/>
                <a:latin typeface="Calibri" pitchFamily="34" charset="0"/>
                <a:ea typeface="Calibri" pitchFamily="34" charset="-122"/>
                <a:cs typeface="Calibri" pitchFamily="34" charset="-120"/>
              </a:rPr>
              <a:t>Hands-On Activity</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457200" y="1005840"/>
            <a:ext cx="1124712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Latency-Bound or Bandwidth-Bound?</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457200" y="2423160"/>
            <a:ext cx="11247120" cy="868680"/>
          </a:xfrm>
          <a:prstGeom prst="roundRect">
            <a:avLst>
              <a:gd name="adj" fmla="val 8421"/>
            </a:avLst>
          </a:prstGeom>
          <a:solidFill>
            <a:srgbClr val="27306B"/>
          </a:solidFill>
          <a:ln w="12700">
            <a:solidFill>
              <a:srgbClr val="3A458A"/>
            </a:solidFill>
            <a:prstDash val="solid"/>
          </a:ln>
        </p:spPr>
        <p:txBody>
          <a:bodyPr/>
          <a:lstStyle/>
          <a:p>
            <a:endParaRPr/>
          </a:p>
        </p:txBody>
      </p:sp>
      <p:sp>
        <p:nvSpPr>
          <p:cNvPr id="7" name="Shape 5"/>
          <p:cNvSpPr/>
          <p:nvPr/>
        </p:nvSpPr>
        <p:spPr>
          <a:xfrm>
            <a:off x="685800" y="2656332"/>
            <a:ext cx="402336" cy="402336"/>
          </a:xfrm>
          <a:prstGeom prst="ellipse">
            <a:avLst/>
          </a:prstGeom>
          <a:solidFill>
            <a:srgbClr val="F2A900"/>
          </a:solidFill>
          <a:ln/>
        </p:spPr>
        <p:txBody>
          <a:bodyPr/>
          <a:lstStyle/>
          <a:p>
            <a:endParaRPr/>
          </a:p>
        </p:txBody>
      </p:sp>
      <p:sp>
        <p:nvSpPr>
          <p:cNvPr id="8" name="Text 6"/>
          <p:cNvSpPr/>
          <p:nvPr/>
        </p:nvSpPr>
        <p:spPr>
          <a:xfrm>
            <a:off x="685800" y="2656332"/>
            <a:ext cx="402336" cy="40233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41B45"/>
                </a:solidFill>
                <a:effectLst/>
                <a:uLnTx/>
                <a:uFillTx/>
                <a:latin typeface="Cambria" pitchFamily="34" charset="0"/>
                <a:ea typeface="Cambria" pitchFamily="34" charset="-122"/>
                <a:cs typeface="Cambria" pitchFamily="34" charset="-120"/>
              </a:rPr>
              <a:t>1</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1234440" y="2496312"/>
            <a:ext cx="10241280" cy="72237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An online multiplayer game sends tiny 20-byte position updates 30 times/second. Is this game latency-bound or bandwidth-bound? Explain.</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457200" y="3456432"/>
            <a:ext cx="11247120" cy="868680"/>
          </a:xfrm>
          <a:prstGeom prst="roundRect">
            <a:avLst>
              <a:gd name="adj" fmla="val 8421"/>
            </a:avLst>
          </a:prstGeom>
          <a:solidFill>
            <a:srgbClr val="27306B"/>
          </a:solidFill>
          <a:ln w="12700">
            <a:solidFill>
              <a:srgbClr val="3A458A"/>
            </a:solidFill>
            <a:prstDash val="solid"/>
          </a:ln>
        </p:spPr>
        <p:txBody>
          <a:bodyPr/>
          <a:lstStyle/>
          <a:p>
            <a:endParaRPr/>
          </a:p>
        </p:txBody>
      </p:sp>
      <p:sp>
        <p:nvSpPr>
          <p:cNvPr id="11" name="Shape 9"/>
          <p:cNvSpPr/>
          <p:nvPr/>
        </p:nvSpPr>
        <p:spPr>
          <a:xfrm>
            <a:off x="685800" y="3689604"/>
            <a:ext cx="402336" cy="402336"/>
          </a:xfrm>
          <a:prstGeom prst="ellipse">
            <a:avLst/>
          </a:prstGeom>
          <a:solidFill>
            <a:srgbClr val="F2A900"/>
          </a:solidFill>
          <a:ln/>
        </p:spPr>
        <p:txBody>
          <a:bodyPr/>
          <a:lstStyle/>
          <a:p>
            <a:endParaRPr/>
          </a:p>
        </p:txBody>
      </p:sp>
      <p:sp>
        <p:nvSpPr>
          <p:cNvPr id="12" name="Text 10"/>
          <p:cNvSpPr/>
          <p:nvPr/>
        </p:nvSpPr>
        <p:spPr>
          <a:xfrm>
            <a:off x="685800" y="3689604"/>
            <a:ext cx="402336" cy="40233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41B45"/>
                </a:solidFill>
                <a:effectLst/>
                <a:uLnTx/>
                <a:uFillTx/>
                <a:latin typeface="Cambria" pitchFamily="34" charset="0"/>
                <a:ea typeface="Cambria" pitchFamily="34" charset="-122"/>
                <a:cs typeface="Cambria" pitchFamily="34" charset="-120"/>
              </a:rPr>
              <a:t>2</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1234440" y="3529584"/>
            <a:ext cx="10241280" cy="72237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 cloud backup service uploads a 4K video (2 GB) overnight. Would improving your RTT from 80 ms to 20 ms noticeably speed this up? Justify with reasoning from today's examples.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457200" y="4489704"/>
            <a:ext cx="11247120" cy="868680"/>
          </a:xfrm>
          <a:prstGeom prst="roundRect">
            <a:avLst>
              <a:gd name="adj" fmla="val 8421"/>
            </a:avLst>
          </a:prstGeom>
          <a:solidFill>
            <a:srgbClr val="27306B"/>
          </a:solidFill>
          <a:ln w="12700">
            <a:solidFill>
              <a:srgbClr val="3A458A"/>
            </a:solidFill>
            <a:prstDash val="solid"/>
          </a:ln>
        </p:spPr>
        <p:txBody>
          <a:bodyPr/>
          <a:lstStyle/>
          <a:p>
            <a:endParaRPr/>
          </a:p>
        </p:txBody>
      </p:sp>
      <p:sp>
        <p:nvSpPr>
          <p:cNvPr id="15" name="Shape 13"/>
          <p:cNvSpPr/>
          <p:nvPr/>
        </p:nvSpPr>
        <p:spPr>
          <a:xfrm>
            <a:off x="685800" y="4722876"/>
            <a:ext cx="402336" cy="402336"/>
          </a:xfrm>
          <a:prstGeom prst="ellipse">
            <a:avLst/>
          </a:prstGeom>
          <a:solidFill>
            <a:srgbClr val="F2A900"/>
          </a:solidFill>
          <a:ln/>
        </p:spPr>
        <p:txBody>
          <a:bodyPr/>
          <a:lstStyle/>
          <a:p>
            <a:endParaRPr/>
          </a:p>
        </p:txBody>
      </p:sp>
      <p:sp>
        <p:nvSpPr>
          <p:cNvPr id="16" name="Text 14"/>
          <p:cNvSpPr/>
          <p:nvPr/>
        </p:nvSpPr>
        <p:spPr>
          <a:xfrm>
            <a:off x="685800" y="4722876"/>
            <a:ext cx="402336" cy="40233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41B45"/>
                </a:solidFill>
                <a:effectLst/>
                <a:uLnTx/>
                <a:uFillTx/>
                <a:latin typeface="Cambria" pitchFamily="34" charset="0"/>
                <a:ea typeface="Cambria" pitchFamily="34" charset="-122"/>
                <a:cs typeface="Cambria" pitchFamily="34" charset="-120"/>
              </a:rPr>
              <a:t>3</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1234440" y="4562856"/>
            <a:ext cx="10241280" cy="72237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Brainstorm: Name ONE real application from your daily life for each category — (a) latency-bound, (b) bandwidth-bound, (c) roughly balanced.</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Box 17"/>
          <p:cNvSpPr txBox="1"/>
          <p:nvPr/>
        </p:nvSpPr>
        <p:spPr>
          <a:xfrm>
            <a:off x="11792000" y="6638000"/>
            <a:ext cx="200000" cy="100000"/>
          </a:xfrm>
          <a:prstGeom prst="rect">
            <a:avLst/>
          </a:prstGeom>
          <a:noFill/>
        </p:spPr>
        <p:txBody>
          <a:bodyPr wrap="none">
            <a:spAutoFit/>
          </a:bodyPr>
          <a:lstStyle/>
          <a:p>
            <a:pPr>
              <a:defRPr sz="1000"/>
            </a:pPr>
            <a:r>
              <a:t>88</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457200" y="439204"/>
            <a:ext cx="11274552"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5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The Delay × Bandwidth Product</a:t>
            </a:r>
            <a:endParaRPr kumimoji="0" lang="en-US" sz="3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457200" y="1783080"/>
            <a:ext cx="4572000" cy="2103120"/>
          </a:xfrm>
          <a:prstGeom prst="roundRect">
            <a:avLst>
              <a:gd name="adj" fmla="val 4348"/>
            </a:avLst>
          </a:prstGeom>
          <a:solidFill>
            <a:srgbClr val="EEF3FC"/>
          </a:solidFill>
          <a:ln w="12700">
            <a:solidFill>
              <a:srgbClr val="CADCFC"/>
            </a:solidFill>
            <a:prstDash val="solid"/>
          </a:ln>
        </p:spPr>
        <p:txBody>
          <a:bodyPr/>
          <a:lstStyle/>
          <a:p>
            <a:endParaRPr/>
          </a:p>
        </p:txBody>
      </p:sp>
      <p:sp>
        <p:nvSpPr>
          <p:cNvPr id="6" name="Text 4"/>
          <p:cNvSpPr/>
          <p:nvPr/>
        </p:nvSpPr>
        <p:spPr>
          <a:xfrm>
            <a:off x="731520" y="1920240"/>
            <a:ext cx="59436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Definition</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731519" y="2107580"/>
            <a:ext cx="4108109" cy="1687180"/>
          </a:xfrm>
          <a:prstGeom prst="rect">
            <a:avLst/>
          </a:prstGeom>
          <a:noFill/>
          <a:ln/>
        </p:spPr>
        <p:txBody>
          <a:bodyPr wrap="square"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The product of latency and bandwidth, the maximum number of bits that can be "in flight" (in transit) through a channel at any instant.</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457200" y="4023360"/>
            <a:ext cx="4572000" cy="2011680"/>
          </a:xfrm>
          <a:prstGeom prst="roundRect">
            <a:avLst>
              <a:gd name="adj" fmla="val 4545"/>
            </a:avLst>
          </a:prstGeom>
          <a:solidFill>
            <a:srgbClr val="FFFFFF"/>
          </a:solidFill>
          <a:ln w="12700">
            <a:solidFill>
              <a:srgbClr val="CADCFC"/>
            </a:solidFill>
            <a:prstDash val="solid"/>
          </a:ln>
        </p:spPr>
        <p:txBody>
          <a:bodyPr/>
          <a:lstStyle/>
          <a:p>
            <a:endParaRPr/>
          </a:p>
        </p:txBody>
      </p:sp>
      <p:sp>
        <p:nvSpPr>
          <p:cNvPr id="9" name="Text 7"/>
          <p:cNvSpPr/>
          <p:nvPr/>
        </p:nvSpPr>
        <p:spPr>
          <a:xfrm>
            <a:off x="731520" y="4160520"/>
            <a:ext cx="59436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The Pipe Analogy</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731520" y="4526280"/>
            <a:ext cx="4108108" cy="1417320"/>
          </a:xfrm>
          <a:prstGeom prst="rect">
            <a:avLst/>
          </a:prstGeom>
          <a:noFill/>
          <a:ln/>
        </p:spPr>
        <p:txBody>
          <a:bodyPr wrap="square" rtlCol="0" anchor="t"/>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Latency</a:t>
            </a:r>
            <a:r>
              <a:rPr kumimoji="0" lang="en-US" sz="200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 = length of the pipe
</a:t>
            </a:r>
            <a:r>
              <a:rPr kumimoji="0" lang="en-US" sz="20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Bandwidth</a:t>
            </a:r>
            <a:r>
              <a:rPr kumimoji="0" lang="en-US" sz="200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 = diameter of the pipe
</a:t>
            </a:r>
            <a:r>
              <a:rPr kumimoji="0" lang="en-US" sz="20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Delay × Bandwidth</a:t>
            </a:r>
            <a:r>
              <a:rPr kumimoji="0" lang="en-US" sz="200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 = volume of the pipe (bits it can hold)</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7726680" y="4069080"/>
            <a:ext cx="3703320" cy="17373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Why it matters: tells us how many bits the sender can transmit before hearing back from the receiver.</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9" name="Picture 18">
            <a:extLst>
              <a:ext uri="{FF2B5EF4-FFF2-40B4-BE49-F238E27FC236}">
                <a16:creationId xmlns:a16="http://schemas.microsoft.com/office/drawing/2014/main" id="{FB929525-5F27-944C-E17A-B850EB750E88}"/>
              </a:ext>
            </a:extLst>
          </p:cNvPr>
          <p:cNvPicPr>
            <a:picLocks noChangeAspect="1"/>
          </p:cNvPicPr>
          <p:nvPr/>
        </p:nvPicPr>
        <p:blipFill>
          <a:blip r:embed="rId3"/>
          <a:stretch>
            <a:fillRect/>
          </a:stretch>
        </p:blipFill>
        <p:spPr>
          <a:xfrm>
            <a:off x="5538384" y="2908085"/>
            <a:ext cx="5397879" cy="1417319"/>
          </a:xfrm>
          <a:prstGeom prst="rect">
            <a:avLst/>
          </a:prstGeom>
        </p:spPr>
      </p:pic>
      <p:sp>
        <p:nvSpPr>
          <p:cNvPr id="20" name="TextBox 19"/>
          <p:cNvSpPr txBox="1"/>
          <p:nvPr/>
        </p:nvSpPr>
        <p:spPr>
          <a:xfrm>
            <a:off x="11792000" y="6638000"/>
            <a:ext cx="200000" cy="100000"/>
          </a:xfrm>
          <a:prstGeom prst="rect">
            <a:avLst/>
          </a:prstGeom>
          <a:noFill/>
        </p:spPr>
        <p:txBody>
          <a:bodyPr wrap="none">
            <a:spAutoFit/>
          </a:bodyPr>
          <a:lstStyle/>
          <a:p>
            <a:pPr>
              <a:defRPr sz="1000"/>
            </a:pPr>
            <a:r>
              <a:t>89</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457200" y="868680"/>
            <a:ext cx="11274552"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30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Computing the Delay × Bandwidth Product</a:t>
            </a:r>
            <a:endParaRPr kumimoji="0" lang="en-US" sz="3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457200" y="1783080"/>
            <a:ext cx="11247120" cy="777240"/>
          </a:xfrm>
          <a:prstGeom prst="roundRect">
            <a:avLst>
              <a:gd name="adj" fmla="val 11765"/>
            </a:avLst>
          </a:prstGeom>
          <a:solidFill>
            <a:srgbClr val="1E2761"/>
          </a:solidFill>
          <a:ln/>
        </p:spPr>
        <p:txBody>
          <a:bodyPr/>
          <a:lstStyle/>
          <a:p>
            <a:endParaRPr/>
          </a:p>
        </p:txBody>
      </p:sp>
      <p:sp>
        <p:nvSpPr>
          <p:cNvPr id="6" name="Text 4"/>
          <p:cNvSpPr/>
          <p:nvPr/>
        </p:nvSpPr>
        <p:spPr>
          <a:xfrm>
            <a:off x="457200" y="1783080"/>
            <a:ext cx="11247120" cy="7772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F2A900"/>
                </a:solidFill>
                <a:effectLst/>
                <a:uLnTx/>
                <a:uFillTx/>
                <a:latin typeface="Cambria" pitchFamily="34" charset="0"/>
                <a:ea typeface="Cambria" pitchFamily="34" charset="-122"/>
                <a:cs typeface="Cambria" pitchFamily="34" charset="-120"/>
              </a:rPr>
              <a:t>Delay × Bandwidth Product  =  Latency (RTT or one-way)  ×  Bandwidth</a:t>
            </a:r>
            <a:endPar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457200" y="2743200"/>
            <a:ext cx="11247120" cy="2331720"/>
          </a:xfrm>
          <a:prstGeom prst="roundRect">
            <a:avLst>
              <a:gd name="adj" fmla="val 3922"/>
            </a:avLst>
          </a:prstGeom>
          <a:solidFill>
            <a:srgbClr val="EEF3FC"/>
          </a:solidFill>
          <a:ln w="12700">
            <a:solidFill>
              <a:srgbClr val="CADCFC"/>
            </a:solidFill>
            <a:prstDash val="solid"/>
          </a:ln>
        </p:spPr>
        <p:txBody>
          <a:bodyPr/>
          <a:lstStyle/>
          <a:p>
            <a:endParaRPr/>
          </a:p>
        </p:txBody>
      </p:sp>
      <p:sp>
        <p:nvSpPr>
          <p:cNvPr id="8" name="Text 6"/>
          <p:cNvSpPr/>
          <p:nvPr/>
        </p:nvSpPr>
        <p:spPr>
          <a:xfrm>
            <a:off x="731520" y="2880360"/>
            <a:ext cx="73152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Example</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731520" y="3246120"/>
            <a:ext cx="10698480" cy="4114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A transcontinental channel has one-way latency = 50 ms and bandwidth = 45 Mbps.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731520" y="3749040"/>
            <a:ext cx="10698480"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Volume = 50 × 10⁻³ s × 45 × 10⁶ bits/s = 2.25 × 10⁶ bits ≈ 280 KB</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457200" y="5257800"/>
            <a:ext cx="11247120" cy="1188720"/>
          </a:xfrm>
          <a:prstGeom prst="roundRect">
            <a:avLst>
              <a:gd name="adj" fmla="val 7692"/>
            </a:avLst>
          </a:prstGeom>
          <a:solidFill>
            <a:srgbClr val="FFFFFF"/>
          </a:solidFill>
          <a:ln w="12700">
            <a:solidFill>
              <a:srgbClr val="CADCFC"/>
            </a:solidFill>
            <a:prstDash val="solid"/>
          </a:ln>
        </p:spPr>
        <p:txBody>
          <a:bodyPr/>
          <a:lstStyle/>
          <a:p>
            <a:endParaRPr/>
          </a:p>
        </p:txBody>
      </p:sp>
      <p:sp>
        <p:nvSpPr>
          <p:cNvPr id="13" name="Text 11"/>
          <p:cNvSpPr/>
          <p:nvPr/>
        </p:nvSpPr>
        <p:spPr>
          <a:xfrm>
            <a:off x="731520" y="5394960"/>
            <a:ext cx="10698480" cy="9144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If we instead use RTT (2 × 50 ms = 100 ms): RTT × Bandwidth = 100×10⁻³ × 45×10⁶ = 5.5 × 10⁶ bits ≈ 671 KB , the amount that could arrive after a "stop" signal is sent, before the sender reacts.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Box 13"/>
          <p:cNvSpPr txBox="1"/>
          <p:nvPr/>
        </p:nvSpPr>
        <p:spPr>
          <a:xfrm>
            <a:off x="11792000" y="6638000"/>
            <a:ext cx="200000" cy="100000"/>
          </a:xfrm>
          <a:prstGeom prst="rect">
            <a:avLst/>
          </a:prstGeom>
          <a:noFill/>
        </p:spPr>
        <p:txBody>
          <a:bodyPr wrap="none">
            <a:spAutoFit/>
          </a:bodyPr>
          <a:lstStyle/>
          <a:p>
            <a:pPr>
              <a:defRPr sz="1000"/>
            </a:pPr>
            <a:r>
              <a:t>90</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458724" y="112646"/>
            <a:ext cx="11274552"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5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Table 1: RTT × Bandwidth for Real Networks</a:t>
            </a:r>
            <a:endParaRPr kumimoji="0" lang="en-US" sz="3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20" name="Table 0"/>
          <p:cNvGraphicFramePr>
            <a:graphicFrameLocks noGrp="1"/>
          </p:cNvGraphicFramePr>
          <p:nvPr/>
        </p:nvGraphicFramePr>
        <p:xfrm>
          <a:off x="457200" y="1120140"/>
          <a:ext cx="11247120" cy="2103120"/>
        </p:xfrm>
        <a:graphic>
          <a:graphicData uri="http://schemas.openxmlformats.org/drawingml/2006/table">
            <a:tbl>
              <a:tblPr/>
              <a:tblGrid>
                <a:gridCol w="283464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920240">
                  <a:extLst>
                    <a:ext uri="{9D8B030D-6E8A-4147-A177-3AD203B41FA5}">
                      <a16:colId xmlns:a16="http://schemas.microsoft.com/office/drawing/2014/main" val="20004"/>
                    </a:ext>
                  </a:extLst>
                </a:gridCol>
              </a:tblGrid>
              <a:tr h="52578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Link Type</a:t>
                      </a:r>
                      <a:endParaRPr lang="en-US" sz="130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Bandwidth</a:t>
                      </a:r>
                      <a:endParaRPr lang="en-US" sz="130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One-Way Distance</a:t>
                      </a:r>
                      <a:endParaRPr lang="en-US" sz="130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RTT</a:t>
                      </a:r>
                      <a:endParaRPr lang="en-US" sz="130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RTT × Bandwidth</a:t>
                      </a:r>
                      <a:endParaRPr lang="en-US" sz="130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25780">
                <a:tc>
                  <a:txBody>
                    <a:bodyPr/>
                    <a:lstStyle/>
                    <a:p>
                      <a:pPr marL="0" indent="0">
                        <a:buNone/>
                      </a:pPr>
                      <a:r>
                        <a:rPr lang="en-US" sz="1500" dirty="0">
                          <a:solidFill>
                            <a:srgbClr val="232B45"/>
                          </a:solidFill>
                          <a:latin typeface="Calibri" pitchFamily="34" charset="0"/>
                          <a:ea typeface="Calibri" pitchFamily="34" charset="-122"/>
                          <a:cs typeface="Calibri" pitchFamily="34" charset="-120"/>
                        </a:rPr>
                        <a:t>Wireless LAN</a:t>
                      </a:r>
                      <a:endParaRPr lang="en-US" sz="15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F3FC"/>
                    </a:solidFill>
                  </a:tcPr>
                </a:tc>
                <a:tc>
                  <a:txBody>
                    <a:bodyPr/>
                    <a:lstStyle/>
                    <a:p>
                      <a:pPr marL="0" indent="0">
                        <a:buNone/>
                      </a:pPr>
                      <a:r>
                        <a:rPr lang="en-US" sz="1500" dirty="0">
                          <a:solidFill>
                            <a:srgbClr val="232B45"/>
                          </a:solidFill>
                          <a:latin typeface="Calibri" pitchFamily="34" charset="0"/>
                          <a:ea typeface="Calibri" pitchFamily="34" charset="-122"/>
                          <a:cs typeface="Calibri" pitchFamily="34" charset="-120"/>
                        </a:rPr>
                        <a:t>54 Mbps</a:t>
                      </a:r>
                      <a:endParaRPr lang="en-US" sz="15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F3FC"/>
                    </a:solidFill>
                  </a:tcPr>
                </a:tc>
                <a:tc>
                  <a:txBody>
                    <a:bodyPr/>
                    <a:lstStyle/>
                    <a:p>
                      <a:pPr marL="0" indent="0">
                        <a:buNone/>
                      </a:pPr>
                      <a:r>
                        <a:rPr lang="en-US" sz="1500" dirty="0">
                          <a:solidFill>
                            <a:srgbClr val="232B45"/>
                          </a:solidFill>
                          <a:latin typeface="Calibri" pitchFamily="34" charset="0"/>
                          <a:ea typeface="Calibri" pitchFamily="34" charset="-122"/>
                          <a:cs typeface="Calibri" pitchFamily="34" charset="-120"/>
                        </a:rPr>
                        <a:t>50 m</a:t>
                      </a:r>
                      <a:endParaRPr lang="en-US" sz="15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F3FC"/>
                    </a:solidFill>
                  </a:tcPr>
                </a:tc>
                <a:tc>
                  <a:txBody>
                    <a:bodyPr/>
                    <a:lstStyle/>
                    <a:p>
                      <a:pPr marL="0" indent="0">
                        <a:buNone/>
                      </a:pPr>
                      <a:r>
                        <a:rPr lang="en-US" sz="1500" dirty="0">
                          <a:solidFill>
                            <a:srgbClr val="232B45"/>
                          </a:solidFill>
                          <a:latin typeface="Calibri" pitchFamily="34" charset="0"/>
                          <a:ea typeface="Calibri" pitchFamily="34" charset="-122"/>
                          <a:cs typeface="Calibri" pitchFamily="34" charset="-120"/>
                        </a:rPr>
                        <a:t>0.33 μs</a:t>
                      </a:r>
                      <a:endParaRPr lang="en-US" sz="15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F3FC"/>
                    </a:solidFill>
                  </a:tcPr>
                </a:tc>
                <a:tc>
                  <a:txBody>
                    <a:bodyPr/>
                    <a:lstStyle/>
                    <a:p>
                      <a:pPr marL="0" indent="0">
                        <a:buNone/>
                      </a:pPr>
                      <a:r>
                        <a:rPr lang="en-US" sz="1500" dirty="0">
                          <a:solidFill>
                            <a:srgbClr val="232B45"/>
                          </a:solidFill>
                          <a:latin typeface="Calibri" pitchFamily="34" charset="0"/>
                          <a:ea typeface="Calibri" pitchFamily="34" charset="-122"/>
                          <a:cs typeface="Calibri" pitchFamily="34" charset="-120"/>
                        </a:rPr>
                        <a:t>18 bits</a:t>
                      </a:r>
                      <a:endParaRPr lang="en-US" sz="15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F3FC"/>
                    </a:solidFill>
                  </a:tcPr>
                </a:tc>
                <a:extLst>
                  <a:ext uri="{0D108BD9-81ED-4DB2-BD59-A6C34878D82A}">
                    <a16:rowId xmlns:a16="http://schemas.microsoft.com/office/drawing/2014/main" val="10001"/>
                  </a:ext>
                </a:extLst>
              </a:tr>
              <a:tr h="525780">
                <a:tc>
                  <a:txBody>
                    <a:bodyPr/>
                    <a:lstStyle/>
                    <a:p>
                      <a:pPr marL="0" indent="0">
                        <a:buNone/>
                      </a:pPr>
                      <a:r>
                        <a:rPr lang="en-US" sz="1500" dirty="0">
                          <a:solidFill>
                            <a:srgbClr val="232B45"/>
                          </a:solidFill>
                          <a:latin typeface="Calibri" pitchFamily="34" charset="0"/>
                          <a:ea typeface="Calibri" pitchFamily="34" charset="-122"/>
                          <a:cs typeface="Calibri" pitchFamily="34" charset="-120"/>
                        </a:rPr>
                        <a:t>Satellite</a:t>
                      </a:r>
                      <a:endParaRPr lang="en-US" sz="15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500" dirty="0">
                          <a:solidFill>
                            <a:srgbClr val="232B45"/>
                          </a:solidFill>
                          <a:latin typeface="Calibri" pitchFamily="34" charset="0"/>
                          <a:ea typeface="Calibri" pitchFamily="34" charset="-122"/>
                          <a:cs typeface="Calibri" pitchFamily="34" charset="-120"/>
                        </a:rPr>
                        <a:t>1 Gbps</a:t>
                      </a:r>
                      <a:endParaRPr lang="en-US" sz="15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500" dirty="0">
                          <a:solidFill>
                            <a:srgbClr val="232B45"/>
                          </a:solidFill>
                          <a:latin typeface="Calibri" pitchFamily="34" charset="0"/>
                          <a:ea typeface="Calibri" pitchFamily="34" charset="-122"/>
                          <a:cs typeface="Calibri" pitchFamily="34" charset="-120"/>
                        </a:rPr>
                        <a:t>35,000 km</a:t>
                      </a:r>
                      <a:endParaRPr lang="en-US" sz="15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500" dirty="0">
                          <a:solidFill>
                            <a:srgbClr val="232B45"/>
                          </a:solidFill>
                          <a:latin typeface="Calibri" pitchFamily="34" charset="0"/>
                          <a:ea typeface="Calibri" pitchFamily="34" charset="-122"/>
                          <a:cs typeface="Calibri" pitchFamily="34" charset="-120"/>
                        </a:rPr>
                        <a:t>230 ms</a:t>
                      </a:r>
                      <a:endParaRPr lang="en-US" sz="15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500" dirty="0">
                          <a:solidFill>
                            <a:srgbClr val="232B45"/>
                          </a:solidFill>
                          <a:latin typeface="Calibri" pitchFamily="34" charset="0"/>
                          <a:ea typeface="Calibri" pitchFamily="34" charset="-122"/>
                          <a:cs typeface="Calibri" pitchFamily="34" charset="-120"/>
                        </a:rPr>
                        <a:t>230 Mb</a:t>
                      </a:r>
                      <a:endParaRPr lang="en-US" sz="15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5780">
                <a:tc>
                  <a:txBody>
                    <a:bodyPr/>
                    <a:lstStyle/>
                    <a:p>
                      <a:pPr marL="0" indent="0">
                        <a:buNone/>
                      </a:pPr>
                      <a:r>
                        <a:rPr lang="en-US" sz="1500" dirty="0">
                          <a:solidFill>
                            <a:srgbClr val="232B45"/>
                          </a:solidFill>
                          <a:latin typeface="Calibri" pitchFamily="34" charset="0"/>
                          <a:ea typeface="Calibri" pitchFamily="34" charset="-122"/>
                          <a:cs typeface="Calibri" pitchFamily="34" charset="-120"/>
                        </a:rPr>
                        <a:t>Cross-country Fiber</a:t>
                      </a:r>
                      <a:endParaRPr lang="en-US" sz="15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F3FC"/>
                    </a:solidFill>
                  </a:tcPr>
                </a:tc>
                <a:tc>
                  <a:txBody>
                    <a:bodyPr/>
                    <a:lstStyle/>
                    <a:p>
                      <a:pPr marL="0" indent="0">
                        <a:buNone/>
                      </a:pPr>
                      <a:r>
                        <a:rPr lang="en-US" sz="1500" dirty="0">
                          <a:solidFill>
                            <a:srgbClr val="232B45"/>
                          </a:solidFill>
                          <a:latin typeface="Calibri" pitchFamily="34" charset="0"/>
                          <a:ea typeface="Calibri" pitchFamily="34" charset="-122"/>
                          <a:cs typeface="Calibri" pitchFamily="34" charset="-120"/>
                        </a:rPr>
                        <a:t>10 Gbps</a:t>
                      </a:r>
                      <a:endParaRPr lang="en-US" sz="15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F3FC"/>
                    </a:solidFill>
                  </a:tcPr>
                </a:tc>
                <a:tc>
                  <a:txBody>
                    <a:bodyPr/>
                    <a:lstStyle/>
                    <a:p>
                      <a:pPr marL="0" indent="0">
                        <a:buNone/>
                      </a:pPr>
                      <a:r>
                        <a:rPr lang="en-US" sz="1500" dirty="0">
                          <a:solidFill>
                            <a:srgbClr val="232B45"/>
                          </a:solidFill>
                          <a:latin typeface="Calibri" pitchFamily="34" charset="0"/>
                          <a:ea typeface="Calibri" pitchFamily="34" charset="-122"/>
                          <a:cs typeface="Calibri" pitchFamily="34" charset="-120"/>
                        </a:rPr>
                        <a:t>4,000 km</a:t>
                      </a:r>
                      <a:endParaRPr lang="en-US" sz="15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F3FC"/>
                    </a:solidFill>
                  </a:tcPr>
                </a:tc>
                <a:tc>
                  <a:txBody>
                    <a:bodyPr/>
                    <a:lstStyle/>
                    <a:p>
                      <a:pPr marL="0" indent="0">
                        <a:buNone/>
                      </a:pPr>
                      <a:r>
                        <a:rPr lang="en-US" sz="1500" dirty="0">
                          <a:solidFill>
                            <a:srgbClr val="232B45"/>
                          </a:solidFill>
                          <a:latin typeface="Calibri" pitchFamily="34" charset="0"/>
                          <a:ea typeface="Calibri" pitchFamily="34" charset="-122"/>
                          <a:cs typeface="Calibri" pitchFamily="34" charset="-120"/>
                        </a:rPr>
                        <a:t>40 ms</a:t>
                      </a:r>
                      <a:endParaRPr lang="en-US" sz="15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F3FC"/>
                    </a:solidFill>
                  </a:tcPr>
                </a:tc>
                <a:tc>
                  <a:txBody>
                    <a:bodyPr/>
                    <a:lstStyle/>
                    <a:p>
                      <a:pPr marL="0" indent="0">
                        <a:buNone/>
                      </a:pPr>
                      <a:r>
                        <a:rPr lang="en-US" sz="1500" dirty="0">
                          <a:solidFill>
                            <a:srgbClr val="232B45"/>
                          </a:solidFill>
                          <a:latin typeface="Calibri" pitchFamily="34" charset="0"/>
                          <a:ea typeface="Calibri" pitchFamily="34" charset="-122"/>
                          <a:cs typeface="Calibri" pitchFamily="34" charset="-120"/>
                        </a:rPr>
                        <a:t>400 Mb</a:t>
                      </a:r>
                      <a:endParaRPr lang="en-US" sz="15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F3FC"/>
                    </a:solidFill>
                  </a:tcPr>
                </a:tc>
                <a:extLst>
                  <a:ext uri="{0D108BD9-81ED-4DB2-BD59-A6C34878D82A}">
                    <a16:rowId xmlns:a16="http://schemas.microsoft.com/office/drawing/2014/main" val="10003"/>
                  </a:ext>
                </a:extLst>
              </a:tr>
            </a:tbl>
          </a:graphicData>
        </a:graphic>
      </p:graphicFrame>
      <p:sp>
        <p:nvSpPr>
          <p:cNvPr id="6" name="Shape 3"/>
          <p:cNvSpPr/>
          <p:nvPr/>
        </p:nvSpPr>
        <p:spPr>
          <a:xfrm>
            <a:off x="457200" y="3543299"/>
            <a:ext cx="11247120" cy="2497577"/>
          </a:xfrm>
          <a:prstGeom prst="roundRect">
            <a:avLst>
              <a:gd name="adj" fmla="val 4167"/>
            </a:avLst>
          </a:prstGeom>
          <a:solidFill>
            <a:srgbClr val="EEF3FC"/>
          </a:solidFill>
          <a:ln w="12700">
            <a:solidFill>
              <a:srgbClr val="CADCFC"/>
            </a:solidFill>
            <a:prstDash val="solid"/>
          </a:ln>
        </p:spPr>
        <p:txBody>
          <a:bodyPr/>
          <a:lstStyle/>
          <a:p>
            <a:endParaRPr/>
          </a:p>
        </p:txBody>
      </p:sp>
      <p:sp>
        <p:nvSpPr>
          <p:cNvPr id="7" name="Text 4"/>
          <p:cNvSpPr/>
          <p:nvPr/>
        </p:nvSpPr>
        <p:spPr>
          <a:xfrm>
            <a:off x="731520" y="3705995"/>
            <a:ext cx="73152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Interpreting the Table</a:t>
            </a:r>
            <a:endParaRPr kumimoji="0" lang="en-US" sz="15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804672" y="3959352"/>
            <a:ext cx="10698480" cy="155448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 Wireless LAN: </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Tiny RTT × Bandwidth , almost nothing is ever "in flight."
</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 Satellite: </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Huge product  hundreds of megabits can be in transit simultaneously due to the very long RTT.
</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 Cross-country Fiber: </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High bandwidth combined with moderate delay also yields a very large product.</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Box 20"/>
          <p:cNvSpPr txBox="1"/>
          <p:nvPr/>
        </p:nvSpPr>
        <p:spPr>
          <a:xfrm>
            <a:off x="11792000" y="6638000"/>
            <a:ext cx="200000" cy="100000"/>
          </a:xfrm>
          <a:prstGeom prst="rect">
            <a:avLst/>
          </a:prstGeom>
          <a:noFill/>
        </p:spPr>
        <p:txBody>
          <a:bodyPr wrap="none">
            <a:spAutoFit/>
          </a:bodyPr>
          <a:lstStyle/>
          <a:p>
            <a:pPr>
              <a:defRPr sz="1000"/>
            </a:pPr>
            <a:r>
              <a:t>91</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141B45"/>
        </a:solidFill>
        <a:effectLst/>
      </p:bgPr>
    </p:bg>
    <p:spTree>
      <p:nvGrpSpPr>
        <p:cNvPr id="1" name=""/>
        <p:cNvGrpSpPr/>
        <p:nvPr/>
      </p:nvGrpSpPr>
      <p:grpSpPr>
        <a:xfrm>
          <a:off x="0" y="0"/>
          <a:ext cx="0" cy="0"/>
          <a:chOff x="0" y="0"/>
          <a:chExt cx="0" cy="0"/>
        </a:xfrm>
      </p:grpSpPr>
      <p:sp>
        <p:nvSpPr>
          <p:cNvPr id="2" name="Shape 0"/>
          <p:cNvSpPr/>
          <p:nvPr/>
        </p:nvSpPr>
        <p:spPr>
          <a:xfrm>
            <a:off x="457200" y="411480"/>
            <a:ext cx="3017520" cy="457200"/>
          </a:xfrm>
          <a:prstGeom prst="roundRect">
            <a:avLst>
              <a:gd name="adj" fmla="val 16000"/>
            </a:avLst>
          </a:prstGeom>
          <a:solidFill>
            <a:srgbClr val="F2A900"/>
          </a:solidFill>
          <a:ln/>
        </p:spPr>
        <p:txBody>
          <a:bodyPr/>
          <a:lstStyle/>
          <a:p>
            <a:endParaRPr/>
          </a:p>
        </p:txBody>
      </p:sp>
      <p:sp>
        <p:nvSpPr>
          <p:cNvPr id="3" name="Text 1"/>
          <p:cNvSpPr/>
          <p:nvPr/>
        </p:nvSpPr>
        <p:spPr>
          <a:xfrm>
            <a:off x="457200" y="411480"/>
            <a:ext cx="3017520"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41B45"/>
                </a:solidFill>
                <a:effectLst/>
                <a:uLnTx/>
                <a:uFillTx/>
                <a:latin typeface="Calibri" pitchFamily="34" charset="0"/>
                <a:ea typeface="Calibri" pitchFamily="34" charset="-122"/>
                <a:cs typeface="Calibri" pitchFamily="34" charset="-120"/>
              </a:rPr>
              <a:t>Hands-On Activity </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457200" y="1005840"/>
            <a:ext cx="1124712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Compute the Delay × Bandwidth Product</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457200" y="2423160"/>
            <a:ext cx="11247120" cy="960120"/>
          </a:xfrm>
          <a:prstGeom prst="roundRect">
            <a:avLst>
              <a:gd name="adj" fmla="val 7619"/>
            </a:avLst>
          </a:prstGeom>
          <a:solidFill>
            <a:srgbClr val="27306B"/>
          </a:solidFill>
          <a:ln w="12700">
            <a:solidFill>
              <a:srgbClr val="3A458A"/>
            </a:solidFill>
            <a:prstDash val="solid"/>
          </a:ln>
        </p:spPr>
        <p:txBody>
          <a:bodyPr/>
          <a:lstStyle/>
          <a:p>
            <a:endParaRPr/>
          </a:p>
        </p:txBody>
      </p:sp>
      <p:sp>
        <p:nvSpPr>
          <p:cNvPr id="7" name="Shape 5"/>
          <p:cNvSpPr/>
          <p:nvPr/>
        </p:nvSpPr>
        <p:spPr>
          <a:xfrm>
            <a:off x="685800" y="2702052"/>
            <a:ext cx="402336" cy="402336"/>
          </a:xfrm>
          <a:prstGeom prst="ellipse">
            <a:avLst/>
          </a:prstGeom>
          <a:solidFill>
            <a:srgbClr val="F2A900"/>
          </a:solidFill>
          <a:ln/>
        </p:spPr>
        <p:txBody>
          <a:bodyPr/>
          <a:lstStyle/>
          <a:p>
            <a:endParaRPr/>
          </a:p>
        </p:txBody>
      </p:sp>
      <p:sp>
        <p:nvSpPr>
          <p:cNvPr id="8" name="Text 6"/>
          <p:cNvSpPr/>
          <p:nvPr/>
        </p:nvSpPr>
        <p:spPr>
          <a:xfrm>
            <a:off x="685800" y="2702052"/>
            <a:ext cx="402336" cy="40233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41B45"/>
                </a:solidFill>
                <a:effectLst/>
                <a:uLnTx/>
                <a:uFillTx/>
                <a:latin typeface="Cambria" pitchFamily="34" charset="0"/>
                <a:ea typeface="Cambria" pitchFamily="34" charset="-122"/>
                <a:cs typeface="Cambria" pitchFamily="34" charset="-120"/>
              </a:rPr>
              <a:t>1</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1234440" y="2496312"/>
            <a:ext cx="10241280" cy="81381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 satellite link has a one-way propagation delay of 270 ms and bandwidth of 2 Mbps. Compute the RTT × Bandwidth product in bits and in KB.</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457200" y="3547872"/>
            <a:ext cx="11247120" cy="960120"/>
          </a:xfrm>
          <a:prstGeom prst="roundRect">
            <a:avLst>
              <a:gd name="adj" fmla="val 7619"/>
            </a:avLst>
          </a:prstGeom>
          <a:solidFill>
            <a:srgbClr val="27306B"/>
          </a:solidFill>
          <a:ln w="12700">
            <a:solidFill>
              <a:srgbClr val="3A458A"/>
            </a:solidFill>
            <a:prstDash val="solid"/>
          </a:ln>
        </p:spPr>
        <p:txBody>
          <a:bodyPr/>
          <a:lstStyle/>
          <a:p>
            <a:endParaRPr/>
          </a:p>
        </p:txBody>
      </p:sp>
      <p:sp>
        <p:nvSpPr>
          <p:cNvPr id="11" name="Shape 9"/>
          <p:cNvSpPr/>
          <p:nvPr/>
        </p:nvSpPr>
        <p:spPr>
          <a:xfrm>
            <a:off x="685800" y="3826764"/>
            <a:ext cx="402336" cy="402336"/>
          </a:xfrm>
          <a:prstGeom prst="ellipse">
            <a:avLst/>
          </a:prstGeom>
          <a:solidFill>
            <a:srgbClr val="F2A900"/>
          </a:solidFill>
          <a:ln/>
        </p:spPr>
        <p:txBody>
          <a:bodyPr/>
          <a:lstStyle/>
          <a:p>
            <a:endParaRPr/>
          </a:p>
        </p:txBody>
      </p:sp>
      <p:sp>
        <p:nvSpPr>
          <p:cNvPr id="12" name="Text 10"/>
          <p:cNvSpPr/>
          <p:nvPr/>
        </p:nvSpPr>
        <p:spPr>
          <a:xfrm>
            <a:off x="685800" y="3826764"/>
            <a:ext cx="402336" cy="40233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41B45"/>
                </a:solidFill>
                <a:effectLst/>
                <a:uLnTx/>
                <a:uFillTx/>
                <a:latin typeface="Cambria" pitchFamily="34" charset="0"/>
                <a:ea typeface="Cambria" pitchFamily="34" charset="-122"/>
                <a:cs typeface="Cambria" pitchFamily="34" charset="-120"/>
              </a:rPr>
              <a:t>2</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1234440" y="3621024"/>
            <a:ext cx="10241280" cy="81381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If the sender in Q1 wants to keep the pipe completely full (never idle waiting for an ACK), how many bits should it send before pausing?</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457200" y="4672584"/>
            <a:ext cx="11247120" cy="960120"/>
          </a:xfrm>
          <a:prstGeom prst="roundRect">
            <a:avLst>
              <a:gd name="adj" fmla="val 7619"/>
            </a:avLst>
          </a:prstGeom>
          <a:solidFill>
            <a:srgbClr val="27306B"/>
          </a:solidFill>
          <a:ln w="12700">
            <a:solidFill>
              <a:srgbClr val="3A458A"/>
            </a:solidFill>
            <a:prstDash val="solid"/>
          </a:ln>
        </p:spPr>
        <p:txBody>
          <a:bodyPr/>
          <a:lstStyle/>
          <a:p>
            <a:endParaRPr/>
          </a:p>
        </p:txBody>
      </p:sp>
      <p:sp>
        <p:nvSpPr>
          <p:cNvPr id="15" name="Shape 13"/>
          <p:cNvSpPr/>
          <p:nvPr/>
        </p:nvSpPr>
        <p:spPr>
          <a:xfrm>
            <a:off x="685800" y="4951476"/>
            <a:ext cx="402336" cy="402336"/>
          </a:xfrm>
          <a:prstGeom prst="ellipse">
            <a:avLst/>
          </a:prstGeom>
          <a:solidFill>
            <a:srgbClr val="F2A900"/>
          </a:solidFill>
          <a:ln/>
        </p:spPr>
        <p:txBody>
          <a:bodyPr/>
          <a:lstStyle/>
          <a:p>
            <a:endParaRPr/>
          </a:p>
        </p:txBody>
      </p:sp>
      <p:sp>
        <p:nvSpPr>
          <p:cNvPr id="16" name="Text 14"/>
          <p:cNvSpPr/>
          <p:nvPr/>
        </p:nvSpPr>
        <p:spPr>
          <a:xfrm>
            <a:off x="685800" y="4951476"/>
            <a:ext cx="402336" cy="40233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41B45"/>
                </a:solidFill>
                <a:effectLst/>
                <a:uLnTx/>
                <a:uFillTx/>
                <a:latin typeface="Cambria" pitchFamily="34" charset="0"/>
                <a:ea typeface="Cambria" pitchFamily="34" charset="-122"/>
                <a:cs typeface="Cambria" pitchFamily="34" charset="-120"/>
              </a:rPr>
              <a:t>3</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1234440" y="4745736"/>
            <a:ext cx="10241280" cy="81381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Brainstorm: Why might a satellite link need a much larger 'window' of unacknowledged data in flight than a LAN link? Connect your answer to the pipe analogy.</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Box 17"/>
          <p:cNvSpPr txBox="1"/>
          <p:nvPr/>
        </p:nvSpPr>
        <p:spPr>
          <a:xfrm>
            <a:off x="11792000" y="6638000"/>
            <a:ext cx="200000" cy="100000"/>
          </a:xfrm>
          <a:prstGeom prst="rect">
            <a:avLst/>
          </a:prstGeom>
          <a:noFill/>
        </p:spPr>
        <p:txBody>
          <a:bodyPr wrap="none">
            <a:spAutoFit/>
          </a:bodyPr>
          <a:lstStyle/>
          <a:p>
            <a:pPr>
              <a:defRPr sz="1000"/>
            </a:pPr>
            <a:r>
              <a:t>92</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457200" y="315565"/>
            <a:ext cx="11274552"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5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High-Speed Networks: What Changes, What Doesn't</a:t>
            </a:r>
            <a:endParaRPr kumimoji="0" lang="en-US" sz="3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457200" y="1725978"/>
            <a:ext cx="5486400" cy="4160520"/>
          </a:xfrm>
          <a:prstGeom prst="roundRect">
            <a:avLst>
              <a:gd name="adj" fmla="val 2198"/>
            </a:avLst>
          </a:prstGeom>
          <a:solidFill>
            <a:srgbClr val="1E2761"/>
          </a:solidFill>
          <a:ln/>
        </p:spPr>
        <p:txBody>
          <a:bodyPr/>
          <a:lstStyle/>
          <a:p>
            <a:endParaRPr/>
          </a:p>
        </p:txBody>
      </p:sp>
      <p:sp>
        <p:nvSpPr>
          <p:cNvPr id="6" name="Text 4"/>
          <p:cNvSpPr/>
          <p:nvPr/>
        </p:nvSpPr>
        <p:spPr>
          <a:xfrm>
            <a:off x="731520" y="1965960"/>
            <a:ext cx="493776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0" cap="none" spc="100" normalizeH="0" baseline="0" noProof="0" dirty="0">
                <a:ln>
                  <a:noFill/>
                </a:ln>
                <a:solidFill>
                  <a:srgbClr val="F2A900"/>
                </a:solidFill>
                <a:effectLst/>
                <a:uLnTx/>
                <a:uFillTx/>
                <a:latin typeface="Calibri" pitchFamily="34" charset="0"/>
                <a:ea typeface="Calibri" pitchFamily="34" charset="-122"/>
                <a:cs typeface="Calibri" pitchFamily="34" charset="-120"/>
              </a:rPr>
              <a:t>WHAT DOES NOT CHANGE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731520" y="2377440"/>
            <a:ext cx="493776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The Speed of Light</a:t>
            </a:r>
            <a:endPar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731520" y="3034689"/>
            <a:ext cx="4937760" cy="1645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 transcontinental RTT is the same ~100 ms whether the link is 1 Mbps or 1 Gbps  propagation delay is fixed by distance and medium, not by bandwidth.</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6217920" y="1783080"/>
            <a:ext cx="5486400" cy="4160520"/>
          </a:xfrm>
          <a:prstGeom prst="roundRect">
            <a:avLst>
              <a:gd name="adj" fmla="val 2198"/>
            </a:avLst>
          </a:prstGeom>
          <a:solidFill>
            <a:srgbClr val="EEF3FC"/>
          </a:solidFill>
          <a:ln w="12700">
            <a:solidFill>
              <a:srgbClr val="CADCFC"/>
            </a:solidFill>
            <a:prstDash val="solid"/>
          </a:ln>
        </p:spPr>
        <p:txBody>
          <a:bodyPr/>
          <a:lstStyle/>
          <a:p>
            <a:endParaRPr/>
          </a:p>
        </p:txBody>
      </p:sp>
      <p:sp>
        <p:nvSpPr>
          <p:cNvPr id="11" name="Text 9"/>
          <p:cNvSpPr/>
          <p:nvPr/>
        </p:nvSpPr>
        <p:spPr>
          <a:xfrm>
            <a:off x="6492240" y="1965960"/>
            <a:ext cx="493776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0" cap="none" spc="100" normalizeH="0" baseline="0" noProof="0" dirty="0">
                <a:ln>
                  <a:noFill/>
                </a:ln>
                <a:solidFill>
                  <a:srgbClr val="1E2761"/>
                </a:solidFill>
                <a:effectLst/>
                <a:uLnTx/>
                <a:uFillTx/>
                <a:latin typeface="Calibri" pitchFamily="34" charset="0"/>
                <a:ea typeface="Calibri" pitchFamily="34" charset="-122"/>
                <a:cs typeface="Calibri" pitchFamily="34" charset="-120"/>
              </a:rPr>
              <a:t>WHAT DOES CHANGE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492240" y="2377440"/>
            <a:ext cx="493776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Bandwidth Keeps Rising</a:t>
            </a:r>
            <a:endPar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6492240" y="2926080"/>
            <a:ext cx="4937760"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As bandwidth rises without bound, our thinking about network design must shift:</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6492240" y="3520440"/>
            <a:ext cx="4937760" cy="1645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Going from 100 RTTs to 101 RTTs (1% more) feels trivial. But going from 1 RTT to 2 RTTs (100% more) is a huge relative jump  so latency, not throughput, starts to dominate our thinking.</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Box 14"/>
          <p:cNvSpPr txBox="1"/>
          <p:nvPr/>
        </p:nvSpPr>
        <p:spPr>
          <a:xfrm>
            <a:off x="11792000" y="6638000"/>
            <a:ext cx="200000" cy="100000"/>
          </a:xfrm>
          <a:prstGeom prst="rect">
            <a:avLst/>
          </a:prstGeom>
          <a:noFill/>
        </p:spPr>
        <p:txBody>
          <a:bodyPr wrap="none">
            <a:spAutoFit/>
          </a:bodyPr>
          <a:lstStyle/>
          <a:p>
            <a:pPr>
              <a:defRPr sz="1000"/>
            </a:pPr>
            <a:r>
              <a:t>93</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458724" y="149222"/>
            <a:ext cx="11274552"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30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Example: A 1 MB File on Two Networks</a:t>
            </a:r>
            <a:endParaRPr kumimoji="0" lang="en-US" sz="3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548640" y="926462"/>
            <a:ext cx="100584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5B6584"/>
                </a:solidFill>
                <a:effectLst/>
                <a:uLnTx/>
                <a:uFillTx/>
                <a:latin typeface="Calibri" pitchFamily="34" charset="0"/>
                <a:ea typeface="Calibri" pitchFamily="34" charset="-122"/>
                <a:cs typeface="Calibri" pitchFamily="34" charset="-120"/>
              </a:rPr>
              <a:t>Both networks below share the same 100 ms RTT.</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1" name="Group 20">
            <a:extLst>
              <a:ext uri="{FF2B5EF4-FFF2-40B4-BE49-F238E27FC236}">
                <a16:creationId xmlns:a16="http://schemas.microsoft.com/office/drawing/2014/main" id="{D0C00178-39F0-AC7E-A15C-2E1D4A0335F4}"/>
              </a:ext>
            </a:extLst>
          </p:cNvPr>
          <p:cNvGrpSpPr/>
          <p:nvPr/>
        </p:nvGrpSpPr>
        <p:grpSpPr>
          <a:xfrm>
            <a:off x="487680" y="1469071"/>
            <a:ext cx="11247120" cy="2651760"/>
            <a:chOff x="457200" y="2103120"/>
            <a:chExt cx="11247120" cy="2651760"/>
          </a:xfrm>
        </p:grpSpPr>
        <p:sp>
          <p:nvSpPr>
            <p:cNvPr id="6" name="Shape 4"/>
            <p:cNvSpPr/>
            <p:nvPr/>
          </p:nvSpPr>
          <p:spPr>
            <a:xfrm>
              <a:off x="457200" y="2103120"/>
              <a:ext cx="5394960" cy="2651760"/>
            </a:xfrm>
            <a:prstGeom prst="roundRect">
              <a:avLst>
                <a:gd name="adj" fmla="val 3448"/>
              </a:avLst>
            </a:prstGeom>
            <a:solidFill>
              <a:srgbClr val="FFFFFF"/>
            </a:solidFill>
            <a:ln w="12700">
              <a:solidFill>
                <a:srgbClr val="CADCFC"/>
              </a:solidFill>
              <a:prstDash val="solid"/>
            </a:ln>
          </p:spPr>
        </p:sp>
        <p:sp>
          <p:nvSpPr>
            <p:cNvPr id="7" name="Text 5"/>
            <p:cNvSpPr/>
            <p:nvPr/>
          </p:nvSpPr>
          <p:spPr>
            <a:xfrm>
              <a:off x="731520" y="2240280"/>
              <a:ext cx="484632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1-Mbps Network</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731520" y="2651760"/>
              <a:ext cx="4846320"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80 round-trip times</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731520" y="3200400"/>
              <a:ext cx="4846320"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needed to transmit the file — each RTT carries only 1.25% of it.</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731520" y="3931920"/>
              <a:ext cx="4846320" cy="6858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1" u="none" strike="noStrike" kern="1200" cap="none" spc="0" normalizeH="0" baseline="0" noProof="0" dirty="0">
                  <a:ln>
                    <a:noFill/>
                  </a:ln>
                  <a:solidFill>
                    <a:srgbClr val="C9860A"/>
                  </a:solidFill>
                  <a:effectLst/>
                  <a:uLnTx/>
                  <a:uFillTx/>
                  <a:latin typeface="Calibri" pitchFamily="34" charset="0"/>
                  <a:ea typeface="Calibri" pitchFamily="34" charset="-122"/>
                  <a:cs typeface="Calibri" pitchFamily="34" charset="-120"/>
                </a:rPr>
                <a:t>The file behaves like a continuous STREAM of data.</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6309360" y="2103120"/>
              <a:ext cx="5394960" cy="2651760"/>
            </a:xfrm>
            <a:prstGeom prst="roundRect">
              <a:avLst>
                <a:gd name="adj" fmla="val 3448"/>
              </a:avLst>
            </a:prstGeom>
            <a:solidFill>
              <a:srgbClr val="1E2761"/>
            </a:solidFill>
            <a:ln/>
          </p:spPr>
        </p:sp>
        <p:sp>
          <p:nvSpPr>
            <p:cNvPr id="12" name="Text 10"/>
            <p:cNvSpPr/>
            <p:nvPr/>
          </p:nvSpPr>
          <p:spPr>
            <a:xfrm>
              <a:off x="6583680" y="2240280"/>
              <a:ext cx="484632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2A900"/>
                  </a:solidFill>
                  <a:effectLst/>
                  <a:uLnTx/>
                  <a:uFillTx/>
                  <a:latin typeface="Calibri" pitchFamily="34" charset="0"/>
                  <a:ea typeface="Calibri" pitchFamily="34" charset="-122"/>
                  <a:cs typeface="Calibri" pitchFamily="34" charset="-120"/>
                </a:rPr>
                <a:t>1-Gbps Network</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6583680" y="2651760"/>
              <a:ext cx="4846320"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Fits in 1/12th of an RTT</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6583680" y="3200400"/>
              <a:ext cx="4846320"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Delay × bandwidth product = 12.5 MB — far bigger than our 1 MB file.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583680" y="3931920"/>
              <a:ext cx="4846320" cy="6858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1" u="none" strike="noStrike" kern="1200" cap="none" spc="0" normalizeH="0" baseline="0" noProof="0" dirty="0">
                  <a:ln>
                    <a:noFill/>
                  </a:ln>
                  <a:solidFill>
                    <a:srgbClr val="F2A900"/>
                  </a:solidFill>
                  <a:effectLst/>
                  <a:uLnTx/>
                  <a:uFillTx/>
                  <a:latin typeface="Calibri" pitchFamily="34" charset="0"/>
                  <a:ea typeface="Calibri" pitchFamily="34" charset="-122"/>
                  <a:cs typeface="Calibri" pitchFamily="34" charset="-120"/>
                </a:rPr>
                <a:t>The file behaves like a SINGLE PACKET.</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6" name="Shape 14"/>
          <p:cNvSpPr/>
          <p:nvPr/>
        </p:nvSpPr>
        <p:spPr>
          <a:xfrm>
            <a:off x="7223760" y="4937760"/>
            <a:ext cx="4480560" cy="1417320"/>
          </a:xfrm>
          <a:prstGeom prst="roundRect">
            <a:avLst>
              <a:gd name="adj" fmla="val 6452"/>
            </a:avLst>
          </a:prstGeom>
          <a:solidFill>
            <a:srgbClr val="EEF3FC"/>
          </a:solidFill>
          <a:ln w="12700">
            <a:solidFill>
              <a:srgbClr val="CADCFC"/>
            </a:solidFill>
            <a:prstDash val="solid"/>
          </a:ln>
        </p:spPr>
        <p:txBody>
          <a:bodyPr/>
          <a:lstStyle/>
          <a:p>
            <a:endParaRPr/>
          </a:p>
        </p:txBody>
      </p:sp>
      <p:sp>
        <p:nvSpPr>
          <p:cNvPr id="17" name="Text 15"/>
          <p:cNvSpPr/>
          <p:nvPr/>
        </p:nvSpPr>
        <p:spPr>
          <a:xfrm>
            <a:off x="7441660" y="5074920"/>
            <a:ext cx="4262660" cy="1143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A 1-MB file would fill the 1-Mbps link 80 times but only 1/12th of a 1-Gbps link." Analogy: a 1-MB file is to a 1-Gbps network what a 1-KB packet is to a 1-Mbps network.</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0" name="Picture 19">
            <a:extLst>
              <a:ext uri="{FF2B5EF4-FFF2-40B4-BE49-F238E27FC236}">
                <a16:creationId xmlns:a16="http://schemas.microsoft.com/office/drawing/2014/main" id="{729ADD3B-61AB-44F6-96E7-699B75C29E0D}"/>
              </a:ext>
            </a:extLst>
          </p:cNvPr>
          <p:cNvPicPr>
            <a:picLocks noChangeAspect="1"/>
          </p:cNvPicPr>
          <p:nvPr/>
        </p:nvPicPr>
        <p:blipFill>
          <a:blip r:embed="rId3"/>
          <a:stretch>
            <a:fillRect/>
          </a:stretch>
        </p:blipFill>
        <p:spPr>
          <a:xfrm>
            <a:off x="762000" y="3983671"/>
            <a:ext cx="5068110" cy="2874329"/>
          </a:xfrm>
          <a:prstGeom prst="rect">
            <a:avLst/>
          </a:prstGeom>
        </p:spPr>
      </p:pic>
      <p:sp>
        <p:nvSpPr>
          <p:cNvPr id="22" name="TextBox 21"/>
          <p:cNvSpPr txBox="1"/>
          <p:nvPr/>
        </p:nvSpPr>
        <p:spPr>
          <a:xfrm>
            <a:off x="11792000" y="6638000"/>
            <a:ext cx="200000" cy="100000"/>
          </a:xfrm>
          <a:prstGeom prst="rect">
            <a:avLst/>
          </a:prstGeom>
          <a:noFill/>
        </p:spPr>
        <p:txBody>
          <a:bodyPr wrap="none">
            <a:spAutoFit/>
          </a:bodyPr>
          <a:lstStyle/>
          <a:p>
            <a:pPr>
              <a:defRPr sz="1000"/>
            </a:pPr>
            <a:r>
              <a:t>94</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457200" y="868680"/>
            <a:ext cx="11274552"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5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Effective Throughput &amp; Transfer Time</a:t>
            </a:r>
            <a:endParaRPr kumimoji="0" lang="en-US" sz="3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457200" y="1783080"/>
            <a:ext cx="11247120" cy="1234440"/>
          </a:xfrm>
          <a:prstGeom prst="roundRect">
            <a:avLst>
              <a:gd name="adj" fmla="val 7407"/>
            </a:avLst>
          </a:prstGeom>
          <a:solidFill>
            <a:srgbClr val="1E2761"/>
          </a:solidFill>
          <a:ln/>
        </p:spPr>
        <p:txBody>
          <a:bodyPr/>
          <a:lstStyle/>
          <a:p>
            <a:endParaRPr/>
          </a:p>
        </p:txBody>
      </p:sp>
      <p:sp>
        <p:nvSpPr>
          <p:cNvPr id="6" name="Text 4"/>
          <p:cNvSpPr/>
          <p:nvPr/>
        </p:nvSpPr>
        <p:spPr>
          <a:xfrm>
            <a:off x="457200" y="1828800"/>
            <a:ext cx="11247120" cy="5486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F2A900"/>
                </a:solidFill>
                <a:effectLst/>
                <a:uLnTx/>
                <a:uFillTx/>
                <a:latin typeface="Cambria" pitchFamily="34" charset="0"/>
                <a:ea typeface="Cambria" pitchFamily="34" charset="-122"/>
                <a:cs typeface="Cambria" pitchFamily="34" charset="-120"/>
              </a:rPr>
              <a:t>Throughput = TransferSize / TransferTime</a:t>
            </a:r>
            <a:endPar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457200" y="2423160"/>
            <a:ext cx="11247120" cy="5029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TransferTime = RTT + (1/Bandwidth) × TransferSize</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457200" y="3246120"/>
            <a:ext cx="11247120" cy="2423160"/>
          </a:xfrm>
          <a:prstGeom prst="roundRect">
            <a:avLst>
              <a:gd name="adj" fmla="val 3774"/>
            </a:avLst>
          </a:prstGeom>
          <a:solidFill>
            <a:srgbClr val="EEF3FC"/>
          </a:solidFill>
          <a:ln w="12700">
            <a:solidFill>
              <a:srgbClr val="CADCFC"/>
            </a:solidFill>
            <a:prstDash val="solid"/>
          </a:ln>
        </p:spPr>
        <p:txBody>
          <a:bodyPr/>
          <a:lstStyle/>
          <a:p>
            <a:endParaRPr/>
          </a:p>
        </p:txBody>
      </p:sp>
      <p:sp>
        <p:nvSpPr>
          <p:cNvPr id="9" name="Text 7"/>
          <p:cNvSpPr/>
          <p:nvPr/>
        </p:nvSpPr>
        <p:spPr>
          <a:xfrm>
            <a:off x="731520" y="3383280"/>
            <a:ext cx="73152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Why Include RTT?</a:t>
            </a:r>
            <a:endParaRPr kumimoji="0" lang="en-US" sz="15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731520" y="3749040"/>
            <a:ext cx="10698480" cy="7772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RTT accounts for the request message travelling to the server and the response data travelling back — the full round trip of a real request/response transfer, not just raw transmission.</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731520" y="4617720"/>
            <a:ext cx="10698480" cy="9144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5B6584"/>
                </a:solidFill>
                <a:effectLst/>
                <a:uLnTx/>
                <a:uFillTx/>
                <a:latin typeface="Calibri" pitchFamily="34" charset="0"/>
                <a:ea typeface="Calibri" pitchFamily="34" charset="-122"/>
                <a:cs typeface="Calibri" pitchFamily="34" charset="-120"/>
              </a:rPr>
              <a:t>As TransferSize → ∞, effective throughput approaches the network's raw bandwidth. Enduring extra RTTs (e.g. retransmissions) hurts effective throughput most for small transfers.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Box 11"/>
          <p:cNvSpPr txBox="1"/>
          <p:nvPr/>
        </p:nvSpPr>
        <p:spPr>
          <a:xfrm>
            <a:off x="11792000" y="6638000"/>
            <a:ext cx="200000" cy="100000"/>
          </a:xfrm>
          <a:prstGeom prst="rect">
            <a:avLst/>
          </a:prstGeom>
          <a:noFill/>
        </p:spPr>
        <p:txBody>
          <a:bodyPr wrap="none">
            <a:spAutoFit/>
          </a:bodyPr>
          <a:lstStyle/>
          <a:p>
            <a:pPr>
              <a:defRPr sz="1000"/>
            </a:pPr>
            <a:r>
              <a:t>95</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457200" y="868680"/>
            <a:ext cx="11274552"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30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Example: Effective Throughput</a:t>
            </a:r>
            <a:endParaRPr kumimoji="0" lang="en-US" sz="3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457200" y="1783080"/>
            <a:ext cx="11247120" cy="822960"/>
          </a:xfrm>
          <a:prstGeom prst="roundRect">
            <a:avLst>
              <a:gd name="adj" fmla="val 11111"/>
            </a:avLst>
          </a:prstGeom>
          <a:solidFill>
            <a:srgbClr val="1E2761"/>
          </a:solidFill>
          <a:ln/>
        </p:spPr>
        <p:txBody>
          <a:bodyPr/>
          <a:lstStyle/>
          <a:p>
            <a:endParaRPr/>
          </a:p>
        </p:txBody>
      </p:sp>
      <p:sp>
        <p:nvSpPr>
          <p:cNvPr id="6" name="Text 4"/>
          <p:cNvSpPr/>
          <p:nvPr/>
        </p:nvSpPr>
        <p:spPr>
          <a:xfrm>
            <a:off x="731520" y="1783080"/>
            <a:ext cx="1069848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Problem: Fetch a 1 MB file across a 1-Gbps link with RTT = 100 ms. Find the effective throughput.</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457200" y="2788920"/>
            <a:ext cx="2286000" cy="914400"/>
          </a:xfrm>
          <a:prstGeom prst="roundRect">
            <a:avLst>
              <a:gd name="adj" fmla="val 8000"/>
            </a:avLst>
          </a:prstGeom>
          <a:solidFill>
            <a:srgbClr val="EEF3FC"/>
          </a:solidFill>
          <a:ln w="12700">
            <a:solidFill>
              <a:srgbClr val="CADCFC"/>
            </a:solidFill>
            <a:prstDash val="solid"/>
          </a:ln>
        </p:spPr>
        <p:txBody>
          <a:bodyPr/>
          <a:lstStyle/>
          <a:p>
            <a:endParaRPr/>
          </a:p>
        </p:txBody>
      </p:sp>
      <p:sp>
        <p:nvSpPr>
          <p:cNvPr id="8" name="Text 6"/>
          <p:cNvSpPr/>
          <p:nvPr/>
        </p:nvSpPr>
        <p:spPr>
          <a:xfrm>
            <a:off x="457200" y="2788920"/>
            <a:ext cx="2286000" cy="9144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Step 1
</a:t>
            </a:r>
            <a:r>
              <a:rPr kumimoji="0" lang="en-US" sz="150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Transmit time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2880360" y="2788920"/>
            <a:ext cx="8366760" cy="914400"/>
          </a:xfrm>
          <a:prstGeom prst="roundRect">
            <a:avLst>
              <a:gd name="adj" fmla="val 8000"/>
            </a:avLst>
          </a:prstGeom>
          <a:solidFill>
            <a:srgbClr val="FFFFFF"/>
          </a:solidFill>
          <a:ln w="12700">
            <a:solidFill>
              <a:srgbClr val="CADCFC"/>
            </a:solidFill>
            <a:prstDash val="solid"/>
          </a:ln>
        </p:spPr>
        <p:txBody>
          <a:bodyPr/>
          <a:lstStyle/>
          <a:p>
            <a:endParaRPr/>
          </a:p>
        </p:txBody>
      </p:sp>
      <p:sp>
        <p:nvSpPr>
          <p:cNvPr id="10" name="Text 8"/>
          <p:cNvSpPr/>
          <p:nvPr/>
        </p:nvSpPr>
        <p:spPr>
          <a:xfrm>
            <a:off x="3108960" y="2788920"/>
            <a:ext cx="7955280" cy="9144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1/(1 Gbps) × 1 MB = 8 ms</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457200" y="3840480"/>
            <a:ext cx="2286000" cy="914400"/>
          </a:xfrm>
          <a:prstGeom prst="roundRect">
            <a:avLst>
              <a:gd name="adj" fmla="val 8000"/>
            </a:avLst>
          </a:prstGeom>
          <a:solidFill>
            <a:srgbClr val="EEF3FC"/>
          </a:solidFill>
          <a:ln w="12700">
            <a:solidFill>
              <a:srgbClr val="CADCFC"/>
            </a:solidFill>
            <a:prstDash val="solid"/>
          </a:ln>
        </p:spPr>
        <p:txBody>
          <a:bodyPr/>
          <a:lstStyle/>
          <a:p>
            <a:endParaRPr/>
          </a:p>
        </p:txBody>
      </p:sp>
      <p:sp>
        <p:nvSpPr>
          <p:cNvPr id="12" name="Text 10"/>
          <p:cNvSpPr/>
          <p:nvPr/>
        </p:nvSpPr>
        <p:spPr>
          <a:xfrm>
            <a:off x="457200" y="3840480"/>
            <a:ext cx="2286000" cy="9144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Step 2
</a:t>
            </a:r>
            <a:r>
              <a:rPr kumimoji="0" lang="en-US" sz="150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Total transfer time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2880360" y="3840480"/>
            <a:ext cx="8366760" cy="914400"/>
          </a:xfrm>
          <a:prstGeom prst="roundRect">
            <a:avLst>
              <a:gd name="adj" fmla="val 8000"/>
            </a:avLst>
          </a:prstGeom>
          <a:solidFill>
            <a:srgbClr val="FFFFFF"/>
          </a:solidFill>
          <a:ln w="12700">
            <a:solidFill>
              <a:srgbClr val="CADCFC"/>
            </a:solidFill>
            <a:prstDash val="solid"/>
          </a:ln>
        </p:spPr>
        <p:txBody>
          <a:bodyPr/>
          <a:lstStyle/>
          <a:p>
            <a:endParaRPr/>
          </a:p>
        </p:txBody>
      </p:sp>
      <p:sp>
        <p:nvSpPr>
          <p:cNvPr id="14" name="Text 12"/>
          <p:cNvSpPr/>
          <p:nvPr/>
        </p:nvSpPr>
        <p:spPr>
          <a:xfrm>
            <a:off x="3108960" y="3840480"/>
            <a:ext cx="7955280" cy="9144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TransferTime = RTT + Transmit = 100 ms + 8 ms = 108 ms</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457200" y="4892040"/>
            <a:ext cx="2286000" cy="914400"/>
          </a:xfrm>
          <a:prstGeom prst="roundRect">
            <a:avLst>
              <a:gd name="adj" fmla="val 8000"/>
            </a:avLst>
          </a:prstGeom>
          <a:solidFill>
            <a:srgbClr val="EEF3FC"/>
          </a:solidFill>
          <a:ln w="12700">
            <a:solidFill>
              <a:srgbClr val="CADCFC"/>
            </a:solidFill>
            <a:prstDash val="solid"/>
          </a:ln>
        </p:spPr>
        <p:txBody>
          <a:bodyPr/>
          <a:lstStyle/>
          <a:p>
            <a:endParaRPr/>
          </a:p>
        </p:txBody>
      </p:sp>
      <p:sp>
        <p:nvSpPr>
          <p:cNvPr id="16" name="Text 14"/>
          <p:cNvSpPr/>
          <p:nvPr/>
        </p:nvSpPr>
        <p:spPr>
          <a:xfrm>
            <a:off x="457200" y="4892040"/>
            <a:ext cx="2286000" cy="9144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Step 3
</a:t>
            </a:r>
            <a:r>
              <a:rPr kumimoji="0" lang="en-US" sz="150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Effective throughput</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2880360" y="4892040"/>
            <a:ext cx="8366760" cy="914400"/>
          </a:xfrm>
          <a:prstGeom prst="roundRect">
            <a:avLst>
              <a:gd name="adj" fmla="val 8000"/>
            </a:avLst>
          </a:prstGeom>
          <a:solidFill>
            <a:srgbClr val="FFFFFF"/>
          </a:solidFill>
          <a:ln w="12700">
            <a:solidFill>
              <a:srgbClr val="CADCFC"/>
            </a:solidFill>
            <a:prstDash val="solid"/>
          </a:ln>
        </p:spPr>
        <p:txBody>
          <a:bodyPr/>
          <a:lstStyle/>
          <a:p>
            <a:endParaRPr/>
          </a:p>
        </p:txBody>
      </p:sp>
      <p:sp>
        <p:nvSpPr>
          <p:cNvPr id="18" name="Text 16"/>
          <p:cNvSpPr/>
          <p:nvPr/>
        </p:nvSpPr>
        <p:spPr>
          <a:xfrm>
            <a:off x="3108960" y="4892040"/>
            <a:ext cx="7955280" cy="9144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1 MB / 108 ms = 74.1 Mbps ,  NOT the full 1 Gbps!</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57200" y="6035040"/>
            <a:ext cx="11247120" cy="502920"/>
          </a:xfrm>
          <a:prstGeom prst="roundRect">
            <a:avLst>
              <a:gd name="adj" fmla="val 14545"/>
            </a:avLst>
          </a:prstGeom>
          <a:solidFill>
            <a:srgbClr val="F2A900"/>
          </a:solidFill>
          <a:ln/>
        </p:spPr>
        <p:txBody>
          <a:bodyPr/>
          <a:lstStyle/>
          <a:p>
            <a:endParaRPr/>
          </a:p>
        </p:txBody>
      </p:sp>
      <p:sp>
        <p:nvSpPr>
          <p:cNvPr id="20" name="Text 18"/>
          <p:cNvSpPr/>
          <p:nvPr/>
        </p:nvSpPr>
        <p:spPr>
          <a:xfrm>
            <a:off x="457200" y="6035040"/>
            <a:ext cx="11247120" cy="5029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41B45"/>
                </a:solidFill>
                <a:effectLst/>
                <a:uLnTx/>
                <a:uFillTx/>
                <a:latin typeface="Calibri" pitchFamily="34" charset="0"/>
                <a:ea typeface="Calibri" pitchFamily="34" charset="-122"/>
                <a:cs typeface="Calibri" pitchFamily="34" charset="-120"/>
              </a:rPr>
              <a:t>The 1-Gbps "speed limit" is rarely reached for small transfers, RTT overhead dominates.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Box 20"/>
          <p:cNvSpPr txBox="1"/>
          <p:nvPr/>
        </p:nvSpPr>
        <p:spPr>
          <a:xfrm>
            <a:off x="11792000" y="6638000"/>
            <a:ext cx="200000" cy="100000"/>
          </a:xfrm>
          <a:prstGeom prst="rect">
            <a:avLst/>
          </a:prstGeom>
          <a:noFill/>
        </p:spPr>
        <p:txBody>
          <a:bodyPr wrap="none">
            <a:spAutoFit/>
          </a:bodyPr>
          <a:lstStyle/>
          <a:p>
            <a:pPr>
              <a:defRPr sz="1000"/>
            </a:pPr>
            <a:r>
              <a:t>96</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141B45"/>
        </a:solidFill>
        <a:effectLst/>
      </p:bgPr>
    </p:bg>
    <p:spTree>
      <p:nvGrpSpPr>
        <p:cNvPr id="1" name=""/>
        <p:cNvGrpSpPr/>
        <p:nvPr/>
      </p:nvGrpSpPr>
      <p:grpSpPr>
        <a:xfrm>
          <a:off x="0" y="0"/>
          <a:ext cx="0" cy="0"/>
          <a:chOff x="0" y="0"/>
          <a:chExt cx="0" cy="0"/>
        </a:xfrm>
      </p:grpSpPr>
      <p:sp>
        <p:nvSpPr>
          <p:cNvPr id="2" name="Shape 0"/>
          <p:cNvSpPr/>
          <p:nvPr/>
        </p:nvSpPr>
        <p:spPr>
          <a:xfrm>
            <a:off x="457200" y="411480"/>
            <a:ext cx="3017520" cy="457200"/>
          </a:xfrm>
          <a:prstGeom prst="roundRect">
            <a:avLst>
              <a:gd name="adj" fmla="val 16000"/>
            </a:avLst>
          </a:prstGeom>
          <a:solidFill>
            <a:srgbClr val="F2A900"/>
          </a:solidFill>
          <a:ln/>
        </p:spPr>
        <p:txBody>
          <a:bodyPr/>
          <a:lstStyle/>
          <a:p>
            <a:endParaRPr/>
          </a:p>
        </p:txBody>
      </p:sp>
      <p:sp>
        <p:nvSpPr>
          <p:cNvPr id="3" name="Text 1"/>
          <p:cNvSpPr/>
          <p:nvPr/>
        </p:nvSpPr>
        <p:spPr>
          <a:xfrm>
            <a:off x="457200" y="411480"/>
            <a:ext cx="3017520"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41B45"/>
                </a:solidFill>
                <a:effectLst/>
                <a:uLnTx/>
                <a:uFillTx/>
                <a:latin typeface="Calibri" pitchFamily="34" charset="0"/>
                <a:ea typeface="Calibri" pitchFamily="34" charset="-122"/>
                <a:cs typeface="Calibri" pitchFamily="34" charset="-120"/>
              </a:rPr>
              <a:t>Hands-On Activity</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457200" y="1005840"/>
            <a:ext cx="1124712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High-Speed Networks in the Real World</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457200" y="2423160"/>
            <a:ext cx="11247120" cy="960120"/>
          </a:xfrm>
          <a:prstGeom prst="roundRect">
            <a:avLst>
              <a:gd name="adj" fmla="val 7619"/>
            </a:avLst>
          </a:prstGeom>
          <a:solidFill>
            <a:srgbClr val="27306B"/>
          </a:solidFill>
          <a:ln w="12700">
            <a:solidFill>
              <a:srgbClr val="3A458A"/>
            </a:solidFill>
            <a:prstDash val="solid"/>
          </a:ln>
        </p:spPr>
        <p:txBody>
          <a:bodyPr/>
          <a:lstStyle/>
          <a:p>
            <a:endParaRPr/>
          </a:p>
        </p:txBody>
      </p:sp>
      <p:sp>
        <p:nvSpPr>
          <p:cNvPr id="7" name="Shape 5"/>
          <p:cNvSpPr/>
          <p:nvPr/>
        </p:nvSpPr>
        <p:spPr>
          <a:xfrm>
            <a:off x="685800" y="2702052"/>
            <a:ext cx="402336" cy="402336"/>
          </a:xfrm>
          <a:prstGeom prst="ellipse">
            <a:avLst/>
          </a:prstGeom>
          <a:solidFill>
            <a:srgbClr val="F2A900"/>
          </a:solidFill>
          <a:ln/>
        </p:spPr>
        <p:txBody>
          <a:bodyPr/>
          <a:lstStyle/>
          <a:p>
            <a:endParaRPr/>
          </a:p>
        </p:txBody>
      </p:sp>
      <p:sp>
        <p:nvSpPr>
          <p:cNvPr id="8" name="Text 6"/>
          <p:cNvSpPr/>
          <p:nvPr/>
        </p:nvSpPr>
        <p:spPr>
          <a:xfrm>
            <a:off x="685800" y="2702052"/>
            <a:ext cx="402336" cy="40233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41B45"/>
                </a:solidFill>
                <a:effectLst/>
                <a:uLnTx/>
                <a:uFillTx/>
                <a:latin typeface="Cambria" pitchFamily="34" charset="0"/>
                <a:ea typeface="Cambria" pitchFamily="34" charset="-122"/>
                <a:cs typeface="Cambria" pitchFamily="34" charset="-120"/>
              </a:rPr>
              <a:t>1</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1234440" y="2496312"/>
            <a:ext cx="10241280" cy="81381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You upgrade your home internet from 100 Mbps to 1 Gbps but your video calls still stutter. Using today's concepts, brainstorm 3 possible explanations that are NOT about bandwidth.</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457200" y="3547872"/>
            <a:ext cx="11247120" cy="960120"/>
          </a:xfrm>
          <a:prstGeom prst="roundRect">
            <a:avLst>
              <a:gd name="adj" fmla="val 7619"/>
            </a:avLst>
          </a:prstGeom>
          <a:solidFill>
            <a:srgbClr val="27306B"/>
          </a:solidFill>
          <a:ln w="12700">
            <a:solidFill>
              <a:srgbClr val="3A458A"/>
            </a:solidFill>
            <a:prstDash val="solid"/>
          </a:ln>
        </p:spPr>
        <p:txBody>
          <a:bodyPr/>
          <a:lstStyle/>
          <a:p>
            <a:endParaRPr/>
          </a:p>
        </p:txBody>
      </p:sp>
      <p:sp>
        <p:nvSpPr>
          <p:cNvPr id="11" name="Shape 9"/>
          <p:cNvSpPr/>
          <p:nvPr/>
        </p:nvSpPr>
        <p:spPr>
          <a:xfrm>
            <a:off x="685800" y="3826764"/>
            <a:ext cx="402336" cy="402336"/>
          </a:xfrm>
          <a:prstGeom prst="ellipse">
            <a:avLst/>
          </a:prstGeom>
          <a:solidFill>
            <a:srgbClr val="F2A900"/>
          </a:solidFill>
          <a:ln/>
        </p:spPr>
        <p:txBody>
          <a:bodyPr/>
          <a:lstStyle/>
          <a:p>
            <a:endParaRPr/>
          </a:p>
        </p:txBody>
      </p:sp>
      <p:sp>
        <p:nvSpPr>
          <p:cNvPr id="12" name="Text 10"/>
          <p:cNvSpPr/>
          <p:nvPr/>
        </p:nvSpPr>
        <p:spPr>
          <a:xfrm>
            <a:off x="685800" y="3826764"/>
            <a:ext cx="402336" cy="40233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41B45"/>
                </a:solidFill>
                <a:effectLst/>
                <a:uLnTx/>
                <a:uFillTx/>
                <a:latin typeface="Cambria" pitchFamily="34" charset="0"/>
                <a:ea typeface="Cambria" pitchFamily="34" charset="-122"/>
                <a:cs typeface="Cambria" pitchFamily="34" charset="-120"/>
              </a:rPr>
              <a:t>2</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1234440" y="3621024"/>
            <a:ext cx="10241280" cy="81381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Calculate: fetching a 500 KB web page over a 500-Mbps link with RTT = 60 ms. Find TransferTime and effective throughput. Compare with the raw bandwidth.</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457200" y="4672584"/>
            <a:ext cx="11247120" cy="960120"/>
          </a:xfrm>
          <a:prstGeom prst="roundRect">
            <a:avLst>
              <a:gd name="adj" fmla="val 7619"/>
            </a:avLst>
          </a:prstGeom>
          <a:solidFill>
            <a:srgbClr val="27306B"/>
          </a:solidFill>
          <a:ln w="12700">
            <a:solidFill>
              <a:srgbClr val="3A458A"/>
            </a:solidFill>
            <a:prstDash val="solid"/>
          </a:ln>
        </p:spPr>
        <p:txBody>
          <a:bodyPr/>
          <a:lstStyle/>
          <a:p>
            <a:endParaRPr/>
          </a:p>
        </p:txBody>
      </p:sp>
      <p:sp>
        <p:nvSpPr>
          <p:cNvPr id="15" name="Shape 13"/>
          <p:cNvSpPr/>
          <p:nvPr/>
        </p:nvSpPr>
        <p:spPr>
          <a:xfrm>
            <a:off x="685800" y="4951476"/>
            <a:ext cx="402336" cy="402336"/>
          </a:xfrm>
          <a:prstGeom prst="ellipse">
            <a:avLst/>
          </a:prstGeom>
          <a:solidFill>
            <a:srgbClr val="F2A900"/>
          </a:solidFill>
          <a:ln/>
        </p:spPr>
        <p:txBody>
          <a:bodyPr/>
          <a:lstStyle/>
          <a:p>
            <a:endParaRPr/>
          </a:p>
        </p:txBody>
      </p:sp>
      <p:sp>
        <p:nvSpPr>
          <p:cNvPr id="16" name="Text 14"/>
          <p:cNvSpPr/>
          <p:nvPr/>
        </p:nvSpPr>
        <p:spPr>
          <a:xfrm>
            <a:off x="685800" y="4951476"/>
            <a:ext cx="402336" cy="40233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41B45"/>
                </a:solidFill>
                <a:effectLst/>
                <a:uLnTx/>
                <a:uFillTx/>
                <a:latin typeface="Cambria" pitchFamily="34" charset="0"/>
                <a:ea typeface="Cambria" pitchFamily="34" charset="-122"/>
                <a:cs typeface="Cambria" pitchFamily="34" charset="-120"/>
              </a:rPr>
              <a:t>3</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1234440" y="4745736"/>
            <a:ext cx="10241280" cy="81381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Discuss: Why do engineers designing satellite or undersea-cable networks worry MORE about RTT than about adding more bandwidth? Link your answer to the delay × bandwidth product.</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Box 17"/>
          <p:cNvSpPr txBox="1"/>
          <p:nvPr/>
        </p:nvSpPr>
        <p:spPr>
          <a:xfrm>
            <a:off x="11792000" y="6638000"/>
            <a:ext cx="200000" cy="100000"/>
          </a:xfrm>
          <a:prstGeom prst="rect">
            <a:avLst/>
          </a:prstGeom>
          <a:noFill/>
        </p:spPr>
        <p:txBody>
          <a:bodyPr wrap="none">
            <a:spAutoFit/>
          </a:bodyPr>
          <a:lstStyle/>
          <a:p>
            <a:pPr>
              <a:defRPr sz="1000"/>
            </a:pPr>
            <a:r>
              <a:t>97</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457200" y="600683"/>
            <a:ext cx="11274552"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50" b="1" i="0" u="none" strike="noStrike" kern="1200" cap="none" spc="0" normalizeH="0" baseline="0" noProof="0" dirty="0">
                <a:ln>
                  <a:noFill/>
                </a:ln>
                <a:solidFill>
                  <a:srgbClr val="4472C4">
                    <a:lumMod val="50000"/>
                  </a:srgbClr>
                </a:solidFill>
                <a:effectLst/>
                <a:uLnTx/>
                <a:uFillTx/>
                <a:latin typeface="Calibri" panose="020F0502020204030204"/>
                <a:ea typeface="+mn-ea"/>
                <a:cs typeface="+mn-cs"/>
              </a:rPr>
              <a:t>Summary</a:t>
            </a:r>
          </a:p>
        </p:txBody>
      </p:sp>
      <p:sp>
        <p:nvSpPr>
          <p:cNvPr id="5" name="Shape 3"/>
          <p:cNvSpPr/>
          <p:nvPr/>
        </p:nvSpPr>
        <p:spPr>
          <a:xfrm>
            <a:off x="457200" y="1783080"/>
            <a:ext cx="5440680" cy="1417320"/>
          </a:xfrm>
          <a:prstGeom prst="roundRect">
            <a:avLst>
              <a:gd name="adj" fmla="val 6452"/>
            </a:avLst>
          </a:prstGeom>
          <a:solidFill>
            <a:srgbClr val="EEF3FC"/>
          </a:solidFill>
          <a:ln w="12700">
            <a:solidFill>
              <a:srgbClr val="CADCFC"/>
            </a:solidFill>
            <a:prstDash val="solid"/>
          </a:ln>
        </p:spPr>
        <p:txBody>
          <a:bodyPr/>
          <a:lstStyle/>
          <a:p>
            <a:endParaRPr/>
          </a:p>
        </p:txBody>
      </p:sp>
      <p:sp>
        <p:nvSpPr>
          <p:cNvPr id="6" name="Shape 4"/>
          <p:cNvSpPr/>
          <p:nvPr/>
        </p:nvSpPr>
        <p:spPr>
          <a:xfrm>
            <a:off x="640080" y="1965960"/>
            <a:ext cx="109728" cy="1051560"/>
          </a:xfrm>
          <a:prstGeom prst="roundRect">
            <a:avLst/>
          </a:prstGeom>
          <a:solidFill>
            <a:srgbClr val="F2A900"/>
          </a:solidFill>
          <a:ln/>
        </p:spPr>
        <p:txBody>
          <a:bodyPr/>
          <a:lstStyle/>
          <a:p>
            <a:endParaRPr/>
          </a:p>
        </p:txBody>
      </p:sp>
      <p:sp>
        <p:nvSpPr>
          <p:cNvPr id="7" name="Text 5"/>
          <p:cNvSpPr/>
          <p:nvPr/>
        </p:nvSpPr>
        <p:spPr>
          <a:xfrm>
            <a:off x="914400" y="1920240"/>
            <a:ext cx="48006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Bandwidth</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914400" y="2286000"/>
            <a:ext cx="480060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Capacity of the link (bits/sec); throughput is what's actually achieved in practice.</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6172200" y="1783080"/>
            <a:ext cx="5440680" cy="1417320"/>
          </a:xfrm>
          <a:prstGeom prst="roundRect">
            <a:avLst>
              <a:gd name="adj" fmla="val 6452"/>
            </a:avLst>
          </a:prstGeom>
          <a:solidFill>
            <a:srgbClr val="EEF3FC"/>
          </a:solidFill>
          <a:ln w="12700">
            <a:solidFill>
              <a:srgbClr val="CADCFC"/>
            </a:solidFill>
            <a:prstDash val="solid"/>
          </a:ln>
        </p:spPr>
        <p:txBody>
          <a:bodyPr/>
          <a:lstStyle/>
          <a:p>
            <a:endParaRPr/>
          </a:p>
        </p:txBody>
      </p:sp>
      <p:sp>
        <p:nvSpPr>
          <p:cNvPr id="10" name="Shape 8"/>
          <p:cNvSpPr/>
          <p:nvPr/>
        </p:nvSpPr>
        <p:spPr>
          <a:xfrm>
            <a:off x="6355080" y="1965960"/>
            <a:ext cx="109728" cy="1051560"/>
          </a:xfrm>
          <a:prstGeom prst="roundRect">
            <a:avLst/>
          </a:prstGeom>
          <a:solidFill>
            <a:srgbClr val="F2A900"/>
          </a:solidFill>
          <a:ln/>
        </p:spPr>
        <p:txBody>
          <a:bodyPr/>
          <a:lstStyle/>
          <a:p>
            <a:endParaRPr/>
          </a:p>
        </p:txBody>
      </p:sp>
      <p:sp>
        <p:nvSpPr>
          <p:cNvPr id="11" name="Text 9"/>
          <p:cNvSpPr/>
          <p:nvPr/>
        </p:nvSpPr>
        <p:spPr>
          <a:xfrm>
            <a:off x="6629400" y="1920240"/>
            <a:ext cx="48006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Latency</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629400" y="2286000"/>
            <a:ext cx="480060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Time for data to travel = Propagation + Transmit + Queue delay.</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457200" y="3383280"/>
            <a:ext cx="5440680" cy="1417320"/>
          </a:xfrm>
          <a:prstGeom prst="roundRect">
            <a:avLst>
              <a:gd name="adj" fmla="val 6452"/>
            </a:avLst>
          </a:prstGeom>
          <a:solidFill>
            <a:srgbClr val="FFFFFF"/>
          </a:solidFill>
          <a:ln w="12700">
            <a:solidFill>
              <a:srgbClr val="CADCFC"/>
            </a:solidFill>
            <a:prstDash val="solid"/>
          </a:ln>
        </p:spPr>
        <p:txBody>
          <a:bodyPr/>
          <a:lstStyle/>
          <a:p>
            <a:endParaRPr/>
          </a:p>
        </p:txBody>
      </p:sp>
      <p:sp>
        <p:nvSpPr>
          <p:cNvPr id="14" name="Shape 12"/>
          <p:cNvSpPr/>
          <p:nvPr/>
        </p:nvSpPr>
        <p:spPr>
          <a:xfrm>
            <a:off x="640080" y="3566160"/>
            <a:ext cx="109728" cy="1051560"/>
          </a:xfrm>
          <a:prstGeom prst="roundRect">
            <a:avLst/>
          </a:prstGeom>
          <a:solidFill>
            <a:srgbClr val="F2A900"/>
          </a:solidFill>
          <a:ln/>
        </p:spPr>
        <p:txBody>
          <a:bodyPr/>
          <a:lstStyle/>
          <a:p>
            <a:endParaRPr/>
          </a:p>
        </p:txBody>
      </p:sp>
      <p:sp>
        <p:nvSpPr>
          <p:cNvPr id="15" name="Text 13"/>
          <p:cNvSpPr/>
          <p:nvPr/>
        </p:nvSpPr>
        <p:spPr>
          <a:xfrm>
            <a:off x="914400" y="3520440"/>
            <a:ext cx="48006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Latency vs Bandwidth</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914400" y="3886200"/>
            <a:ext cx="480060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Small transfers are latency-bound; large transfers are bandwidth-bound.</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6172200" y="3383280"/>
            <a:ext cx="5440680" cy="1417320"/>
          </a:xfrm>
          <a:prstGeom prst="roundRect">
            <a:avLst>
              <a:gd name="adj" fmla="val 6452"/>
            </a:avLst>
          </a:prstGeom>
          <a:solidFill>
            <a:srgbClr val="FFFFFF"/>
          </a:solidFill>
          <a:ln w="12700">
            <a:solidFill>
              <a:srgbClr val="CADCFC"/>
            </a:solidFill>
            <a:prstDash val="solid"/>
          </a:ln>
        </p:spPr>
        <p:txBody>
          <a:bodyPr/>
          <a:lstStyle/>
          <a:p>
            <a:endParaRPr/>
          </a:p>
        </p:txBody>
      </p:sp>
      <p:sp>
        <p:nvSpPr>
          <p:cNvPr id="18" name="Shape 16"/>
          <p:cNvSpPr/>
          <p:nvPr/>
        </p:nvSpPr>
        <p:spPr>
          <a:xfrm>
            <a:off x="6355080" y="3566160"/>
            <a:ext cx="109728" cy="1051560"/>
          </a:xfrm>
          <a:prstGeom prst="roundRect">
            <a:avLst/>
          </a:prstGeom>
          <a:solidFill>
            <a:srgbClr val="F2A900"/>
          </a:solidFill>
          <a:ln/>
        </p:spPr>
        <p:txBody>
          <a:bodyPr/>
          <a:lstStyle/>
          <a:p>
            <a:endParaRPr/>
          </a:p>
        </p:txBody>
      </p:sp>
      <p:sp>
        <p:nvSpPr>
          <p:cNvPr id="19" name="Text 17"/>
          <p:cNvSpPr/>
          <p:nvPr/>
        </p:nvSpPr>
        <p:spPr>
          <a:xfrm>
            <a:off x="6629400" y="3520440"/>
            <a:ext cx="48006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Delay × Bandwidth</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6629400" y="3886200"/>
            <a:ext cx="480060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The 'volume' of the pipe  bits that can be in flight at once.</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457200" y="4983480"/>
            <a:ext cx="5440680" cy="1417320"/>
          </a:xfrm>
          <a:prstGeom prst="roundRect">
            <a:avLst>
              <a:gd name="adj" fmla="val 6452"/>
            </a:avLst>
          </a:prstGeom>
          <a:solidFill>
            <a:srgbClr val="EEF3FC"/>
          </a:solidFill>
          <a:ln w="12700">
            <a:solidFill>
              <a:srgbClr val="CADCFC"/>
            </a:solidFill>
            <a:prstDash val="solid"/>
          </a:ln>
        </p:spPr>
        <p:txBody>
          <a:bodyPr/>
          <a:lstStyle/>
          <a:p>
            <a:endParaRPr/>
          </a:p>
        </p:txBody>
      </p:sp>
      <p:sp>
        <p:nvSpPr>
          <p:cNvPr id="22" name="Shape 20"/>
          <p:cNvSpPr/>
          <p:nvPr/>
        </p:nvSpPr>
        <p:spPr>
          <a:xfrm>
            <a:off x="640080" y="5166360"/>
            <a:ext cx="109728" cy="1051560"/>
          </a:xfrm>
          <a:prstGeom prst="roundRect">
            <a:avLst/>
          </a:prstGeom>
          <a:solidFill>
            <a:srgbClr val="F2A900"/>
          </a:solidFill>
          <a:ln/>
        </p:spPr>
        <p:txBody>
          <a:bodyPr/>
          <a:lstStyle/>
          <a:p>
            <a:endParaRPr/>
          </a:p>
        </p:txBody>
      </p:sp>
      <p:sp>
        <p:nvSpPr>
          <p:cNvPr id="23" name="Text 21"/>
          <p:cNvSpPr/>
          <p:nvPr/>
        </p:nvSpPr>
        <p:spPr>
          <a:xfrm>
            <a:off x="914400" y="5120640"/>
            <a:ext cx="48006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High-Speed Networks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914400" y="5486400"/>
            <a:ext cx="480060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Bandwidth keeps rising, but the speed of light and hence RTT stays fixed.</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3"/>
          <p:cNvSpPr/>
          <p:nvPr/>
        </p:nvSpPr>
        <p:spPr>
          <a:xfrm>
            <a:off x="6172200" y="4983480"/>
            <a:ext cx="5440680" cy="1417320"/>
          </a:xfrm>
          <a:prstGeom prst="roundRect">
            <a:avLst>
              <a:gd name="adj" fmla="val 6452"/>
            </a:avLst>
          </a:prstGeom>
          <a:solidFill>
            <a:srgbClr val="EEF3FC"/>
          </a:solidFill>
          <a:ln w="12700">
            <a:solidFill>
              <a:srgbClr val="CADCFC"/>
            </a:solidFill>
            <a:prstDash val="solid"/>
          </a:ln>
        </p:spPr>
        <p:txBody>
          <a:bodyPr/>
          <a:lstStyle/>
          <a:p>
            <a:endParaRPr/>
          </a:p>
        </p:txBody>
      </p:sp>
      <p:sp>
        <p:nvSpPr>
          <p:cNvPr id="26" name="Shape 24"/>
          <p:cNvSpPr/>
          <p:nvPr/>
        </p:nvSpPr>
        <p:spPr>
          <a:xfrm>
            <a:off x="6355080" y="5166360"/>
            <a:ext cx="109728" cy="1051560"/>
          </a:xfrm>
          <a:prstGeom prst="roundRect">
            <a:avLst/>
          </a:prstGeom>
          <a:solidFill>
            <a:srgbClr val="F2A900"/>
          </a:solidFill>
          <a:ln/>
        </p:spPr>
        <p:txBody>
          <a:bodyPr/>
          <a:lstStyle/>
          <a:p>
            <a:endParaRPr/>
          </a:p>
        </p:txBody>
      </p:sp>
      <p:sp>
        <p:nvSpPr>
          <p:cNvPr id="27" name="Text 25"/>
          <p:cNvSpPr/>
          <p:nvPr/>
        </p:nvSpPr>
        <p:spPr>
          <a:xfrm>
            <a:off x="6629400" y="5120640"/>
            <a:ext cx="48006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Effective Throughput</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6629400" y="5486400"/>
            <a:ext cx="480060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232B45"/>
                </a:solidFill>
                <a:effectLst/>
                <a:uLnTx/>
                <a:uFillTx/>
                <a:latin typeface="Calibri" pitchFamily="34" charset="0"/>
                <a:ea typeface="Calibri" pitchFamily="34" charset="-122"/>
                <a:cs typeface="Calibri" pitchFamily="34" charset="-120"/>
              </a:rPr>
              <a:t>= TransferSize / (RTT + Size/Bandwidth); approaches raw bandwidth only for large transfers.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Box 28"/>
          <p:cNvSpPr txBox="1"/>
          <p:nvPr/>
        </p:nvSpPr>
        <p:spPr>
          <a:xfrm>
            <a:off x="11792000" y="6638000"/>
            <a:ext cx="200000" cy="100000"/>
          </a:xfrm>
          <a:prstGeom prst="rect">
            <a:avLst/>
          </a:prstGeom>
          <a:noFill/>
        </p:spPr>
        <p:txBody>
          <a:bodyPr wrap="none">
            <a:spAutoFit/>
          </a:bodyPr>
          <a:lstStyle/>
          <a:p>
            <a:pPr>
              <a:defRPr sz="1000"/>
            </a:pPr>
            <a:r>
              <a:t>98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1245</TotalTime>
  <Words>10312</Words>
  <Application>Microsoft Office PowerPoint</Application>
  <PresentationFormat>Widescreen</PresentationFormat>
  <Paragraphs>1298</Paragraphs>
  <Slides>98</Slides>
  <Notes>98</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98</vt:i4>
      </vt:variant>
    </vt:vector>
  </HeadingPairs>
  <TitlesOfParts>
    <vt:vector size="112" baseType="lpstr">
      <vt:lpstr>Aptos</vt:lpstr>
      <vt:lpstr>Aptos Display</vt:lpstr>
      <vt:lpstr>Arial</vt:lpstr>
      <vt:lpstr>Bookman Old Style</vt:lpstr>
      <vt:lpstr>Calibri</vt:lpstr>
      <vt:lpstr>Cambria</vt:lpstr>
      <vt:lpstr>Courier New</vt:lpstr>
      <vt:lpstr>Lato</vt:lpstr>
      <vt:lpstr>Utopia-Regular</vt:lpstr>
      <vt:lpstr>var(--font-mono)</vt:lpstr>
      <vt:lpstr>Wingdings</vt:lpstr>
      <vt:lpstr>Office Theme</vt:lpstr>
      <vt:lpstr>1_Office Theme</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Networks: Foundations of Network Architecture</dc:title>
  <dc:subject>PptxGenJS Presentation</dc:subject>
  <dc:creator>Computer Networks Course</dc:creator>
  <cp:lastModifiedBy>Thiruvenkadam Thangavel</cp:lastModifiedBy>
  <cp:revision>59</cp:revision>
  <dcterms:created xsi:type="dcterms:W3CDTF">2026-07-02T10:05:42Z</dcterms:created>
  <dcterms:modified xsi:type="dcterms:W3CDTF">2026-07-31T05:01:28Z</dcterms:modified>
</cp:coreProperties>
</file>